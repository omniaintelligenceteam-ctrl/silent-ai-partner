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Lst>
  <p:notesMasterIdLst>
    <p:notesMasterId r:id="rId2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notesMaster" Target="notesMasters/notesMaster1.xml"/><Relationship Id="rId21" Type="http://schemas.openxmlformats.org/officeDocument/2006/relationships/presProps" Target="presProps.xml"/><Relationship Id="rId22" Type="http://schemas.openxmlformats.org/officeDocument/2006/relationships/viewProps" Target="viewProps.xml"/><Relationship Id="rId23" Type="http://schemas.openxmlformats.org/officeDocument/2006/relationships/theme" Target="theme/theme1.xml"/><Relationship Id="rId2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Thanks for making time. This isn't a canned demo — it's a conversation about how your deals actually run, both sides of the building: the bikes and the coaches.
Frame it up front: I'm not here to sell you a chatbot or replace anybody. I'm here because I think you're carrying half-million-dollar deals in your head and your text messages, and there's a better way.
Stop me anywhere. This works best as a back-and-forth.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him through what I already know — this earns the rest of the meeting.
Two businesses under one roof: the powersports store (Honda, Suzuki, Kawasaki, Yamaha, plus Thor, Moose, ITP, Dunlop on the parts wall) and Coach &amp; Trailer — the race haulers and custom coaches. I've seen the listings: Renegade SportDeck, ShowHauler LoneStar, Renegade Classic — $389K to $699K range. By-appointment, certified funds only. That's a serious operation.
Service department running most major brands, Monday–Friday 8–5, Saturday mornings.
76,500 Facebook followers — that's a real audience most dealers would kill for, and I'd bet it's mostly sitting there.
And the reviews: buyer after buyer talking about purchasing sight-unseen from out of state — extra photos on request, a coach delivered eight hours to a guy's driveway. That reputation is the family-business brand equity. Everything I'm about to show you protects that; nothing replaces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heart of it. Talk, don't read:
"Right now, you're managing half-million-dollar deals in your head and in your text messages. A buyer in Texas calls Tuesday about a Renegade, asks for six specific photos, mentions his budget and his trade. By Friday you've had thirty other conversations. What he said is gone — or it's in your head and nowhere else.
That's not a discipline problem. You're not doing anything wrong. That's a systems problem. Every serious inquiry, every photo request, every trade question — it all funnels to you, because you're the guy who knows the inventory and closes the deals. The cost isn't the work you do. It's the deals that quietly leak out while you're doing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IMPORTANT: the brackets are deliberate. I don't have his numbers and I'm not going to pretend I do. That honesty is the pitch.
Ask, live, and write the answers on the slide if presenting from a laptop:
— Roughly how many inquiries a month, all channels?
— What share get an answer inside an hour? Inside a day?
— How many quotes go out and never get a second touch?
The point to land: whatever the numbers are, all three leaks exist in every dealership that runs on one person's phone. Speed-to-lead research across industries says the first responder usually wins the deal — and on a $500K coach, losing even one a year to response lag pays for this system many times over. Say that as a benchmark, not as his number.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line. Let it sit.
"Here's the whole idea. Every conversation your business has — phone, Facebook, in person on the lot — gets captured, gets structured, and triggers the right next action. Automatically.
You don't get a chatbot. You get an operating layer that already knows everything your business has heard."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Keep this non-technical on the slide; the detail lives here if he asks.
Under the hood: a voice-agent layer answers live inbound calls. A Plaud wearable recorder (or equivalent) captures in-person and mobile conversations — its API feeds transcripts straight in. Transcripts go through structured extraction — budget, timeline, must-haves, hesitations, trade details — into a persistent database, so patterns compound over time. An agent layer reads that structured data and executes: drafts follow-ups, builds quotes, books service, updates the pipeline, fires alerts. The dashboard surfaces it all.
The honest framing if he pushes: the plumbing is the easy part. The hard part — the part OIOS actually does — is defining which signals matter for THIS business. Generic AI gives generic output. A hauler buyer mentioning 'certified funds ready' means something specific here; we build for that.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inbound channel gets captured and answered — including 9pm on a Sunday when you're closed and a buyer in Arizona is scrolling race-haulers.com.
The AI handles the easy questions instantly — specs, availability, hours, financing basics. It qualifies: budget, timeline, trade, financing need, buying window. Tire-kickers get patient, thorough answers without costing you a minute. Serious buyers get routed to you WITH a complete brief — you pick up the phone already knowing his budget, his trade, and what he asked about.
The out-of-state angle matters most: your own reviews prove sight-unseen buyers convert. Those buyers need fast, detailed, patient responses — six photos, a walk-around video, a spec sheet. That's exactly what an AI layer does best, and exactly the work that eats your day.
76K Facebook followers: right now Messenger inquiries land wherever they land. Captured and worked, that audience becomes a real pipeline.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Right now the service department competes for the same phone line as a $500K coach sale. That's backwards.
AI handles service intake end to end: what's wrong, which unit, pulls the history, books the slot, routes to the right tech. Nobody waits on hold behind a coach buyer.
Then the part nobody does manually: proactive outreach. A customer bought a hauler two years ago — the system reaches out with a maintenance package for that specific model, at the right interval. Post-service: satisfaction check, related-work upsell, referral ask. All automatic.
Land the framing: sales are lumpy — a great month, then a quiet one. Service and parts are the margin business, and worked systematically they behave like a subscription. This pillar usually pays for the whole system on its own.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Custom build and spec quotes: today that's you, after hours, building it by hand. The system drafts it in minutes from the conversation — you review and send.
Photo/spec/video requests are the huge unglamorous time sink on remote deals — six specific photos of a Renegade, a video of the generator running. The system manages the request, tracks what was sent, follows up.
Clean customer data captured up front means financing gets structured faster — no chasing paperwork basics.
And the buyer who doesn't close on the first call doesn't vanish. Automated nurture on a cadence — answers his objections, keeps him warm, tells you the moment he re-engages. Same for trade and consignment inquiries, which today go quiet the moment things get busy.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differentiator — slow down here. Everybody sells automation. This is the CEO layer.
The dashboard is built from real conversations — not from CRM fields somebody was supposed to fill in and didn't. It flags deals at risk: a buyer whose tone shifted, a follow-up that stalled, a hot lead gone quiet.
It shows you demand you can't see today: what buyers keep asking for that you don't stock. Which features people pay up for versus what's become commodity. Which units generate conversation versus which sit dead — while they're sitting, not at year-end.
And every Monday, a drafted brief: what happened last week, what needs attention, what to do today. You run the business from one page instead of from memory.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They already market to fly-in buyers — two hours from Nashville International is on their own site. The reviews show it works: extra photos on request, a coach delivered eight hours away, sight-unseen wires from out of state.
So the growth market isn't Paducah — it's every serious hauler buyer in the country. And what does a remote buyer need to wire $500K to someone they've never met? Fast answers. Detailed answers. Photos and videos on request, without waiting until you're free. Patience with fifty questions. Responsiveness at 9pm their time.
Every one of those is what this layer does best. Today that trust gets built by Dylan personally, one buyer at a time, as bandwidth allows. With the system, it's built the same way for every inquiry — and Dylan steps in exactly when it matters.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Deliberately operational, not financial — I'm not promising revenue numbers I can't stand behind. I'm promising how the business runs.
Day 90 looks like: every inquiry, every channel, answered in seconds — around the clock. Every conversation captured and searchable — 'what did that Texas buyer say about his trade?' is a lookup, not a memory test. Follow-up happens on a system, not when someone remembers. And Monday morning starts with a one-page brief instead of piecing the week together from your phone.
The revenue follows from those four — but the promise I'll put my name on is these four.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Phase 1, weeks one and two: capture and inbound. Phones, web forms, Facebook Messenger — answered, logged, qualified. He sees value in week one, before he's paid for much of anything.
Phase 2, weeks three and four: service workflows — intake, scheduling, history, routing. Service stops competing with coach sales for the phone line.
Phase 3, weeks five through eight: proactive outreach and the dashboard. Maintenance campaigns, stalled-buyer nurture, the Monday brief.
Emphasize: nothing about his current process gets ripped out. Same phone number, same people, same way of doing business — with a layer underneath catching what currently falls through.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Keep the close simple — this is a friend, not a procurement committee.
Three things to start: one working hour together to map how calls, forms, and messages flow today. Access to the channels we're capturing — phone forwarding, the Facebook page, the website form. And a yes.
Then stop talking. Let him ask. If he wants pricing, the appendix slide is blank on purpose — scope it live based on which phases he wants. If he hesitates, offer Phase 1 alone as the proving ground: two weeks, inbound only, judge it on what it catches.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Only pull this up if he wants the math. The inputs are dashed and bracketed on purpose — everything comes from him, live.
Walk it: inquiries per month, times the share that get missed or answered slow, times his close rate on the ones he does work, times average gross per unit. Even conservative inputs usually make the point on their own — one recovered coach deal a year typically clears the cost of the system by a wide margin. Let HIS numbers say that; don't say it for them.
If he doesn't know an input, that's not a failure — that's Pillar 4. Today he can't know it. In 90 days the dashboard tells him.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Blank on purpose — price it live, in the room, based on which phases he wants and what the discovery hour surfaces.
Anchor on the phases, not on a number: Phase 1 alone is a legitimate starting point if he wants to prove it before committing to the full system.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"Does this replace my people?" — No. It removes the work they hate: repeating specs, chasing photo requests, phone tag, data entry. The humans do more of what humans are for. His reviews say 'family business' — this protects that by taking the grunt work off the people who built the reputation.
"What about customers who hate AI?" — Escalation to a human is instant and built-in. Anyone who wants a person gets a person — faster than today, because the request lands with context instead of in voicemail.
"Who owns the data?" — You do. Every transcript, every contact, every pattern. It's your business's memory; we build it, you own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Never show this slide. It's the discovery checklist — the answers turn every bracket in this deck into a real number for version two.
Work the questions into conversation naturally across the meeting; slide 4 (the three leaks) is the natural place for most of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1.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slideLayout" Target="../slideLayouts/slideLayout1.xml"/><Relationship Id="rId6"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0D0D"/>
        </a:solidFill>
      </p:bgPr>
    </p:bg>
    <p:spTree>
      <p:nvGrpSpPr>
        <p:cNvPr id="1" name=""/>
        <p:cNvGrpSpPr/>
        <p:nvPr/>
      </p:nvGrpSpPr>
      <p:grpSpPr>
        <a:xfrm>
          <a:off x="0" y="0"/>
          <a:ext cx="0" cy="0"/>
          <a:chOff x="0" y="0"/>
          <a:chExt cx="0" cy="0"/>
        </a:xfrm>
      </p:grpSpPr>
      <p:sp>
        <p:nvSpPr>
          <p:cNvPr id="2" name="Shape 0"/>
          <p:cNvSpPr/>
          <p:nvPr/>
        </p:nvSpPr>
        <p:spPr>
          <a:xfrm>
            <a:off x="685800" y="987552"/>
            <a:ext cx="768096" cy="768096"/>
          </a:xfrm>
          <a:prstGeom prst="ellipse">
            <a:avLst/>
          </a:prstGeom>
          <a:solidFill>
            <a:srgbClr val="0D0D0D"/>
          </a:solidFill>
          <a:ln w="15875">
            <a:solidFill>
              <a:srgbClr val="FF5A00"/>
            </a:solidFill>
            <a:prstDash val="solid"/>
          </a:ln>
        </p:spPr>
      </p:sp>
      <p:pic>
        <p:nvPicPr>
          <p:cNvPr id="3" name="Image 0" descr="/tmp/claude-0/-home-user-getoios/887612f7-bce3-5d7f-a297-e09f9aa5407b/scratchpad/deck/icons/flag-orange.png">    </p:cNvPr>
          <p:cNvPicPr>
            <a:picLocks noChangeAspect="1"/>
          </p:cNvPicPr>
          <p:nvPr/>
        </p:nvPicPr>
        <p:blipFill>
          <a:blip r:embed="rId1"/>
          <a:stretch>
            <a:fillRect/>
          </a:stretch>
        </p:blipFill>
        <p:spPr>
          <a:xfrm>
            <a:off x="900867" y="1202619"/>
            <a:ext cx="337962" cy="337962"/>
          </a:xfrm>
          <a:prstGeom prst="rect">
            <a:avLst/>
          </a:prstGeom>
        </p:spPr>
      </p:pic>
      <p:sp>
        <p:nvSpPr>
          <p:cNvPr id="4" name="Text 1"/>
          <p:cNvSpPr/>
          <p:nvPr/>
        </p:nvSpPr>
        <p:spPr>
          <a:xfrm>
            <a:off x="685800" y="2331720"/>
            <a:ext cx="10789920" cy="2011680"/>
          </a:xfrm>
          <a:prstGeom prst="rect">
            <a:avLst/>
          </a:prstGeom>
          <a:noFill/>
          <a:ln/>
        </p:spPr>
        <p:txBody>
          <a:bodyPr wrap="square" lIns="0" tIns="0" rIns="0" bIns="0" rtlCol="0" anchor="ctr"/>
          <a:lstStyle/>
          <a:p>
            <a:pPr indent="0" marL="0">
              <a:lnSpc>
                <a:spcPts val="6200"/>
              </a:lnSpc>
              <a:buNone/>
            </a:pPr>
            <a:r>
              <a:rPr lang="en-US" sz="5400" b="1" dirty="0">
                <a:solidFill>
                  <a:srgbClr val="F2F2F0"/>
                </a:solidFill>
                <a:latin typeface="Arial" pitchFamily="34" charset="0"/>
                <a:ea typeface="Arial" pitchFamily="34" charset="-122"/>
                <a:cs typeface="Arial" pitchFamily="34" charset="-120"/>
              </a:rPr>
              <a:t>CHASE MOTORSPORTS</a:t>
            </a:r>
            <a:endParaRPr lang="en-US" sz="5400" dirty="0"/>
          </a:p>
          <a:p>
            <a:pPr indent="0" marL="0">
              <a:lnSpc>
                <a:spcPts val="6200"/>
              </a:lnSpc>
              <a:buNone/>
            </a:pPr>
            <a:r>
              <a:rPr lang="en-US" sz="5400" b="1" dirty="0">
                <a:solidFill>
                  <a:srgbClr val="FF5A00"/>
                </a:solidFill>
                <a:latin typeface="Arial" pitchFamily="34" charset="0"/>
                <a:ea typeface="Arial" pitchFamily="34" charset="-122"/>
                <a:cs typeface="Arial" pitchFamily="34" charset="-120"/>
              </a:rPr>
              <a:t>× </a:t>
            </a:r>
            <a:pPr indent="0" marL="0">
              <a:lnSpc>
                <a:spcPts val="6200"/>
              </a:lnSpc>
              <a:buNone/>
            </a:pPr>
            <a:r>
              <a:rPr lang="en-US" sz="5400" b="1" dirty="0">
                <a:solidFill>
                  <a:srgbClr val="F2F2F0"/>
                </a:solidFill>
                <a:latin typeface="Arial" pitchFamily="34" charset="0"/>
                <a:ea typeface="Arial" pitchFamily="34" charset="-122"/>
                <a:cs typeface="Arial" pitchFamily="34" charset="-120"/>
              </a:rPr>
              <a:t>OIOS</a:t>
            </a:r>
            <a:endParaRPr lang="en-US" sz="5400" dirty="0"/>
          </a:p>
        </p:txBody>
      </p:sp>
      <p:sp>
        <p:nvSpPr>
          <p:cNvPr id="5" name="Text 2"/>
          <p:cNvSpPr/>
          <p:nvPr/>
        </p:nvSpPr>
        <p:spPr>
          <a:xfrm>
            <a:off x="685800" y="4526280"/>
            <a:ext cx="8229600" cy="457200"/>
          </a:xfrm>
          <a:prstGeom prst="rect">
            <a:avLst/>
          </a:prstGeom>
          <a:noFill/>
          <a:ln/>
        </p:spPr>
        <p:txBody>
          <a:bodyPr wrap="square" lIns="0" tIns="0" rIns="0" bIns="0" rtlCol="0" anchor="ctr"/>
          <a:lstStyle/>
          <a:p>
            <a:pPr indent="0" marL="0">
              <a:buNone/>
            </a:pPr>
            <a:r>
              <a:rPr lang="en-US" sz="2000" dirty="0">
                <a:solidFill>
                  <a:srgbClr val="9A9A9E"/>
                </a:solidFill>
                <a:latin typeface="Arial" pitchFamily="34" charset="0"/>
                <a:ea typeface="Arial" pitchFamily="34" charset="-122"/>
                <a:cs typeface="Arial" pitchFamily="34" charset="-120"/>
              </a:rPr>
              <a:t>Your AI operations layer.</a:t>
            </a:r>
            <a:endParaRPr lang="en-US" sz="2000" dirty="0"/>
          </a:p>
        </p:txBody>
      </p:sp>
      <p:sp>
        <p:nvSpPr>
          <p:cNvPr id="6" name="Text 3"/>
          <p:cNvSpPr/>
          <p:nvPr/>
        </p:nvSpPr>
        <p:spPr>
          <a:xfrm>
            <a:off x="685800" y="6080760"/>
            <a:ext cx="8229600" cy="320040"/>
          </a:xfrm>
          <a:prstGeom prst="rect">
            <a:avLst/>
          </a:prstGeom>
          <a:noFill/>
          <a:ln/>
        </p:spPr>
        <p:txBody>
          <a:bodyPr wrap="square" lIns="0" tIns="0" rIns="0" bIns="0" rtlCol="0" anchor="ctr"/>
          <a:lstStyle/>
          <a:p>
            <a:pPr indent="0" marL="0">
              <a:buNone/>
            </a:pPr>
            <a:r>
              <a:rPr lang="en-US" sz="1200" dirty="0">
                <a:solidFill>
                  <a:srgbClr val="5A5A5E"/>
                </a:solidFill>
                <a:latin typeface="Arial" pitchFamily="34" charset="0"/>
                <a:ea typeface="Arial" pitchFamily="34" charset="-122"/>
                <a:cs typeface="Arial" pitchFamily="34" charset="-120"/>
              </a:rPr>
              <a:t>Wes Overstreet  ·  getoios.com  ·  July 2026</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D0D0D"/>
        </a:solidFill>
      </p:bgPr>
    </p:bg>
    <p:spTree>
      <p:nvGrpSpPr>
        <p:cNvPr id="1" name=""/>
        <p:cNvGrpSpPr/>
        <p:nvPr/>
      </p:nvGrpSpPr>
      <p:grpSpPr>
        <a:xfrm>
          <a:off x="0" y="0"/>
          <a:ext cx="0" cy="0"/>
          <a:chOff x="0" y="0"/>
          <a:chExt cx="0" cy="0"/>
        </a:xfrm>
      </p:grpSpPr>
      <p:sp>
        <p:nvSpPr>
          <p:cNvPr id="2" name="Text 0"/>
          <p:cNvSpPr/>
          <p:nvPr/>
        </p:nvSpPr>
        <p:spPr>
          <a:xfrm>
            <a:off x="685800" y="457200"/>
            <a:ext cx="7315200" cy="274320"/>
          </a:xfrm>
          <a:prstGeom prst="rect">
            <a:avLst/>
          </a:prstGeom>
          <a:noFill/>
          <a:ln/>
        </p:spPr>
        <p:txBody>
          <a:bodyPr wrap="square" lIns="0" tIns="0" rIns="0" bIns="0" rtlCol="0" anchor="ctr"/>
          <a:lstStyle/>
          <a:p>
            <a:pPr algn="l" indent="0" marL="0">
              <a:buNone/>
            </a:pPr>
            <a:r>
              <a:rPr lang="en-US" sz="1100" b="1" spc="400" kern="0" dirty="0">
                <a:solidFill>
                  <a:srgbClr val="FF5A00"/>
                </a:solidFill>
                <a:latin typeface="Arial" pitchFamily="34" charset="0"/>
                <a:ea typeface="Arial" pitchFamily="34" charset="-122"/>
                <a:cs typeface="Arial" pitchFamily="34" charset="-120"/>
              </a:rPr>
              <a:t>THE SETUP</a:t>
            </a:r>
            <a:endParaRPr lang="en-US" sz="1100" dirty="0"/>
          </a:p>
        </p:txBody>
      </p:sp>
      <p:sp>
        <p:nvSpPr>
          <p:cNvPr id="3" name="Text 1"/>
          <p:cNvSpPr/>
          <p:nvPr/>
        </p:nvSpPr>
        <p:spPr>
          <a:xfrm>
            <a:off x="685800" y="749808"/>
            <a:ext cx="10820095" cy="777240"/>
          </a:xfrm>
          <a:prstGeom prst="rect">
            <a:avLst/>
          </a:prstGeom>
          <a:noFill/>
          <a:ln/>
        </p:spPr>
        <p:txBody>
          <a:bodyPr wrap="square" lIns="0" tIns="0" rIns="0" bIns="0" rtlCol="0" anchor="ctr"/>
          <a:lstStyle/>
          <a:p>
            <a:pPr algn="l" indent="0" marL="0">
              <a:buNone/>
            </a:pPr>
            <a:r>
              <a:rPr lang="en-US" sz="3400" b="1" dirty="0">
                <a:solidFill>
                  <a:srgbClr val="F2F2F0"/>
                </a:solidFill>
                <a:latin typeface="Arial" pitchFamily="34" charset="0"/>
                <a:ea typeface="Arial" pitchFamily="34" charset="-122"/>
                <a:cs typeface="Arial" pitchFamily="34" charset="-120"/>
              </a:rPr>
              <a:t>I DID MY HOMEWORK.</a:t>
            </a:r>
            <a:endParaRPr lang="en-US" sz="3400" dirty="0"/>
          </a:p>
        </p:txBody>
      </p:sp>
      <p:sp>
        <p:nvSpPr>
          <p:cNvPr id="4" name="Text 2"/>
          <p:cNvSpPr/>
          <p:nvPr/>
        </p:nvSpPr>
        <p:spPr>
          <a:xfrm>
            <a:off x="11231575" y="6382512"/>
            <a:ext cx="548640" cy="274320"/>
          </a:xfrm>
          <a:prstGeom prst="rect">
            <a:avLst/>
          </a:prstGeom>
          <a:noFill/>
          <a:ln/>
        </p:spPr>
        <p:txBody>
          <a:bodyPr wrap="square" lIns="0" tIns="0" rIns="0" bIns="0" rtlCol="0" anchor="ctr"/>
          <a:lstStyle/>
          <a:p>
            <a:pPr algn="r" indent="0" marL="0">
              <a:buNone/>
            </a:pPr>
            <a:r>
              <a:rPr lang="en-US" sz="900" dirty="0">
                <a:solidFill>
                  <a:srgbClr val="5A5A5E"/>
                </a:solidFill>
                <a:latin typeface="Arial" pitchFamily="34" charset="0"/>
                <a:ea typeface="Arial" pitchFamily="34" charset="-122"/>
                <a:cs typeface="Arial" pitchFamily="34" charset="-120"/>
              </a:rPr>
              <a:t>02</a:t>
            </a:r>
            <a:endParaRPr lang="en-US" sz="900" dirty="0"/>
          </a:p>
        </p:txBody>
      </p:sp>
      <p:sp>
        <p:nvSpPr>
          <p:cNvPr id="5" name="Text 3"/>
          <p:cNvSpPr/>
          <p:nvPr/>
        </p:nvSpPr>
        <p:spPr>
          <a:xfrm>
            <a:off x="685800" y="2011680"/>
            <a:ext cx="3749040" cy="1371600"/>
          </a:xfrm>
          <a:prstGeom prst="rect">
            <a:avLst/>
          </a:prstGeom>
          <a:noFill/>
          <a:ln/>
        </p:spPr>
        <p:txBody>
          <a:bodyPr wrap="square" lIns="0" tIns="0" rIns="0" bIns="0" rtlCol="0" anchor="ctr"/>
          <a:lstStyle/>
          <a:p>
            <a:pPr indent="0" marL="0">
              <a:buNone/>
            </a:pPr>
            <a:r>
              <a:rPr lang="en-US" sz="7200" b="1" dirty="0">
                <a:solidFill>
                  <a:srgbClr val="FF5A00"/>
                </a:solidFill>
                <a:latin typeface="Arial" pitchFamily="34" charset="0"/>
                <a:ea typeface="Arial" pitchFamily="34" charset="-122"/>
                <a:cs typeface="Arial" pitchFamily="34" charset="-120"/>
              </a:rPr>
              <a:t>76.5K</a:t>
            </a:r>
            <a:endParaRPr lang="en-US" sz="7200" dirty="0"/>
          </a:p>
        </p:txBody>
      </p:sp>
      <p:sp>
        <p:nvSpPr>
          <p:cNvPr id="6" name="Text 4"/>
          <p:cNvSpPr/>
          <p:nvPr/>
        </p:nvSpPr>
        <p:spPr>
          <a:xfrm>
            <a:off x="685800" y="3429000"/>
            <a:ext cx="3657600" cy="822960"/>
          </a:xfrm>
          <a:prstGeom prst="rect">
            <a:avLst/>
          </a:prstGeom>
          <a:noFill/>
          <a:ln/>
        </p:spPr>
        <p:txBody>
          <a:bodyPr wrap="square" lIns="0" tIns="0" rIns="0" bIns="0" rtlCol="0" anchor="ctr"/>
          <a:lstStyle/>
          <a:p>
            <a:pPr indent="0" marL="0">
              <a:lnSpc>
                <a:spcPts val="2200"/>
              </a:lnSpc>
              <a:buNone/>
            </a:pPr>
            <a:r>
              <a:rPr lang="en-US" sz="1600" dirty="0">
                <a:solidFill>
                  <a:srgbClr val="F2F2F0"/>
                </a:solidFill>
                <a:latin typeface="Arial" pitchFamily="34" charset="0"/>
                <a:ea typeface="Arial" pitchFamily="34" charset="-122"/>
                <a:cs typeface="Arial" pitchFamily="34" charset="-120"/>
              </a:rPr>
              <a:t>Facebook followers.</a:t>
            </a:r>
            <a:endParaRPr lang="en-US" sz="1600" dirty="0"/>
          </a:p>
          <a:p>
            <a:pPr indent="0" marL="0">
              <a:lnSpc>
                <a:spcPts val="2200"/>
              </a:lnSpc>
              <a:buNone/>
            </a:pPr>
            <a:r>
              <a:rPr lang="en-US" sz="1600" dirty="0">
                <a:solidFill>
                  <a:srgbClr val="F2F2F0"/>
                </a:solidFill>
                <a:latin typeface="Arial" pitchFamily="34" charset="0"/>
                <a:ea typeface="Arial" pitchFamily="34" charset="-122"/>
                <a:cs typeface="Arial" pitchFamily="34" charset="-120"/>
              </a:rPr>
              <a:t>Mostly untapped.</a:t>
            </a:r>
            <a:endParaRPr lang="en-US" sz="1600" dirty="0"/>
          </a:p>
        </p:txBody>
      </p:sp>
      <p:sp>
        <p:nvSpPr>
          <p:cNvPr id="7" name="Text 5"/>
          <p:cNvSpPr/>
          <p:nvPr/>
        </p:nvSpPr>
        <p:spPr>
          <a:xfrm>
            <a:off x="685800" y="5806440"/>
            <a:ext cx="3657600" cy="274320"/>
          </a:xfrm>
          <a:prstGeom prst="rect">
            <a:avLst/>
          </a:prstGeom>
          <a:noFill/>
          <a:ln/>
        </p:spPr>
        <p:txBody>
          <a:bodyPr wrap="square" lIns="0" tIns="0" rIns="0" bIns="0" rtlCol="0" anchor="ctr"/>
          <a:lstStyle/>
          <a:p>
            <a:pPr indent="0" marL="0">
              <a:buNone/>
            </a:pPr>
            <a:r>
              <a:rPr lang="en-US" sz="1000" dirty="0">
                <a:solidFill>
                  <a:srgbClr val="5A5A5E"/>
                </a:solidFill>
                <a:latin typeface="Arial" pitchFamily="34" charset="0"/>
                <a:ea typeface="Arial" pitchFamily="34" charset="-122"/>
                <a:cs typeface="Arial" pitchFamily="34" charset="-120"/>
              </a:rPr>
              <a:t>Source: facebook.com/chasecoach</a:t>
            </a:r>
            <a:endParaRPr lang="en-US" sz="1000" dirty="0"/>
          </a:p>
        </p:txBody>
      </p:sp>
      <p:sp>
        <p:nvSpPr>
          <p:cNvPr id="8" name="Shape 6"/>
          <p:cNvSpPr/>
          <p:nvPr/>
        </p:nvSpPr>
        <p:spPr>
          <a:xfrm>
            <a:off x="4892040" y="1965960"/>
            <a:ext cx="3246120" cy="1874520"/>
          </a:xfrm>
          <a:prstGeom prst="roundRect">
            <a:avLst>
              <a:gd name="adj" fmla="val 2927"/>
            </a:avLst>
          </a:prstGeom>
          <a:solidFill>
            <a:srgbClr val="1A1A1C"/>
          </a:solidFill>
          <a:ln/>
        </p:spPr>
      </p:sp>
      <p:sp>
        <p:nvSpPr>
          <p:cNvPr id="9" name="Shape 7"/>
          <p:cNvSpPr/>
          <p:nvPr/>
        </p:nvSpPr>
        <p:spPr>
          <a:xfrm>
            <a:off x="5184648" y="2258568"/>
            <a:ext cx="548640" cy="548640"/>
          </a:xfrm>
          <a:prstGeom prst="ellipse">
            <a:avLst/>
          </a:prstGeom>
          <a:solidFill>
            <a:srgbClr val="0D0D0D"/>
          </a:solidFill>
          <a:ln w="15875">
            <a:solidFill>
              <a:srgbClr val="FF5A00"/>
            </a:solidFill>
            <a:prstDash val="solid"/>
          </a:ln>
        </p:spPr>
      </p:sp>
      <p:pic>
        <p:nvPicPr>
          <p:cNvPr id="10" name="Image 0" descr="/tmp/claude-0/-home-user-getoios/887612f7-bce3-5d7f-a297-e09f9aa5407b/scratchpad/deck/icons/moto-orange.png">    </p:cNvPr>
          <p:cNvPicPr>
            <a:picLocks noChangeAspect="1"/>
          </p:cNvPicPr>
          <p:nvPr/>
        </p:nvPicPr>
        <p:blipFill>
          <a:blip r:embed="rId1"/>
          <a:stretch>
            <a:fillRect/>
          </a:stretch>
        </p:blipFill>
        <p:spPr>
          <a:xfrm>
            <a:off x="5338267" y="2412187"/>
            <a:ext cx="241402" cy="241402"/>
          </a:xfrm>
          <a:prstGeom prst="rect">
            <a:avLst/>
          </a:prstGeom>
        </p:spPr>
      </p:pic>
      <p:sp>
        <p:nvSpPr>
          <p:cNvPr id="11" name="Text 8"/>
          <p:cNvSpPr/>
          <p:nvPr/>
        </p:nvSpPr>
        <p:spPr>
          <a:xfrm>
            <a:off x="5166360" y="2926080"/>
            <a:ext cx="2697480" cy="320040"/>
          </a:xfrm>
          <a:prstGeom prst="rect">
            <a:avLst/>
          </a:prstGeom>
          <a:noFill/>
          <a:ln/>
        </p:spPr>
        <p:txBody>
          <a:bodyPr wrap="square" lIns="0" tIns="0" rIns="0" bIns="0" rtlCol="0" anchor="ctr"/>
          <a:lstStyle/>
          <a:p>
            <a:pPr indent="0" marL="0">
              <a:buNone/>
            </a:pPr>
            <a:r>
              <a:rPr lang="en-US" sz="1500" b="1" dirty="0">
                <a:solidFill>
                  <a:srgbClr val="F2F2F0"/>
                </a:solidFill>
                <a:latin typeface="Arial" pitchFamily="34" charset="0"/>
                <a:ea typeface="Arial" pitchFamily="34" charset="-122"/>
                <a:cs typeface="Arial" pitchFamily="34" charset="-120"/>
              </a:rPr>
              <a:t>Powersports</a:t>
            </a:r>
            <a:endParaRPr lang="en-US" sz="1500" dirty="0"/>
          </a:p>
        </p:txBody>
      </p:sp>
      <p:sp>
        <p:nvSpPr>
          <p:cNvPr id="12" name="Text 9"/>
          <p:cNvSpPr/>
          <p:nvPr/>
        </p:nvSpPr>
        <p:spPr>
          <a:xfrm>
            <a:off x="5166360" y="3264408"/>
            <a:ext cx="2697480" cy="457200"/>
          </a:xfrm>
          <a:prstGeom prst="rect">
            <a:avLst/>
          </a:prstGeom>
          <a:noFill/>
          <a:ln/>
        </p:spPr>
        <p:txBody>
          <a:bodyPr wrap="square" lIns="0" tIns="0" rIns="0" bIns="0" rtlCol="0" anchor="ctr"/>
          <a:lstStyle/>
          <a:p>
            <a:pPr indent="0" marL="0">
              <a:buNone/>
            </a:pPr>
            <a:r>
              <a:rPr lang="en-US" sz="1150" dirty="0">
                <a:solidFill>
                  <a:srgbClr val="9A9A9E"/>
                </a:solidFill>
                <a:latin typeface="Arial" pitchFamily="34" charset="0"/>
                <a:ea typeface="Arial" pitchFamily="34" charset="-122"/>
                <a:cs typeface="Arial" pitchFamily="34" charset="-120"/>
              </a:rPr>
              <a:t>Honda · Suzuki · Kawasaki · Yamaha</a:t>
            </a:r>
            <a:endParaRPr lang="en-US" sz="1150" dirty="0"/>
          </a:p>
        </p:txBody>
      </p:sp>
      <p:sp>
        <p:nvSpPr>
          <p:cNvPr id="13" name="Shape 10"/>
          <p:cNvSpPr/>
          <p:nvPr/>
        </p:nvSpPr>
        <p:spPr>
          <a:xfrm>
            <a:off x="8412480" y="1965960"/>
            <a:ext cx="3246120" cy="1874520"/>
          </a:xfrm>
          <a:prstGeom prst="roundRect">
            <a:avLst>
              <a:gd name="adj" fmla="val 2927"/>
            </a:avLst>
          </a:prstGeom>
          <a:solidFill>
            <a:srgbClr val="1A1A1C"/>
          </a:solidFill>
          <a:ln/>
        </p:spPr>
      </p:sp>
      <p:sp>
        <p:nvSpPr>
          <p:cNvPr id="14" name="Shape 11"/>
          <p:cNvSpPr/>
          <p:nvPr/>
        </p:nvSpPr>
        <p:spPr>
          <a:xfrm>
            <a:off x="8705088" y="2258568"/>
            <a:ext cx="548640" cy="548640"/>
          </a:xfrm>
          <a:prstGeom prst="ellipse">
            <a:avLst/>
          </a:prstGeom>
          <a:solidFill>
            <a:srgbClr val="0D0D0D"/>
          </a:solidFill>
          <a:ln w="15875">
            <a:solidFill>
              <a:srgbClr val="FF5A00"/>
            </a:solidFill>
            <a:prstDash val="solid"/>
          </a:ln>
        </p:spPr>
      </p:sp>
      <p:pic>
        <p:nvPicPr>
          <p:cNvPr id="15" name="Image 1" descr="/tmp/claude-0/-home-user-getoios/887612f7-bce3-5d7f-a297-e09f9aa5407b/scratchpad/deck/icons/hauler-orange.png">    </p:cNvPr>
          <p:cNvPicPr>
            <a:picLocks noChangeAspect="1"/>
          </p:cNvPicPr>
          <p:nvPr/>
        </p:nvPicPr>
        <p:blipFill>
          <a:blip r:embed="rId2"/>
          <a:stretch>
            <a:fillRect/>
          </a:stretch>
        </p:blipFill>
        <p:spPr>
          <a:xfrm>
            <a:off x="8858707" y="2412187"/>
            <a:ext cx="241402" cy="241402"/>
          </a:xfrm>
          <a:prstGeom prst="rect">
            <a:avLst/>
          </a:prstGeom>
        </p:spPr>
      </p:pic>
      <p:sp>
        <p:nvSpPr>
          <p:cNvPr id="16" name="Text 12"/>
          <p:cNvSpPr/>
          <p:nvPr/>
        </p:nvSpPr>
        <p:spPr>
          <a:xfrm>
            <a:off x="8686800" y="2926080"/>
            <a:ext cx="2697480" cy="320040"/>
          </a:xfrm>
          <a:prstGeom prst="rect">
            <a:avLst/>
          </a:prstGeom>
          <a:noFill/>
          <a:ln/>
        </p:spPr>
        <p:txBody>
          <a:bodyPr wrap="square" lIns="0" tIns="0" rIns="0" bIns="0" rtlCol="0" anchor="ctr"/>
          <a:lstStyle/>
          <a:p>
            <a:pPr indent="0" marL="0">
              <a:buNone/>
            </a:pPr>
            <a:r>
              <a:rPr lang="en-US" sz="1500" b="1" dirty="0">
                <a:solidFill>
                  <a:srgbClr val="F2F2F0"/>
                </a:solidFill>
                <a:latin typeface="Arial" pitchFamily="34" charset="0"/>
                <a:ea typeface="Arial" pitchFamily="34" charset="-122"/>
                <a:cs typeface="Arial" pitchFamily="34" charset="-120"/>
              </a:rPr>
              <a:t>Coach &amp; Trailer</a:t>
            </a:r>
            <a:endParaRPr lang="en-US" sz="1500" dirty="0"/>
          </a:p>
        </p:txBody>
      </p:sp>
      <p:sp>
        <p:nvSpPr>
          <p:cNvPr id="17" name="Text 13"/>
          <p:cNvSpPr/>
          <p:nvPr/>
        </p:nvSpPr>
        <p:spPr>
          <a:xfrm>
            <a:off x="8686800" y="3264408"/>
            <a:ext cx="2697480" cy="457200"/>
          </a:xfrm>
          <a:prstGeom prst="rect">
            <a:avLst/>
          </a:prstGeom>
          <a:noFill/>
          <a:ln/>
        </p:spPr>
        <p:txBody>
          <a:bodyPr wrap="square" lIns="0" tIns="0" rIns="0" bIns="0" rtlCol="0" anchor="ctr"/>
          <a:lstStyle/>
          <a:p>
            <a:pPr indent="0" marL="0">
              <a:buNone/>
            </a:pPr>
            <a:r>
              <a:rPr lang="en-US" sz="1150" dirty="0">
                <a:solidFill>
                  <a:srgbClr val="9A9A9E"/>
                </a:solidFill>
                <a:latin typeface="Arial" pitchFamily="34" charset="0"/>
                <a:ea typeface="Arial" pitchFamily="34" charset="-122"/>
                <a:cs typeface="Arial" pitchFamily="34" charset="-120"/>
              </a:rPr>
              <a:t>Haulers listed to $699K</a:t>
            </a:r>
            <a:endParaRPr lang="en-US" sz="1150" dirty="0"/>
          </a:p>
        </p:txBody>
      </p:sp>
      <p:sp>
        <p:nvSpPr>
          <p:cNvPr id="18" name="Shape 14"/>
          <p:cNvSpPr/>
          <p:nvPr/>
        </p:nvSpPr>
        <p:spPr>
          <a:xfrm>
            <a:off x="4892040" y="4114800"/>
            <a:ext cx="3246120" cy="1874520"/>
          </a:xfrm>
          <a:prstGeom prst="roundRect">
            <a:avLst>
              <a:gd name="adj" fmla="val 2927"/>
            </a:avLst>
          </a:prstGeom>
          <a:solidFill>
            <a:srgbClr val="1A1A1C"/>
          </a:solidFill>
          <a:ln/>
        </p:spPr>
      </p:sp>
      <p:sp>
        <p:nvSpPr>
          <p:cNvPr id="19" name="Shape 15"/>
          <p:cNvSpPr/>
          <p:nvPr/>
        </p:nvSpPr>
        <p:spPr>
          <a:xfrm>
            <a:off x="5184648" y="4407408"/>
            <a:ext cx="548640" cy="548640"/>
          </a:xfrm>
          <a:prstGeom prst="ellipse">
            <a:avLst/>
          </a:prstGeom>
          <a:solidFill>
            <a:srgbClr val="0D0D0D"/>
          </a:solidFill>
          <a:ln w="15875">
            <a:solidFill>
              <a:srgbClr val="FF5A00"/>
            </a:solidFill>
            <a:prstDash val="solid"/>
          </a:ln>
        </p:spPr>
      </p:sp>
      <p:pic>
        <p:nvPicPr>
          <p:cNvPr id="20" name="Image 2" descr="/tmp/claude-0/-home-user-getoios/887612f7-bce3-5d7f-a297-e09f9aa5407b/scratchpad/deck/icons/wrench-orange.png">    </p:cNvPr>
          <p:cNvPicPr>
            <a:picLocks noChangeAspect="1"/>
          </p:cNvPicPr>
          <p:nvPr/>
        </p:nvPicPr>
        <p:blipFill>
          <a:blip r:embed="rId3"/>
          <a:stretch>
            <a:fillRect/>
          </a:stretch>
        </p:blipFill>
        <p:spPr>
          <a:xfrm>
            <a:off x="5338267" y="4561027"/>
            <a:ext cx="241402" cy="241402"/>
          </a:xfrm>
          <a:prstGeom prst="rect">
            <a:avLst/>
          </a:prstGeom>
        </p:spPr>
      </p:pic>
      <p:sp>
        <p:nvSpPr>
          <p:cNvPr id="21" name="Text 16"/>
          <p:cNvSpPr/>
          <p:nvPr/>
        </p:nvSpPr>
        <p:spPr>
          <a:xfrm>
            <a:off x="5166360" y="5074920"/>
            <a:ext cx="2697480" cy="320040"/>
          </a:xfrm>
          <a:prstGeom prst="rect">
            <a:avLst/>
          </a:prstGeom>
          <a:noFill/>
          <a:ln/>
        </p:spPr>
        <p:txBody>
          <a:bodyPr wrap="square" lIns="0" tIns="0" rIns="0" bIns="0" rtlCol="0" anchor="ctr"/>
          <a:lstStyle/>
          <a:p>
            <a:pPr indent="0" marL="0">
              <a:buNone/>
            </a:pPr>
            <a:r>
              <a:rPr lang="en-US" sz="1500" b="1" dirty="0">
                <a:solidFill>
                  <a:srgbClr val="F2F2F0"/>
                </a:solidFill>
                <a:latin typeface="Arial" pitchFamily="34" charset="0"/>
                <a:ea typeface="Arial" pitchFamily="34" charset="-122"/>
                <a:cs typeface="Arial" pitchFamily="34" charset="-120"/>
              </a:rPr>
              <a:t>Service</a:t>
            </a:r>
            <a:endParaRPr lang="en-US" sz="1500" dirty="0"/>
          </a:p>
        </p:txBody>
      </p:sp>
      <p:sp>
        <p:nvSpPr>
          <p:cNvPr id="22" name="Text 17"/>
          <p:cNvSpPr/>
          <p:nvPr/>
        </p:nvSpPr>
        <p:spPr>
          <a:xfrm>
            <a:off x="5166360" y="5413248"/>
            <a:ext cx="2697480" cy="457200"/>
          </a:xfrm>
          <a:prstGeom prst="rect">
            <a:avLst/>
          </a:prstGeom>
          <a:noFill/>
          <a:ln/>
        </p:spPr>
        <p:txBody>
          <a:bodyPr wrap="square" lIns="0" tIns="0" rIns="0" bIns="0" rtlCol="0" anchor="ctr"/>
          <a:lstStyle/>
          <a:p>
            <a:pPr indent="0" marL="0">
              <a:buNone/>
            </a:pPr>
            <a:r>
              <a:rPr lang="en-US" sz="1150" dirty="0">
                <a:solidFill>
                  <a:srgbClr val="9A9A9E"/>
                </a:solidFill>
                <a:latin typeface="Arial" pitchFamily="34" charset="0"/>
                <a:ea typeface="Arial" pitchFamily="34" charset="-122"/>
                <a:cs typeface="Arial" pitchFamily="34" charset="-120"/>
              </a:rPr>
              <a:t>Most major brands</a:t>
            </a:r>
            <a:endParaRPr lang="en-US" sz="1150" dirty="0"/>
          </a:p>
        </p:txBody>
      </p:sp>
      <p:sp>
        <p:nvSpPr>
          <p:cNvPr id="23" name="Shape 18"/>
          <p:cNvSpPr/>
          <p:nvPr/>
        </p:nvSpPr>
        <p:spPr>
          <a:xfrm>
            <a:off x="8412480" y="4114800"/>
            <a:ext cx="3246120" cy="1874520"/>
          </a:xfrm>
          <a:prstGeom prst="roundRect">
            <a:avLst>
              <a:gd name="adj" fmla="val 2927"/>
            </a:avLst>
          </a:prstGeom>
          <a:solidFill>
            <a:srgbClr val="1A1A1C"/>
          </a:solidFill>
          <a:ln/>
        </p:spPr>
      </p:sp>
      <p:sp>
        <p:nvSpPr>
          <p:cNvPr id="24" name="Shape 19"/>
          <p:cNvSpPr/>
          <p:nvPr/>
        </p:nvSpPr>
        <p:spPr>
          <a:xfrm>
            <a:off x="8705088" y="4407408"/>
            <a:ext cx="548640" cy="548640"/>
          </a:xfrm>
          <a:prstGeom prst="ellipse">
            <a:avLst/>
          </a:prstGeom>
          <a:solidFill>
            <a:srgbClr val="0D0D0D"/>
          </a:solidFill>
          <a:ln w="15875">
            <a:solidFill>
              <a:srgbClr val="FF5A00"/>
            </a:solidFill>
            <a:prstDash val="solid"/>
          </a:ln>
        </p:spPr>
      </p:sp>
      <p:pic>
        <p:nvPicPr>
          <p:cNvPr id="25" name="Image 3" descr="/tmp/claude-0/-home-user-getoios/887612f7-bce3-5d7f-a297-e09f9aa5407b/scratchpad/deck/icons/pin-orange.png">    </p:cNvPr>
          <p:cNvPicPr>
            <a:picLocks noChangeAspect="1"/>
          </p:cNvPicPr>
          <p:nvPr/>
        </p:nvPicPr>
        <p:blipFill>
          <a:blip r:embed="rId4"/>
          <a:stretch>
            <a:fillRect/>
          </a:stretch>
        </p:blipFill>
        <p:spPr>
          <a:xfrm>
            <a:off x="8858707" y="4561027"/>
            <a:ext cx="241402" cy="241402"/>
          </a:xfrm>
          <a:prstGeom prst="rect">
            <a:avLst/>
          </a:prstGeom>
        </p:spPr>
      </p:pic>
      <p:sp>
        <p:nvSpPr>
          <p:cNvPr id="26" name="Text 20"/>
          <p:cNvSpPr/>
          <p:nvPr/>
        </p:nvSpPr>
        <p:spPr>
          <a:xfrm>
            <a:off x="8686800" y="5074920"/>
            <a:ext cx="2697480" cy="320040"/>
          </a:xfrm>
          <a:prstGeom prst="rect">
            <a:avLst/>
          </a:prstGeom>
          <a:noFill/>
          <a:ln/>
        </p:spPr>
        <p:txBody>
          <a:bodyPr wrap="square" lIns="0" tIns="0" rIns="0" bIns="0" rtlCol="0" anchor="ctr"/>
          <a:lstStyle/>
          <a:p>
            <a:pPr indent="0" marL="0">
              <a:buNone/>
            </a:pPr>
            <a:r>
              <a:rPr lang="en-US" sz="1500" b="1" dirty="0">
                <a:solidFill>
                  <a:srgbClr val="F2F2F0"/>
                </a:solidFill>
                <a:latin typeface="Arial" pitchFamily="34" charset="0"/>
                <a:ea typeface="Arial" pitchFamily="34" charset="-122"/>
                <a:cs typeface="Arial" pitchFamily="34" charset="-120"/>
              </a:rPr>
              <a:t>Out-of-state buyers</a:t>
            </a:r>
            <a:endParaRPr lang="en-US" sz="1500" dirty="0"/>
          </a:p>
        </p:txBody>
      </p:sp>
      <p:sp>
        <p:nvSpPr>
          <p:cNvPr id="27" name="Text 21"/>
          <p:cNvSpPr/>
          <p:nvPr/>
        </p:nvSpPr>
        <p:spPr>
          <a:xfrm>
            <a:off x="8686800" y="5413248"/>
            <a:ext cx="2697480" cy="457200"/>
          </a:xfrm>
          <a:prstGeom prst="rect">
            <a:avLst/>
          </a:prstGeom>
          <a:noFill/>
          <a:ln/>
        </p:spPr>
        <p:txBody>
          <a:bodyPr wrap="square" lIns="0" tIns="0" rIns="0" bIns="0" rtlCol="0" anchor="ctr"/>
          <a:lstStyle/>
          <a:p>
            <a:pPr indent="0" marL="0">
              <a:buNone/>
            </a:pPr>
            <a:r>
              <a:rPr lang="en-US" sz="1150" dirty="0">
                <a:solidFill>
                  <a:srgbClr val="9A9A9E"/>
                </a:solidFill>
                <a:latin typeface="Arial" pitchFamily="34" charset="0"/>
                <a:ea typeface="Arial" pitchFamily="34" charset="-122"/>
                <a:cs typeface="Arial" pitchFamily="34" charset="-120"/>
              </a:rPr>
              <a:t>Sight-unseen deals, five-star reviews</a:t>
            </a:r>
            <a:endParaRPr lang="en-US" sz="11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D0D0D"/>
        </a:solidFill>
      </p:bgPr>
    </p:bg>
    <p:spTree>
      <p:nvGrpSpPr>
        <p:cNvPr id="1" name=""/>
        <p:cNvGrpSpPr/>
        <p:nvPr/>
      </p:nvGrpSpPr>
      <p:grpSpPr>
        <a:xfrm>
          <a:off x="0" y="0"/>
          <a:ext cx="0" cy="0"/>
          <a:chOff x="0" y="0"/>
          <a:chExt cx="0" cy="0"/>
        </a:xfrm>
      </p:grpSpPr>
      <p:sp>
        <p:nvSpPr>
          <p:cNvPr id="2" name="Text 0"/>
          <p:cNvSpPr/>
          <p:nvPr/>
        </p:nvSpPr>
        <p:spPr>
          <a:xfrm>
            <a:off x="685800" y="457200"/>
            <a:ext cx="7315200" cy="274320"/>
          </a:xfrm>
          <a:prstGeom prst="rect">
            <a:avLst/>
          </a:prstGeom>
          <a:noFill/>
          <a:ln/>
        </p:spPr>
        <p:txBody>
          <a:bodyPr wrap="square" lIns="0" tIns="0" rIns="0" bIns="0" rtlCol="0" anchor="ctr"/>
          <a:lstStyle/>
          <a:p>
            <a:pPr algn="l" indent="0" marL="0">
              <a:buNone/>
            </a:pPr>
            <a:r>
              <a:rPr lang="en-US" sz="1100" b="1" spc="400" kern="0" dirty="0">
                <a:solidFill>
                  <a:srgbClr val="FF5A00"/>
                </a:solidFill>
                <a:latin typeface="Arial" pitchFamily="34" charset="0"/>
                <a:ea typeface="Arial" pitchFamily="34" charset="-122"/>
                <a:cs typeface="Arial" pitchFamily="34" charset="-120"/>
              </a:rPr>
              <a:t>THE REAL PROBLEM</a:t>
            </a:r>
            <a:endParaRPr lang="en-US" sz="1100" dirty="0"/>
          </a:p>
        </p:txBody>
      </p:sp>
      <p:sp>
        <p:nvSpPr>
          <p:cNvPr id="3" name="Text 1"/>
          <p:cNvSpPr/>
          <p:nvPr/>
        </p:nvSpPr>
        <p:spPr>
          <a:xfrm>
            <a:off x="685800" y="749808"/>
            <a:ext cx="10820095" cy="777240"/>
          </a:xfrm>
          <a:prstGeom prst="rect">
            <a:avLst/>
          </a:prstGeom>
          <a:noFill/>
          <a:ln/>
        </p:spPr>
        <p:txBody>
          <a:bodyPr wrap="square" lIns="0" tIns="0" rIns="0" bIns="0" rtlCol="0" anchor="ctr"/>
          <a:lstStyle/>
          <a:p>
            <a:pPr algn="l" indent="0" marL="0">
              <a:buNone/>
            </a:pPr>
            <a:r>
              <a:rPr lang="en-US" sz="3400" b="1" dirty="0">
                <a:solidFill>
                  <a:srgbClr val="F2F2F0"/>
                </a:solidFill>
                <a:latin typeface="Arial" pitchFamily="34" charset="0"/>
                <a:ea typeface="Arial" pitchFamily="34" charset="-122"/>
                <a:cs typeface="Arial" pitchFamily="34" charset="-120"/>
              </a:rPr>
              <a:t>EVERY DEAL RUNS THROUGH ONE PERSON.</a:t>
            </a:r>
            <a:endParaRPr lang="en-US" sz="3400" dirty="0"/>
          </a:p>
        </p:txBody>
      </p:sp>
      <p:sp>
        <p:nvSpPr>
          <p:cNvPr id="4" name="Text 2"/>
          <p:cNvSpPr/>
          <p:nvPr/>
        </p:nvSpPr>
        <p:spPr>
          <a:xfrm>
            <a:off x="11231575" y="6382512"/>
            <a:ext cx="548640" cy="274320"/>
          </a:xfrm>
          <a:prstGeom prst="rect">
            <a:avLst/>
          </a:prstGeom>
          <a:noFill/>
          <a:ln/>
        </p:spPr>
        <p:txBody>
          <a:bodyPr wrap="square" lIns="0" tIns="0" rIns="0" bIns="0" rtlCol="0" anchor="ctr"/>
          <a:lstStyle/>
          <a:p>
            <a:pPr algn="r" indent="0" marL="0">
              <a:buNone/>
            </a:pPr>
            <a:r>
              <a:rPr lang="en-US" sz="900" dirty="0">
                <a:solidFill>
                  <a:srgbClr val="5A5A5E"/>
                </a:solidFill>
                <a:latin typeface="Arial" pitchFamily="34" charset="0"/>
                <a:ea typeface="Arial" pitchFamily="34" charset="-122"/>
                <a:cs typeface="Arial" pitchFamily="34" charset="-120"/>
              </a:rPr>
              <a:t>03</a:t>
            </a:r>
            <a:endParaRPr lang="en-US" sz="900" dirty="0"/>
          </a:p>
        </p:txBody>
      </p:sp>
      <p:sp>
        <p:nvSpPr>
          <p:cNvPr id="5" name="Text 3"/>
          <p:cNvSpPr/>
          <p:nvPr/>
        </p:nvSpPr>
        <p:spPr>
          <a:xfrm>
            <a:off x="868680" y="1819656"/>
            <a:ext cx="1554480" cy="292608"/>
          </a:xfrm>
          <a:prstGeom prst="rect">
            <a:avLst/>
          </a:prstGeom>
          <a:noFill/>
          <a:ln/>
        </p:spPr>
        <p:txBody>
          <a:bodyPr wrap="square" lIns="0" tIns="0" rIns="0" bIns="0" rtlCol="0" anchor="ctr"/>
          <a:lstStyle/>
          <a:p>
            <a:pPr algn="r" indent="0" marL="0">
              <a:buNone/>
            </a:pPr>
            <a:r>
              <a:rPr lang="en-US" sz="1300" dirty="0">
                <a:solidFill>
                  <a:srgbClr val="9A9A9E"/>
                </a:solidFill>
                <a:latin typeface="Arial" pitchFamily="34" charset="0"/>
                <a:ea typeface="Arial" pitchFamily="34" charset="-122"/>
                <a:cs typeface="Arial" pitchFamily="34" charset="-120"/>
              </a:rPr>
              <a:t>Phone</a:t>
            </a:r>
            <a:endParaRPr lang="en-US" sz="1300" dirty="0"/>
          </a:p>
        </p:txBody>
      </p:sp>
      <p:sp>
        <p:nvSpPr>
          <p:cNvPr id="6" name="Shape 4"/>
          <p:cNvSpPr/>
          <p:nvPr/>
        </p:nvSpPr>
        <p:spPr>
          <a:xfrm>
            <a:off x="2560320" y="1965960"/>
            <a:ext cx="2642616" cy="1554480"/>
          </a:xfrm>
          <a:prstGeom prst="line">
            <a:avLst/>
          </a:prstGeom>
          <a:noFill/>
          <a:ln w="12700">
            <a:solidFill>
              <a:srgbClr val="3A3A3E"/>
            </a:solidFill>
            <a:prstDash val="solid"/>
          </a:ln>
        </p:spPr>
      </p:sp>
      <p:sp>
        <p:nvSpPr>
          <p:cNvPr id="7" name="Text 5"/>
          <p:cNvSpPr/>
          <p:nvPr/>
        </p:nvSpPr>
        <p:spPr>
          <a:xfrm>
            <a:off x="868680" y="2478024"/>
            <a:ext cx="1554480" cy="292608"/>
          </a:xfrm>
          <a:prstGeom prst="rect">
            <a:avLst/>
          </a:prstGeom>
          <a:noFill/>
          <a:ln/>
        </p:spPr>
        <p:txBody>
          <a:bodyPr wrap="square" lIns="0" tIns="0" rIns="0" bIns="0" rtlCol="0" anchor="ctr"/>
          <a:lstStyle/>
          <a:p>
            <a:pPr algn="r" indent="0" marL="0">
              <a:buNone/>
            </a:pPr>
            <a:r>
              <a:rPr lang="en-US" sz="1300" dirty="0">
                <a:solidFill>
                  <a:srgbClr val="9A9A9E"/>
                </a:solidFill>
                <a:latin typeface="Arial" pitchFamily="34" charset="0"/>
                <a:ea typeface="Arial" pitchFamily="34" charset="-122"/>
                <a:cs typeface="Arial" pitchFamily="34" charset="-120"/>
              </a:rPr>
              <a:t>Facebook</a:t>
            </a:r>
            <a:endParaRPr lang="en-US" sz="1300" dirty="0"/>
          </a:p>
        </p:txBody>
      </p:sp>
      <p:sp>
        <p:nvSpPr>
          <p:cNvPr id="8" name="Shape 6"/>
          <p:cNvSpPr/>
          <p:nvPr/>
        </p:nvSpPr>
        <p:spPr>
          <a:xfrm>
            <a:off x="2560320" y="2624328"/>
            <a:ext cx="2642616" cy="896112"/>
          </a:xfrm>
          <a:prstGeom prst="line">
            <a:avLst/>
          </a:prstGeom>
          <a:noFill/>
          <a:ln w="12700">
            <a:solidFill>
              <a:srgbClr val="3A3A3E"/>
            </a:solidFill>
            <a:prstDash val="solid"/>
          </a:ln>
        </p:spPr>
      </p:sp>
      <p:sp>
        <p:nvSpPr>
          <p:cNvPr id="9" name="Text 7"/>
          <p:cNvSpPr/>
          <p:nvPr/>
        </p:nvSpPr>
        <p:spPr>
          <a:xfrm>
            <a:off x="868680" y="3136392"/>
            <a:ext cx="1554480" cy="292608"/>
          </a:xfrm>
          <a:prstGeom prst="rect">
            <a:avLst/>
          </a:prstGeom>
          <a:noFill/>
          <a:ln/>
        </p:spPr>
        <p:txBody>
          <a:bodyPr wrap="square" lIns="0" tIns="0" rIns="0" bIns="0" rtlCol="0" anchor="ctr"/>
          <a:lstStyle/>
          <a:p>
            <a:pPr algn="r" indent="0" marL="0">
              <a:buNone/>
            </a:pPr>
            <a:r>
              <a:rPr lang="en-US" sz="1300" dirty="0">
                <a:solidFill>
                  <a:srgbClr val="9A9A9E"/>
                </a:solidFill>
                <a:latin typeface="Arial" pitchFamily="34" charset="0"/>
                <a:ea typeface="Arial" pitchFamily="34" charset="-122"/>
                <a:cs typeface="Arial" pitchFamily="34" charset="-120"/>
              </a:rPr>
              <a:t>Website</a:t>
            </a:r>
            <a:endParaRPr lang="en-US" sz="1300" dirty="0"/>
          </a:p>
        </p:txBody>
      </p:sp>
      <p:sp>
        <p:nvSpPr>
          <p:cNvPr id="10" name="Shape 8"/>
          <p:cNvSpPr/>
          <p:nvPr/>
        </p:nvSpPr>
        <p:spPr>
          <a:xfrm>
            <a:off x="2560320" y="3282696"/>
            <a:ext cx="2642616" cy="237744"/>
          </a:xfrm>
          <a:prstGeom prst="line">
            <a:avLst/>
          </a:prstGeom>
          <a:noFill/>
          <a:ln w="12700">
            <a:solidFill>
              <a:srgbClr val="3A3A3E"/>
            </a:solidFill>
            <a:prstDash val="solid"/>
          </a:ln>
        </p:spPr>
      </p:sp>
      <p:sp>
        <p:nvSpPr>
          <p:cNvPr id="11" name="Text 9"/>
          <p:cNvSpPr/>
          <p:nvPr/>
        </p:nvSpPr>
        <p:spPr>
          <a:xfrm>
            <a:off x="868680" y="3794760"/>
            <a:ext cx="1554480" cy="292608"/>
          </a:xfrm>
          <a:prstGeom prst="rect">
            <a:avLst/>
          </a:prstGeom>
          <a:noFill/>
          <a:ln/>
        </p:spPr>
        <p:txBody>
          <a:bodyPr wrap="square" lIns="0" tIns="0" rIns="0" bIns="0" rtlCol="0" anchor="ctr"/>
          <a:lstStyle/>
          <a:p>
            <a:pPr algn="r" indent="0" marL="0">
              <a:buNone/>
            </a:pPr>
            <a:r>
              <a:rPr lang="en-US" sz="1300" dirty="0">
                <a:solidFill>
                  <a:srgbClr val="9A9A9E"/>
                </a:solidFill>
                <a:latin typeface="Arial" pitchFamily="34" charset="0"/>
                <a:ea typeface="Arial" pitchFamily="34" charset="-122"/>
                <a:cs typeface="Arial" pitchFamily="34" charset="-120"/>
              </a:rPr>
              <a:t>RV Trader</a:t>
            </a:r>
            <a:endParaRPr lang="en-US" sz="1300" dirty="0"/>
          </a:p>
        </p:txBody>
      </p:sp>
      <p:sp>
        <p:nvSpPr>
          <p:cNvPr id="12" name="Shape 10"/>
          <p:cNvSpPr/>
          <p:nvPr/>
        </p:nvSpPr>
        <p:spPr>
          <a:xfrm flipV="1">
            <a:off x="2560320" y="3520440"/>
            <a:ext cx="2642616" cy="420624"/>
          </a:xfrm>
          <a:prstGeom prst="line">
            <a:avLst/>
          </a:prstGeom>
          <a:noFill/>
          <a:ln w="12700">
            <a:solidFill>
              <a:srgbClr val="3A3A3E"/>
            </a:solidFill>
            <a:prstDash val="solid"/>
          </a:ln>
        </p:spPr>
      </p:sp>
      <p:sp>
        <p:nvSpPr>
          <p:cNvPr id="13" name="Text 11"/>
          <p:cNvSpPr/>
          <p:nvPr/>
        </p:nvSpPr>
        <p:spPr>
          <a:xfrm>
            <a:off x="868680" y="4453128"/>
            <a:ext cx="1554480" cy="292608"/>
          </a:xfrm>
          <a:prstGeom prst="rect">
            <a:avLst/>
          </a:prstGeom>
          <a:noFill/>
          <a:ln/>
        </p:spPr>
        <p:txBody>
          <a:bodyPr wrap="square" lIns="0" tIns="0" rIns="0" bIns="0" rtlCol="0" anchor="ctr"/>
          <a:lstStyle/>
          <a:p>
            <a:pPr algn="r" indent="0" marL="0">
              <a:buNone/>
            </a:pPr>
            <a:r>
              <a:rPr lang="en-US" sz="1300" dirty="0">
                <a:solidFill>
                  <a:srgbClr val="9A9A9E"/>
                </a:solidFill>
                <a:latin typeface="Arial" pitchFamily="34" charset="0"/>
                <a:ea typeface="Arial" pitchFamily="34" charset="-122"/>
                <a:cs typeface="Arial" pitchFamily="34" charset="-120"/>
              </a:rPr>
              <a:t>Walk-ins</a:t>
            </a:r>
            <a:endParaRPr lang="en-US" sz="1300" dirty="0"/>
          </a:p>
        </p:txBody>
      </p:sp>
      <p:sp>
        <p:nvSpPr>
          <p:cNvPr id="14" name="Shape 12"/>
          <p:cNvSpPr/>
          <p:nvPr/>
        </p:nvSpPr>
        <p:spPr>
          <a:xfrm flipV="1">
            <a:off x="2560320" y="3520440"/>
            <a:ext cx="2642616" cy="1078992"/>
          </a:xfrm>
          <a:prstGeom prst="line">
            <a:avLst/>
          </a:prstGeom>
          <a:noFill/>
          <a:ln w="12700">
            <a:solidFill>
              <a:srgbClr val="3A3A3E"/>
            </a:solidFill>
            <a:prstDash val="solid"/>
          </a:ln>
        </p:spPr>
      </p:sp>
      <p:sp>
        <p:nvSpPr>
          <p:cNvPr id="15" name="Shape 13"/>
          <p:cNvSpPr/>
          <p:nvPr/>
        </p:nvSpPr>
        <p:spPr>
          <a:xfrm>
            <a:off x="5276088" y="2807208"/>
            <a:ext cx="1426464" cy="1426464"/>
          </a:xfrm>
          <a:prstGeom prst="ellipse">
            <a:avLst/>
          </a:prstGeom>
          <a:solidFill>
            <a:srgbClr val="0D0D0D"/>
          </a:solidFill>
          <a:ln w="25400">
            <a:solidFill>
              <a:srgbClr val="FF5A00"/>
            </a:solidFill>
            <a:prstDash val="solid"/>
          </a:ln>
        </p:spPr>
      </p:sp>
      <p:sp>
        <p:nvSpPr>
          <p:cNvPr id="16" name="Text 14"/>
          <p:cNvSpPr/>
          <p:nvPr/>
        </p:nvSpPr>
        <p:spPr>
          <a:xfrm>
            <a:off x="5276088" y="3337560"/>
            <a:ext cx="1426464" cy="365760"/>
          </a:xfrm>
          <a:prstGeom prst="rect">
            <a:avLst/>
          </a:prstGeom>
          <a:noFill/>
          <a:ln/>
        </p:spPr>
        <p:txBody>
          <a:bodyPr wrap="square" lIns="0" tIns="0" rIns="0" bIns="0" rtlCol="0" anchor="ctr"/>
          <a:lstStyle/>
          <a:p>
            <a:pPr algn="ctr" indent="0" marL="0">
              <a:buNone/>
            </a:pPr>
            <a:r>
              <a:rPr lang="en-US" sz="1500" b="1" dirty="0">
                <a:solidFill>
                  <a:srgbClr val="FF5A00"/>
                </a:solidFill>
                <a:latin typeface="Arial" pitchFamily="34" charset="0"/>
                <a:ea typeface="Arial" pitchFamily="34" charset="-122"/>
                <a:cs typeface="Arial" pitchFamily="34" charset="-120"/>
              </a:rPr>
              <a:t>DYLAN</a:t>
            </a:r>
            <a:endParaRPr lang="en-US" sz="1500" dirty="0"/>
          </a:p>
        </p:txBody>
      </p:sp>
      <p:sp>
        <p:nvSpPr>
          <p:cNvPr id="17" name="Shape 15"/>
          <p:cNvSpPr/>
          <p:nvPr/>
        </p:nvSpPr>
        <p:spPr>
          <a:xfrm>
            <a:off x="6775704" y="3520440"/>
            <a:ext cx="1591056" cy="914"/>
          </a:xfrm>
          <a:prstGeom prst="line">
            <a:avLst/>
          </a:prstGeom>
          <a:noFill/>
          <a:ln w="19050">
            <a:solidFill>
              <a:srgbClr val="FF5A00"/>
            </a:solidFill>
            <a:prstDash val="solid"/>
          </a:ln>
        </p:spPr>
      </p:sp>
      <p:sp>
        <p:nvSpPr>
          <p:cNvPr id="18" name="Shape 16"/>
          <p:cNvSpPr/>
          <p:nvPr/>
        </p:nvSpPr>
        <p:spPr>
          <a:xfrm rot="5400000">
            <a:off x="8366760" y="3447288"/>
            <a:ext cx="146304" cy="146304"/>
          </a:xfrm>
          <a:prstGeom prst="triangle">
            <a:avLst/>
          </a:prstGeom>
          <a:solidFill>
            <a:srgbClr val="FF5A00"/>
          </a:solidFill>
          <a:ln/>
        </p:spPr>
      </p:sp>
      <p:sp>
        <p:nvSpPr>
          <p:cNvPr id="19" name="Text 17"/>
          <p:cNvSpPr/>
          <p:nvPr/>
        </p:nvSpPr>
        <p:spPr>
          <a:xfrm>
            <a:off x="8686800" y="3063240"/>
            <a:ext cx="2377440" cy="914400"/>
          </a:xfrm>
          <a:prstGeom prst="rect">
            <a:avLst/>
          </a:prstGeom>
          <a:noFill/>
          <a:ln/>
        </p:spPr>
        <p:txBody>
          <a:bodyPr wrap="square" lIns="0" tIns="0" rIns="0" bIns="0" rtlCol="0" anchor="ctr"/>
          <a:lstStyle/>
          <a:p>
            <a:pPr indent="0" marL="0">
              <a:lnSpc>
                <a:spcPts val="2400"/>
              </a:lnSpc>
              <a:buNone/>
            </a:pPr>
            <a:r>
              <a:rPr lang="en-US" sz="2000" b="1" dirty="0">
                <a:solidFill>
                  <a:srgbClr val="F2F2F0"/>
                </a:solidFill>
                <a:latin typeface="Arial" pitchFamily="34" charset="0"/>
                <a:ea typeface="Arial" pitchFamily="34" charset="-122"/>
                <a:cs typeface="Arial" pitchFamily="34" charset="-120"/>
              </a:rPr>
              <a:t>EVERY</a:t>
            </a:r>
            <a:endParaRPr lang="en-US" sz="2000" dirty="0"/>
          </a:p>
          <a:p>
            <a:pPr indent="0" marL="0">
              <a:lnSpc>
                <a:spcPts val="2400"/>
              </a:lnSpc>
              <a:buNone/>
            </a:pPr>
            <a:r>
              <a:rPr lang="en-US" sz="2000" b="1" dirty="0">
                <a:solidFill>
                  <a:srgbClr val="F2F2F0"/>
                </a:solidFill>
                <a:latin typeface="Arial" pitchFamily="34" charset="0"/>
                <a:ea typeface="Arial" pitchFamily="34" charset="-122"/>
                <a:cs typeface="Arial" pitchFamily="34" charset="-120"/>
              </a:rPr>
              <a:t>DEAL</a:t>
            </a:r>
            <a:endParaRPr lang="en-US" sz="2000" dirty="0"/>
          </a:p>
        </p:txBody>
      </p:sp>
      <p:sp>
        <p:nvSpPr>
          <p:cNvPr id="20" name="Text 18"/>
          <p:cNvSpPr/>
          <p:nvPr/>
        </p:nvSpPr>
        <p:spPr>
          <a:xfrm>
            <a:off x="685800" y="5623560"/>
            <a:ext cx="10789920" cy="548640"/>
          </a:xfrm>
          <a:prstGeom prst="rect">
            <a:avLst/>
          </a:prstGeom>
          <a:noFill/>
          <a:ln/>
        </p:spPr>
        <p:txBody>
          <a:bodyPr wrap="square" lIns="0" tIns="0" rIns="0" bIns="0" rtlCol="0" anchor="ctr"/>
          <a:lstStyle/>
          <a:p>
            <a:pPr indent="0" marL="0">
              <a:buNone/>
            </a:pPr>
            <a:r>
              <a:rPr lang="en-US" sz="2400" b="1" dirty="0">
                <a:solidFill>
                  <a:srgbClr val="F2F2F0"/>
                </a:solidFill>
                <a:latin typeface="Arial" pitchFamily="34" charset="0"/>
                <a:ea typeface="Arial" pitchFamily="34" charset="-122"/>
                <a:cs typeface="Arial" pitchFamily="34" charset="-120"/>
              </a:rPr>
              <a:t>Not a people problem. </a:t>
            </a:r>
            <a:pPr indent="0" marL="0">
              <a:buNone/>
            </a:pPr>
            <a:r>
              <a:rPr lang="en-US" sz="2400" b="1" dirty="0">
                <a:solidFill>
                  <a:srgbClr val="FF5A00"/>
                </a:solidFill>
                <a:latin typeface="Arial" pitchFamily="34" charset="0"/>
                <a:ea typeface="Arial" pitchFamily="34" charset="-122"/>
                <a:cs typeface="Arial" pitchFamily="34" charset="-120"/>
              </a:rPr>
              <a:t>A systems problem.</a:t>
            </a:r>
            <a:endParaRPr lang="en-US" sz="24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D0D0D"/>
        </a:solidFill>
      </p:bgPr>
    </p:bg>
    <p:spTree>
      <p:nvGrpSpPr>
        <p:cNvPr id="1" name=""/>
        <p:cNvGrpSpPr/>
        <p:nvPr/>
      </p:nvGrpSpPr>
      <p:grpSpPr>
        <a:xfrm>
          <a:off x="0" y="0"/>
          <a:ext cx="0" cy="0"/>
          <a:chOff x="0" y="0"/>
          <a:chExt cx="0" cy="0"/>
        </a:xfrm>
      </p:grpSpPr>
      <p:sp>
        <p:nvSpPr>
          <p:cNvPr id="2" name="Text 0"/>
          <p:cNvSpPr/>
          <p:nvPr/>
        </p:nvSpPr>
        <p:spPr>
          <a:xfrm>
            <a:off x="685800" y="457200"/>
            <a:ext cx="7315200" cy="274320"/>
          </a:xfrm>
          <a:prstGeom prst="rect">
            <a:avLst/>
          </a:prstGeom>
          <a:noFill/>
          <a:ln/>
        </p:spPr>
        <p:txBody>
          <a:bodyPr wrap="square" lIns="0" tIns="0" rIns="0" bIns="0" rtlCol="0" anchor="ctr"/>
          <a:lstStyle/>
          <a:p>
            <a:pPr algn="l" indent="0" marL="0">
              <a:buNone/>
            </a:pPr>
            <a:r>
              <a:rPr lang="en-US" sz="1100" b="1" spc="400" kern="0" dirty="0">
                <a:solidFill>
                  <a:srgbClr val="FF5A00"/>
                </a:solidFill>
                <a:latin typeface="Arial" pitchFamily="34" charset="0"/>
                <a:ea typeface="Arial" pitchFamily="34" charset="-122"/>
                <a:cs typeface="Arial" pitchFamily="34" charset="-120"/>
              </a:rPr>
              <a:t>WHAT IT COSTS TODAY</a:t>
            </a:r>
            <a:endParaRPr lang="en-US" sz="1100" dirty="0"/>
          </a:p>
        </p:txBody>
      </p:sp>
      <p:sp>
        <p:nvSpPr>
          <p:cNvPr id="3" name="Text 1"/>
          <p:cNvSpPr/>
          <p:nvPr/>
        </p:nvSpPr>
        <p:spPr>
          <a:xfrm>
            <a:off x="685800" y="749808"/>
            <a:ext cx="10820095" cy="777240"/>
          </a:xfrm>
          <a:prstGeom prst="rect">
            <a:avLst/>
          </a:prstGeom>
          <a:noFill/>
          <a:ln/>
        </p:spPr>
        <p:txBody>
          <a:bodyPr wrap="square" lIns="0" tIns="0" rIns="0" bIns="0" rtlCol="0" anchor="ctr"/>
          <a:lstStyle/>
          <a:p>
            <a:pPr algn="l" indent="0" marL="0">
              <a:buNone/>
            </a:pPr>
            <a:r>
              <a:rPr lang="en-US" sz="3400" b="1" dirty="0">
                <a:solidFill>
                  <a:srgbClr val="F2F2F0"/>
                </a:solidFill>
                <a:latin typeface="Arial" pitchFamily="34" charset="0"/>
                <a:ea typeface="Arial" pitchFamily="34" charset="-122"/>
                <a:cs typeface="Arial" pitchFamily="34" charset="-120"/>
              </a:rPr>
              <a:t>THREE QUIET LEAKS.</a:t>
            </a:r>
            <a:endParaRPr lang="en-US" sz="3400" dirty="0"/>
          </a:p>
        </p:txBody>
      </p:sp>
      <p:sp>
        <p:nvSpPr>
          <p:cNvPr id="4" name="Text 2"/>
          <p:cNvSpPr/>
          <p:nvPr/>
        </p:nvSpPr>
        <p:spPr>
          <a:xfrm>
            <a:off x="11231575" y="6382512"/>
            <a:ext cx="548640" cy="274320"/>
          </a:xfrm>
          <a:prstGeom prst="rect">
            <a:avLst/>
          </a:prstGeom>
          <a:noFill/>
          <a:ln/>
        </p:spPr>
        <p:txBody>
          <a:bodyPr wrap="square" lIns="0" tIns="0" rIns="0" bIns="0" rtlCol="0" anchor="ctr"/>
          <a:lstStyle/>
          <a:p>
            <a:pPr algn="r" indent="0" marL="0">
              <a:buNone/>
            </a:pPr>
            <a:r>
              <a:rPr lang="en-US" sz="900" dirty="0">
                <a:solidFill>
                  <a:srgbClr val="5A5A5E"/>
                </a:solidFill>
                <a:latin typeface="Arial" pitchFamily="34" charset="0"/>
                <a:ea typeface="Arial" pitchFamily="34" charset="-122"/>
                <a:cs typeface="Arial" pitchFamily="34" charset="-120"/>
              </a:rPr>
              <a:t>04</a:t>
            </a:r>
            <a:endParaRPr lang="en-US" sz="900" dirty="0"/>
          </a:p>
        </p:txBody>
      </p:sp>
      <p:sp>
        <p:nvSpPr>
          <p:cNvPr id="5" name="Shape 3"/>
          <p:cNvSpPr/>
          <p:nvPr/>
        </p:nvSpPr>
        <p:spPr>
          <a:xfrm>
            <a:off x="685800" y="1965960"/>
            <a:ext cx="10820095" cy="1188720"/>
          </a:xfrm>
          <a:prstGeom prst="roundRect">
            <a:avLst>
              <a:gd name="adj" fmla="val 4615"/>
            </a:avLst>
          </a:prstGeom>
          <a:solidFill>
            <a:srgbClr val="1A1A1C"/>
          </a:solidFill>
          <a:ln/>
        </p:spPr>
      </p:sp>
      <p:sp>
        <p:nvSpPr>
          <p:cNvPr id="6" name="Text 4"/>
          <p:cNvSpPr/>
          <p:nvPr/>
        </p:nvSpPr>
        <p:spPr>
          <a:xfrm>
            <a:off x="1097280" y="2240280"/>
            <a:ext cx="2926080" cy="274320"/>
          </a:xfrm>
          <a:prstGeom prst="rect">
            <a:avLst/>
          </a:prstGeom>
          <a:noFill/>
          <a:ln/>
        </p:spPr>
        <p:txBody>
          <a:bodyPr wrap="square" lIns="0" tIns="0" rIns="0" bIns="0" rtlCol="0" anchor="ctr"/>
          <a:lstStyle/>
          <a:p>
            <a:pPr indent="0" marL="0">
              <a:buNone/>
            </a:pPr>
            <a:r>
              <a:rPr lang="en-US" sz="1200" b="1" spc="200" kern="0" dirty="0">
                <a:solidFill>
                  <a:srgbClr val="9A9A9E"/>
                </a:solidFill>
                <a:latin typeface="Arial" pitchFamily="34" charset="0"/>
                <a:ea typeface="Arial" pitchFamily="34" charset="-122"/>
                <a:cs typeface="Arial" pitchFamily="34" charset="-120"/>
              </a:rPr>
              <a:t>SLOW RESPONSE</a:t>
            </a:r>
            <a:endParaRPr lang="en-US" sz="1200" dirty="0"/>
          </a:p>
        </p:txBody>
      </p:sp>
      <p:sp>
        <p:nvSpPr>
          <p:cNvPr id="7" name="Text 5"/>
          <p:cNvSpPr/>
          <p:nvPr/>
        </p:nvSpPr>
        <p:spPr>
          <a:xfrm>
            <a:off x="1097280" y="2532888"/>
            <a:ext cx="6583680" cy="457200"/>
          </a:xfrm>
          <a:prstGeom prst="rect">
            <a:avLst/>
          </a:prstGeom>
          <a:noFill/>
          <a:ln/>
        </p:spPr>
        <p:txBody>
          <a:bodyPr wrap="square" lIns="0" tIns="0" rIns="0" bIns="0" rtlCol="0" anchor="ctr"/>
          <a:lstStyle/>
          <a:p>
            <a:pPr indent="0" marL="0">
              <a:buNone/>
            </a:pPr>
            <a:r>
              <a:rPr lang="en-US" sz="1700" dirty="0">
                <a:solidFill>
                  <a:srgbClr val="F2F2F0"/>
                </a:solidFill>
                <a:latin typeface="Arial" pitchFamily="34" charset="0"/>
                <a:ea typeface="Arial" pitchFamily="34" charset="-122"/>
                <a:cs typeface="Arial" pitchFamily="34" charset="-120"/>
              </a:rPr>
              <a:t>Leads that arrive nights and weekends</a:t>
            </a:r>
            <a:endParaRPr lang="en-US" sz="1700" dirty="0"/>
          </a:p>
        </p:txBody>
      </p:sp>
      <p:sp>
        <p:nvSpPr>
          <p:cNvPr id="8" name="Text 6"/>
          <p:cNvSpPr/>
          <p:nvPr/>
        </p:nvSpPr>
        <p:spPr>
          <a:xfrm>
            <a:off x="8305495" y="2267712"/>
            <a:ext cx="2788920" cy="640080"/>
          </a:xfrm>
          <a:prstGeom prst="rect">
            <a:avLst/>
          </a:prstGeom>
          <a:noFill/>
          <a:ln/>
        </p:spPr>
        <p:txBody>
          <a:bodyPr wrap="square" lIns="0" tIns="0" rIns="0" bIns="0" rtlCol="0" anchor="ctr"/>
          <a:lstStyle/>
          <a:p>
            <a:pPr algn="r" indent="0" marL="0">
              <a:buNone/>
            </a:pPr>
            <a:r>
              <a:rPr lang="en-US" sz="3000" b="1" dirty="0">
                <a:solidFill>
                  <a:srgbClr val="FF5A00"/>
                </a:solidFill>
                <a:latin typeface="Arial" pitchFamily="34" charset="0"/>
                <a:ea typeface="Arial" pitchFamily="34" charset="-122"/>
                <a:cs typeface="Arial" pitchFamily="34" charset="-120"/>
              </a:rPr>
              <a:t>[ x / mo ]</a:t>
            </a:r>
            <a:endParaRPr lang="en-US" sz="3000" dirty="0"/>
          </a:p>
        </p:txBody>
      </p:sp>
      <p:sp>
        <p:nvSpPr>
          <p:cNvPr id="9" name="Shape 7"/>
          <p:cNvSpPr/>
          <p:nvPr/>
        </p:nvSpPr>
        <p:spPr>
          <a:xfrm>
            <a:off x="685800" y="3355848"/>
            <a:ext cx="10820095" cy="1188720"/>
          </a:xfrm>
          <a:prstGeom prst="roundRect">
            <a:avLst>
              <a:gd name="adj" fmla="val 4615"/>
            </a:avLst>
          </a:prstGeom>
          <a:solidFill>
            <a:srgbClr val="1A1A1C"/>
          </a:solidFill>
          <a:ln/>
        </p:spPr>
      </p:sp>
      <p:sp>
        <p:nvSpPr>
          <p:cNvPr id="10" name="Text 8"/>
          <p:cNvSpPr/>
          <p:nvPr/>
        </p:nvSpPr>
        <p:spPr>
          <a:xfrm>
            <a:off x="1097280" y="3630168"/>
            <a:ext cx="2926080" cy="274320"/>
          </a:xfrm>
          <a:prstGeom prst="rect">
            <a:avLst/>
          </a:prstGeom>
          <a:noFill/>
          <a:ln/>
        </p:spPr>
        <p:txBody>
          <a:bodyPr wrap="square" lIns="0" tIns="0" rIns="0" bIns="0" rtlCol="0" anchor="ctr"/>
          <a:lstStyle/>
          <a:p>
            <a:pPr indent="0" marL="0">
              <a:buNone/>
            </a:pPr>
            <a:r>
              <a:rPr lang="en-US" sz="1200" b="1" spc="200" kern="0" dirty="0">
                <a:solidFill>
                  <a:srgbClr val="9A9A9E"/>
                </a:solidFill>
                <a:latin typeface="Arial" pitchFamily="34" charset="0"/>
                <a:ea typeface="Arial" pitchFamily="34" charset="-122"/>
                <a:cs typeface="Arial" pitchFamily="34" charset="-120"/>
              </a:rPr>
              <a:t>LOST CONTEXT</a:t>
            </a:r>
            <a:endParaRPr lang="en-US" sz="1200" dirty="0"/>
          </a:p>
        </p:txBody>
      </p:sp>
      <p:sp>
        <p:nvSpPr>
          <p:cNvPr id="11" name="Text 9"/>
          <p:cNvSpPr/>
          <p:nvPr/>
        </p:nvSpPr>
        <p:spPr>
          <a:xfrm>
            <a:off x="1097280" y="3922776"/>
            <a:ext cx="6583680" cy="457200"/>
          </a:xfrm>
          <a:prstGeom prst="rect">
            <a:avLst/>
          </a:prstGeom>
          <a:noFill/>
          <a:ln/>
        </p:spPr>
        <p:txBody>
          <a:bodyPr wrap="square" lIns="0" tIns="0" rIns="0" bIns="0" rtlCol="0" anchor="ctr"/>
          <a:lstStyle/>
          <a:p>
            <a:pPr indent="0" marL="0">
              <a:buNone/>
            </a:pPr>
            <a:r>
              <a:rPr lang="en-US" sz="1700" dirty="0">
                <a:solidFill>
                  <a:srgbClr val="F2F2F0"/>
                </a:solidFill>
                <a:latin typeface="Arial" pitchFamily="34" charset="0"/>
                <a:ea typeface="Arial" pitchFamily="34" charset="-122"/>
                <a:cs typeface="Arial" pitchFamily="34" charset="-120"/>
              </a:rPr>
              <a:t>Hours re-gathering what buyers already told you</a:t>
            </a:r>
            <a:endParaRPr lang="en-US" sz="1700" dirty="0"/>
          </a:p>
        </p:txBody>
      </p:sp>
      <p:sp>
        <p:nvSpPr>
          <p:cNvPr id="12" name="Text 10"/>
          <p:cNvSpPr/>
          <p:nvPr/>
        </p:nvSpPr>
        <p:spPr>
          <a:xfrm>
            <a:off x="8305495" y="3657600"/>
            <a:ext cx="2788920" cy="640080"/>
          </a:xfrm>
          <a:prstGeom prst="rect">
            <a:avLst/>
          </a:prstGeom>
          <a:noFill/>
          <a:ln/>
        </p:spPr>
        <p:txBody>
          <a:bodyPr wrap="square" lIns="0" tIns="0" rIns="0" bIns="0" rtlCol="0" anchor="ctr"/>
          <a:lstStyle/>
          <a:p>
            <a:pPr algn="r" indent="0" marL="0">
              <a:buNone/>
            </a:pPr>
            <a:r>
              <a:rPr lang="en-US" sz="3000" b="1" dirty="0">
                <a:solidFill>
                  <a:srgbClr val="FF5A00"/>
                </a:solidFill>
                <a:latin typeface="Arial" pitchFamily="34" charset="0"/>
                <a:ea typeface="Arial" pitchFamily="34" charset="-122"/>
                <a:cs typeface="Arial" pitchFamily="34" charset="-120"/>
              </a:rPr>
              <a:t>[ x hrs / wk ]</a:t>
            </a:r>
            <a:endParaRPr lang="en-US" sz="3000" dirty="0"/>
          </a:p>
        </p:txBody>
      </p:sp>
      <p:sp>
        <p:nvSpPr>
          <p:cNvPr id="13" name="Shape 11"/>
          <p:cNvSpPr/>
          <p:nvPr/>
        </p:nvSpPr>
        <p:spPr>
          <a:xfrm>
            <a:off x="685800" y="4745736"/>
            <a:ext cx="10820095" cy="1188720"/>
          </a:xfrm>
          <a:prstGeom prst="roundRect">
            <a:avLst>
              <a:gd name="adj" fmla="val 4615"/>
            </a:avLst>
          </a:prstGeom>
          <a:solidFill>
            <a:srgbClr val="1A1A1C"/>
          </a:solidFill>
          <a:ln/>
        </p:spPr>
      </p:sp>
      <p:sp>
        <p:nvSpPr>
          <p:cNvPr id="14" name="Text 12"/>
          <p:cNvSpPr/>
          <p:nvPr/>
        </p:nvSpPr>
        <p:spPr>
          <a:xfrm>
            <a:off x="1097280" y="5020056"/>
            <a:ext cx="2926080" cy="274320"/>
          </a:xfrm>
          <a:prstGeom prst="rect">
            <a:avLst/>
          </a:prstGeom>
          <a:noFill/>
          <a:ln/>
        </p:spPr>
        <p:txBody>
          <a:bodyPr wrap="square" lIns="0" tIns="0" rIns="0" bIns="0" rtlCol="0" anchor="ctr"/>
          <a:lstStyle/>
          <a:p>
            <a:pPr indent="0" marL="0">
              <a:buNone/>
            </a:pPr>
            <a:r>
              <a:rPr lang="en-US" sz="1200" b="1" spc="200" kern="0" dirty="0">
                <a:solidFill>
                  <a:srgbClr val="9A9A9E"/>
                </a:solidFill>
                <a:latin typeface="Arial" pitchFamily="34" charset="0"/>
                <a:ea typeface="Arial" pitchFamily="34" charset="-122"/>
                <a:cs typeface="Arial" pitchFamily="34" charset="-120"/>
              </a:rPr>
              <a:t>NO FOLLOW-UP</a:t>
            </a:r>
            <a:endParaRPr lang="en-US" sz="1200" dirty="0"/>
          </a:p>
        </p:txBody>
      </p:sp>
      <p:sp>
        <p:nvSpPr>
          <p:cNvPr id="15" name="Text 13"/>
          <p:cNvSpPr/>
          <p:nvPr/>
        </p:nvSpPr>
        <p:spPr>
          <a:xfrm>
            <a:off x="1097280" y="5312664"/>
            <a:ext cx="6583680" cy="457200"/>
          </a:xfrm>
          <a:prstGeom prst="rect">
            <a:avLst/>
          </a:prstGeom>
          <a:noFill/>
          <a:ln/>
        </p:spPr>
        <p:txBody>
          <a:bodyPr wrap="square" lIns="0" tIns="0" rIns="0" bIns="0" rtlCol="0" anchor="ctr"/>
          <a:lstStyle/>
          <a:p>
            <a:pPr indent="0" marL="0">
              <a:buNone/>
            </a:pPr>
            <a:r>
              <a:rPr lang="en-US" sz="1700" dirty="0">
                <a:solidFill>
                  <a:srgbClr val="F2F2F0"/>
                </a:solidFill>
                <a:latin typeface="Arial" pitchFamily="34" charset="0"/>
                <a:ea typeface="Arial" pitchFamily="34" charset="-122"/>
                <a:cs typeface="Arial" pitchFamily="34" charset="-120"/>
              </a:rPr>
              <a:t>Quotes that never get a second touch</a:t>
            </a:r>
            <a:endParaRPr lang="en-US" sz="1700" dirty="0"/>
          </a:p>
        </p:txBody>
      </p:sp>
      <p:sp>
        <p:nvSpPr>
          <p:cNvPr id="16" name="Text 14"/>
          <p:cNvSpPr/>
          <p:nvPr/>
        </p:nvSpPr>
        <p:spPr>
          <a:xfrm>
            <a:off x="8305495" y="5047488"/>
            <a:ext cx="2788920" cy="640080"/>
          </a:xfrm>
          <a:prstGeom prst="rect">
            <a:avLst/>
          </a:prstGeom>
          <a:noFill/>
          <a:ln/>
        </p:spPr>
        <p:txBody>
          <a:bodyPr wrap="square" lIns="0" tIns="0" rIns="0" bIns="0" rtlCol="0" anchor="ctr"/>
          <a:lstStyle/>
          <a:p>
            <a:pPr algn="r" indent="0" marL="0">
              <a:buNone/>
            </a:pPr>
            <a:r>
              <a:rPr lang="en-US" sz="3000" b="1" dirty="0">
                <a:solidFill>
                  <a:srgbClr val="FF5A00"/>
                </a:solidFill>
                <a:latin typeface="Arial" pitchFamily="34" charset="0"/>
                <a:ea typeface="Arial" pitchFamily="34" charset="-122"/>
                <a:cs typeface="Arial" pitchFamily="34" charset="-120"/>
              </a:rPr>
              <a:t>[ x % ]</a:t>
            </a:r>
            <a:endParaRPr lang="en-US" sz="3000" dirty="0"/>
          </a:p>
        </p:txBody>
      </p:sp>
      <p:sp>
        <p:nvSpPr>
          <p:cNvPr id="17" name="Text 15"/>
          <p:cNvSpPr/>
          <p:nvPr/>
        </p:nvSpPr>
        <p:spPr>
          <a:xfrm>
            <a:off x="685800" y="6172200"/>
            <a:ext cx="10789920" cy="320040"/>
          </a:xfrm>
          <a:prstGeom prst="rect">
            <a:avLst/>
          </a:prstGeom>
          <a:noFill/>
          <a:ln/>
        </p:spPr>
        <p:txBody>
          <a:bodyPr wrap="square" lIns="0" tIns="0" rIns="0" bIns="0" rtlCol="0" anchor="ctr"/>
          <a:lstStyle/>
          <a:p>
            <a:pPr indent="0" marL="0">
              <a:buNone/>
            </a:pPr>
            <a:r>
              <a:rPr lang="en-US" sz="1300" i="1" dirty="0">
                <a:solidFill>
                  <a:srgbClr val="9A9A9E"/>
                </a:solidFill>
                <a:latin typeface="Arial" pitchFamily="34" charset="0"/>
                <a:ea typeface="Arial" pitchFamily="34" charset="-122"/>
                <a:cs typeface="Arial" pitchFamily="34" charset="-120"/>
              </a:rPr>
              <a:t>Your numbers, not mine — we fill these in together.</a:t>
            </a:r>
            <a:endParaRPr lang="en-US" sz="13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D0D0D"/>
        </a:solidFill>
      </p:bgPr>
    </p:bg>
    <p:spTree>
      <p:nvGrpSpPr>
        <p:cNvPr id="1" name=""/>
        <p:cNvGrpSpPr/>
        <p:nvPr/>
      </p:nvGrpSpPr>
      <p:grpSpPr>
        <a:xfrm>
          <a:off x="0" y="0"/>
          <a:ext cx="0" cy="0"/>
          <a:chOff x="0" y="0"/>
          <a:chExt cx="0" cy="0"/>
        </a:xfrm>
      </p:grpSpPr>
      <p:sp>
        <p:nvSpPr>
          <p:cNvPr id="2" name="Text 0"/>
          <p:cNvSpPr/>
          <p:nvPr/>
        </p:nvSpPr>
        <p:spPr>
          <a:xfrm>
            <a:off x="0" y="2148840"/>
            <a:ext cx="12191695" cy="274320"/>
          </a:xfrm>
          <a:prstGeom prst="rect">
            <a:avLst/>
          </a:prstGeom>
          <a:noFill/>
          <a:ln/>
        </p:spPr>
        <p:txBody>
          <a:bodyPr wrap="square" lIns="0" tIns="0" rIns="0" bIns="0" rtlCol="0" anchor="ctr"/>
          <a:lstStyle/>
          <a:p>
            <a:pPr algn="ctr" indent="0" marL="0">
              <a:buNone/>
            </a:pPr>
            <a:r>
              <a:rPr lang="en-US" sz="1100" b="1" spc="400" kern="0" dirty="0">
                <a:solidFill>
                  <a:srgbClr val="FF5A00"/>
                </a:solidFill>
                <a:latin typeface="Arial" pitchFamily="34" charset="0"/>
                <a:ea typeface="Arial" pitchFamily="34" charset="-122"/>
                <a:cs typeface="Arial" pitchFamily="34" charset="-120"/>
              </a:rPr>
              <a:t>THE IDEA</a:t>
            </a:r>
            <a:endParaRPr lang="en-US" sz="1100" dirty="0"/>
          </a:p>
        </p:txBody>
      </p:sp>
      <p:sp>
        <p:nvSpPr>
          <p:cNvPr id="3" name="Text 1"/>
          <p:cNvSpPr/>
          <p:nvPr/>
        </p:nvSpPr>
        <p:spPr>
          <a:xfrm>
            <a:off x="822960" y="2651760"/>
            <a:ext cx="10545775" cy="1737360"/>
          </a:xfrm>
          <a:prstGeom prst="rect">
            <a:avLst/>
          </a:prstGeom>
          <a:noFill/>
          <a:ln/>
        </p:spPr>
        <p:txBody>
          <a:bodyPr wrap="square" lIns="0" tIns="0" rIns="0" bIns="0" rtlCol="0" anchor="ctr"/>
          <a:lstStyle/>
          <a:p>
            <a:pPr algn="ctr" indent="0" marL="0">
              <a:lnSpc>
                <a:spcPts val="5400"/>
              </a:lnSpc>
              <a:buNone/>
            </a:pPr>
            <a:r>
              <a:rPr lang="en-US" sz="4400" b="1" dirty="0">
                <a:solidFill>
                  <a:srgbClr val="F2F2F0"/>
                </a:solidFill>
                <a:latin typeface="Arial" pitchFamily="34" charset="0"/>
                <a:ea typeface="Arial" pitchFamily="34" charset="-122"/>
                <a:cs typeface="Arial" pitchFamily="34" charset="-120"/>
              </a:rPr>
              <a:t>Every conversation becomes
</a:t>
            </a:r>
            <a:pPr algn="ctr" indent="0" marL="0">
              <a:lnSpc>
                <a:spcPts val="5400"/>
              </a:lnSpc>
              <a:buNone/>
            </a:pPr>
            <a:r>
              <a:rPr lang="en-US" sz="4400" b="1" dirty="0">
                <a:solidFill>
                  <a:srgbClr val="FF5A00"/>
                </a:solidFill>
                <a:latin typeface="Arial" pitchFamily="34" charset="0"/>
                <a:ea typeface="Arial" pitchFamily="34" charset="-122"/>
                <a:cs typeface="Arial" pitchFamily="34" charset="-120"/>
              </a:rPr>
              <a:t>structured, actionable data.</a:t>
            </a:r>
            <a:endParaRPr lang="en-US" sz="4400" dirty="0"/>
          </a:p>
        </p:txBody>
      </p:sp>
      <p:sp>
        <p:nvSpPr>
          <p:cNvPr id="4" name="Text 2"/>
          <p:cNvSpPr/>
          <p:nvPr/>
        </p:nvSpPr>
        <p:spPr>
          <a:xfrm>
            <a:off x="11231575" y="6382512"/>
            <a:ext cx="548640" cy="274320"/>
          </a:xfrm>
          <a:prstGeom prst="rect">
            <a:avLst/>
          </a:prstGeom>
          <a:noFill/>
          <a:ln/>
        </p:spPr>
        <p:txBody>
          <a:bodyPr wrap="square" lIns="0" tIns="0" rIns="0" bIns="0" rtlCol="0" anchor="ctr"/>
          <a:lstStyle/>
          <a:p>
            <a:pPr algn="r" indent="0" marL="0">
              <a:buNone/>
            </a:pPr>
            <a:r>
              <a:rPr lang="en-US" sz="900" dirty="0">
                <a:solidFill>
                  <a:srgbClr val="5A5A5E"/>
                </a:solidFill>
                <a:latin typeface="Arial" pitchFamily="34" charset="0"/>
                <a:ea typeface="Arial" pitchFamily="34" charset="-122"/>
                <a:cs typeface="Arial" pitchFamily="34" charset="-120"/>
              </a:rPr>
              <a:t>05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D0D0D"/>
        </a:solidFill>
      </p:bgPr>
    </p:bg>
    <p:spTree>
      <p:nvGrpSpPr>
        <p:cNvPr id="1" name=""/>
        <p:cNvGrpSpPr/>
        <p:nvPr/>
      </p:nvGrpSpPr>
      <p:grpSpPr>
        <a:xfrm>
          <a:off x="0" y="0"/>
          <a:ext cx="0" cy="0"/>
          <a:chOff x="0" y="0"/>
          <a:chExt cx="0" cy="0"/>
        </a:xfrm>
      </p:grpSpPr>
      <p:sp>
        <p:nvSpPr>
          <p:cNvPr id="2" name="Text 0"/>
          <p:cNvSpPr/>
          <p:nvPr/>
        </p:nvSpPr>
        <p:spPr>
          <a:xfrm>
            <a:off x="685800" y="457200"/>
            <a:ext cx="7315200" cy="274320"/>
          </a:xfrm>
          <a:prstGeom prst="rect">
            <a:avLst/>
          </a:prstGeom>
          <a:noFill/>
          <a:ln/>
        </p:spPr>
        <p:txBody>
          <a:bodyPr wrap="square" lIns="0" tIns="0" rIns="0" bIns="0" rtlCol="0" anchor="ctr"/>
          <a:lstStyle/>
          <a:p>
            <a:pPr algn="l" indent="0" marL="0">
              <a:buNone/>
            </a:pPr>
            <a:r>
              <a:rPr lang="en-US" sz="1100" b="1" spc="400" kern="0" dirty="0">
                <a:solidFill>
                  <a:srgbClr val="FF5A00"/>
                </a:solidFill>
                <a:latin typeface="Arial" pitchFamily="34" charset="0"/>
                <a:ea typeface="Arial" pitchFamily="34" charset="-122"/>
                <a:cs typeface="Arial" pitchFamily="34" charset="-120"/>
              </a:rPr>
              <a:t>HOW IT WORKS</a:t>
            </a:r>
            <a:endParaRPr lang="en-US" sz="1100" dirty="0"/>
          </a:p>
        </p:txBody>
      </p:sp>
      <p:sp>
        <p:nvSpPr>
          <p:cNvPr id="3" name="Text 1"/>
          <p:cNvSpPr/>
          <p:nvPr/>
        </p:nvSpPr>
        <p:spPr>
          <a:xfrm>
            <a:off x="685800" y="749808"/>
            <a:ext cx="10820095" cy="777240"/>
          </a:xfrm>
          <a:prstGeom prst="rect">
            <a:avLst/>
          </a:prstGeom>
          <a:noFill/>
          <a:ln/>
        </p:spPr>
        <p:txBody>
          <a:bodyPr wrap="square" lIns="0" tIns="0" rIns="0" bIns="0" rtlCol="0" anchor="ctr"/>
          <a:lstStyle/>
          <a:p>
            <a:pPr algn="l" indent="0" marL="0">
              <a:buNone/>
            </a:pPr>
            <a:r>
              <a:rPr lang="en-US" sz="3400" b="1" dirty="0">
                <a:solidFill>
                  <a:srgbClr val="F2F2F0"/>
                </a:solidFill>
                <a:latin typeface="Arial" pitchFamily="34" charset="0"/>
                <a:ea typeface="Arial" pitchFamily="34" charset="-122"/>
                <a:cs typeface="Arial" pitchFamily="34" charset="-120"/>
              </a:rPr>
              <a:t>CAPTURE. UNDERSTAND. ACT. SEE.</a:t>
            </a:r>
            <a:endParaRPr lang="en-US" sz="3400" dirty="0"/>
          </a:p>
        </p:txBody>
      </p:sp>
      <p:sp>
        <p:nvSpPr>
          <p:cNvPr id="4" name="Text 2"/>
          <p:cNvSpPr/>
          <p:nvPr/>
        </p:nvSpPr>
        <p:spPr>
          <a:xfrm>
            <a:off x="11231575" y="6382512"/>
            <a:ext cx="548640" cy="274320"/>
          </a:xfrm>
          <a:prstGeom prst="rect">
            <a:avLst/>
          </a:prstGeom>
          <a:noFill/>
          <a:ln/>
        </p:spPr>
        <p:txBody>
          <a:bodyPr wrap="square" lIns="0" tIns="0" rIns="0" bIns="0" rtlCol="0" anchor="ctr"/>
          <a:lstStyle/>
          <a:p>
            <a:pPr algn="r" indent="0" marL="0">
              <a:buNone/>
            </a:pPr>
            <a:r>
              <a:rPr lang="en-US" sz="900" dirty="0">
                <a:solidFill>
                  <a:srgbClr val="5A5A5E"/>
                </a:solidFill>
                <a:latin typeface="Arial" pitchFamily="34" charset="0"/>
                <a:ea typeface="Arial" pitchFamily="34" charset="-122"/>
                <a:cs typeface="Arial" pitchFamily="34" charset="-120"/>
              </a:rPr>
              <a:t>06</a:t>
            </a:r>
            <a:endParaRPr lang="en-US" sz="900" dirty="0"/>
          </a:p>
        </p:txBody>
      </p:sp>
      <p:sp>
        <p:nvSpPr>
          <p:cNvPr id="5" name="Shape 3"/>
          <p:cNvSpPr/>
          <p:nvPr/>
        </p:nvSpPr>
        <p:spPr>
          <a:xfrm>
            <a:off x="618592" y="1965960"/>
            <a:ext cx="2450592" cy="3794760"/>
          </a:xfrm>
          <a:prstGeom prst="roundRect">
            <a:avLst>
              <a:gd name="adj" fmla="val 2612"/>
            </a:avLst>
          </a:prstGeom>
          <a:solidFill>
            <a:srgbClr val="1A1A1C"/>
          </a:solidFill>
          <a:ln/>
        </p:spPr>
      </p:sp>
      <p:sp>
        <p:nvSpPr>
          <p:cNvPr id="6" name="Shape 4"/>
          <p:cNvSpPr/>
          <p:nvPr/>
        </p:nvSpPr>
        <p:spPr>
          <a:xfrm>
            <a:off x="1487272" y="2295144"/>
            <a:ext cx="713232" cy="713232"/>
          </a:xfrm>
          <a:prstGeom prst="ellipse">
            <a:avLst/>
          </a:prstGeom>
          <a:solidFill>
            <a:srgbClr val="0D0D0D"/>
          </a:solidFill>
          <a:ln w="15875">
            <a:solidFill>
              <a:srgbClr val="FF5A00"/>
            </a:solidFill>
            <a:prstDash val="solid"/>
          </a:ln>
        </p:spPr>
      </p:sp>
      <p:pic>
        <p:nvPicPr>
          <p:cNvPr id="7" name="Image 0" descr="/tmp/claude-0/-home-user-getoios/887612f7-bce3-5d7f-a297-e09f9aa5407b/scratchpad/deck/icons/mic-orange.png">    </p:cNvPr>
          <p:cNvPicPr>
            <a:picLocks noChangeAspect="1"/>
          </p:cNvPicPr>
          <p:nvPr/>
        </p:nvPicPr>
        <p:blipFill>
          <a:blip r:embed="rId1"/>
          <a:stretch>
            <a:fillRect/>
          </a:stretch>
        </p:blipFill>
        <p:spPr>
          <a:xfrm>
            <a:off x="1686977" y="2494849"/>
            <a:ext cx="313822" cy="313822"/>
          </a:xfrm>
          <a:prstGeom prst="rect">
            <a:avLst/>
          </a:prstGeom>
        </p:spPr>
      </p:pic>
      <p:sp>
        <p:nvSpPr>
          <p:cNvPr id="8" name="Text 5"/>
          <p:cNvSpPr/>
          <p:nvPr/>
        </p:nvSpPr>
        <p:spPr>
          <a:xfrm>
            <a:off x="618592" y="3154680"/>
            <a:ext cx="2450592" cy="365760"/>
          </a:xfrm>
          <a:prstGeom prst="rect">
            <a:avLst/>
          </a:prstGeom>
          <a:noFill/>
          <a:ln/>
        </p:spPr>
        <p:txBody>
          <a:bodyPr wrap="square" lIns="0" tIns="0" rIns="0" bIns="0" rtlCol="0" anchor="ctr"/>
          <a:lstStyle/>
          <a:p>
            <a:pPr algn="ctr" indent="0" marL="0">
              <a:buNone/>
            </a:pPr>
            <a:r>
              <a:rPr lang="en-US" sz="1600" b="1" spc="200" kern="0" dirty="0">
                <a:solidFill>
                  <a:srgbClr val="F2F2F0"/>
                </a:solidFill>
                <a:latin typeface="Arial" pitchFamily="34" charset="0"/>
                <a:ea typeface="Arial" pitchFamily="34" charset="-122"/>
                <a:cs typeface="Arial" pitchFamily="34" charset="-120"/>
              </a:rPr>
              <a:t>CAPTURE</a:t>
            </a:r>
            <a:endParaRPr lang="en-US" sz="1600" dirty="0"/>
          </a:p>
        </p:txBody>
      </p:sp>
      <p:sp>
        <p:nvSpPr>
          <p:cNvPr id="9" name="Text 6"/>
          <p:cNvSpPr/>
          <p:nvPr/>
        </p:nvSpPr>
        <p:spPr>
          <a:xfrm>
            <a:off x="801472" y="3657600"/>
            <a:ext cx="2084832" cy="1920240"/>
          </a:xfrm>
          <a:prstGeom prst="rect">
            <a:avLst/>
          </a:prstGeom>
          <a:noFill/>
          <a:ln/>
        </p:spPr>
        <p:txBody>
          <a:bodyPr wrap="square" lIns="0" tIns="0" rIns="0" bIns="0" rtlCol="0" anchor="ctr"/>
          <a:lstStyle/>
          <a:p>
            <a:pPr algn="ctr" indent="0" marL="0">
              <a:lnSpc>
                <a:spcPts val="2600"/>
              </a:lnSpc>
              <a:buNone/>
            </a:pPr>
            <a:r>
              <a:rPr lang="en-US" sz="1350" dirty="0">
                <a:solidFill>
                  <a:srgbClr val="9A9A9E"/>
                </a:solidFill>
                <a:latin typeface="Arial" pitchFamily="34" charset="0"/>
                <a:ea typeface="Arial" pitchFamily="34" charset="-122"/>
                <a:cs typeface="Arial" pitchFamily="34" charset="-120"/>
              </a:rPr>
              <a:t>Phone calls</a:t>
            </a:r>
            <a:endParaRPr lang="en-US" sz="1350" dirty="0"/>
          </a:p>
          <a:p>
            <a:pPr algn="ctr" indent="0" marL="0">
              <a:lnSpc>
                <a:spcPts val="2600"/>
              </a:lnSpc>
              <a:buNone/>
            </a:pPr>
            <a:r>
              <a:rPr lang="en-US" sz="1350" dirty="0">
                <a:solidFill>
                  <a:srgbClr val="9A9A9E"/>
                </a:solidFill>
                <a:latin typeface="Arial" pitchFamily="34" charset="0"/>
                <a:ea typeface="Arial" pitchFamily="34" charset="-122"/>
                <a:cs typeface="Arial" pitchFamily="34" charset="-120"/>
              </a:rPr>
              <a:t>Wearable recorder</a:t>
            </a:r>
            <a:endParaRPr lang="en-US" sz="1350" dirty="0"/>
          </a:p>
          <a:p>
            <a:pPr algn="ctr" indent="0" marL="0">
              <a:lnSpc>
                <a:spcPts val="2600"/>
              </a:lnSpc>
              <a:buNone/>
            </a:pPr>
            <a:r>
              <a:rPr lang="en-US" sz="1350" dirty="0">
                <a:solidFill>
                  <a:srgbClr val="9A9A9E"/>
                </a:solidFill>
                <a:latin typeface="Arial" pitchFamily="34" charset="0"/>
                <a:ea typeface="Arial" pitchFamily="34" charset="-122"/>
                <a:cs typeface="Arial" pitchFamily="34" charset="-120"/>
              </a:rPr>
              <a:t>Web forms</a:t>
            </a:r>
            <a:endParaRPr lang="en-US" sz="1350" dirty="0"/>
          </a:p>
          <a:p>
            <a:pPr algn="ctr" indent="0" marL="0">
              <a:lnSpc>
                <a:spcPts val="2600"/>
              </a:lnSpc>
              <a:buNone/>
            </a:pPr>
            <a:r>
              <a:rPr lang="en-US" sz="1350" dirty="0">
                <a:solidFill>
                  <a:srgbClr val="9A9A9E"/>
                </a:solidFill>
                <a:latin typeface="Arial" pitchFamily="34" charset="0"/>
                <a:ea typeface="Arial" pitchFamily="34" charset="-122"/>
                <a:cs typeface="Arial" pitchFamily="34" charset="-120"/>
              </a:rPr>
              <a:t>Facebook DMs</a:t>
            </a:r>
            <a:endParaRPr lang="en-US" sz="1350" dirty="0"/>
          </a:p>
        </p:txBody>
      </p:sp>
      <p:sp>
        <p:nvSpPr>
          <p:cNvPr id="10" name="Shape 7"/>
          <p:cNvSpPr/>
          <p:nvPr/>
        </p:nvSpPr>
        <p:spPr>
          <a:xfrm>
            <a:off x="3160624" y="3762756"/>
            <a:ext cx="219456" cy="201168"/>
          </a:xfrm>
          <a:prstGeom prst="chevron">
            <a:avLst/>
          </a:prstGeom>
          <a:solidFill>
            <a:srgbClr val="FF5A00"/>
          </a:solidFill>
          <a:ln/>
        </p:spPr>
      </p:sp>
      <p:sp>
        <p:nvSpPr>
          <p:cNvPr id="11" name="Shape 8"/>
          <p:cNvSpPr/>
          <p:nvPr/>
        </p:nvSpPr>
        <p:spPr>
          <a:xfrm>
            <a:off x="3453232" y="1965960"/>
            <a:ext cx="2450592" cy="3794760"/>
          </a:xfrm>
          <a:prstGeom prst="roundRect">
            <a:avLst>
              <a:gd name="adj" fmla="val 2612"/>
            </a:avLst>
          </a:prstGeom>
          <a:solidFill>
            <a:srgbClr val="1A1A1C"/>
          </a:solidFill>
          <a:ln/>
        </p:spPr>
      </p:sp>
      <p:sp>
        <p:nvSpPr>
          <p:cNvPr id="12" name="Shape 9"/>
          <p:cNvSpPr/>
          <p:nvPr/>
        </p:nvSpPr>
        <p:spPr>
          <a:xfrm>
            <a:off x="4321912" y="2295144"/>
            <a:ext cx="713232" cy="713232"/>
          </a:xfrm>
          <a:prstGeom prst="ellipse">
            <a:avLst/>
          </a:prstGeom>
          <a:solidFill>
            <a:srgbClr val="0D0D0D"/>
          </a:solidFill>
          <a:ln w="15875">
            <a:solidFill>
              <a:srgbClr val="FF5A00"/>
            </a:solidFill>
            <a:prstDash val="solid"/>
          </a:ln>
        </p:spPr>
      </p:sp>
      <p:pic>
        <p:nvPicPr>
          <p:cNvPr id="13" name="Image 1" descr="/tmp/claude-0/-home-user-getoios/887612f7-bce3-5d7f-a297-e09f9aa5407b/scratchpad/deck/icons/brain-orange.png">    </p:cNvPr>
          <p:cNvPicPr>
            <a:picLocks noChangeAspect="1"/>
          </p:cNvPicPr>
          <p:nvPr/>
        </p:nvPicPr>
        <p:blipFill>
          <a:blip r:embed="rId2"/>
          <a:stretch>
            <a:fillRect/>
          </a:stretch>
        </p:blipFill>
        <p:spPr>
          <a:xfrm>
            <a:off x="4521617" y="2494849"/>
            <a:ext cx="313822" cy="313822"/>
          </a:xfrm>
          <a:prstGeom prst="rect">
            <a:avLst/>
          </a:prstGeom>
        </p:spPr>
      </p:pic>
      <p:sp>
        <p:nvSpPr>
          <p:cNvPr id="14" name="Text 10"/>
          <p:cNvSpPr/>
          <p:nvPr/>
        </p:nvSpPr>
        <p:spPr>
          <a:xfrm>
            <a:off x="3453232" y="3154680"/>
            <a:ext cx="2450592" cy="365760"/>
          </a:xfrm>
          <a:prstGeom prst="rect">
            <a:avLst/>
          </a:prstGeom>
          <a:noFill/>
          <a:ln/>
        </p:spPr>
        <p:txBody>
          <a:bodyPr wrap="square" lIns="0" tIns="0" rIns="0" bIns="0" rtlCol="0" anchor="ctr"/>
          <a:lstStyle/>
          <a:p>
            <a:pPr algn="ctr" indent="0" marL="0">
              <a:buNone/>
            </a:pPr>
            <a:r>
              <a:rPr lang="en-US" sz="1600" b="1" spc="200" kern="0" dirty="0">
                <a:solidFill>
                  <a:srgbClr val="F2F2F0"/>
                </a:solidFill>
                <a:latin typeface="Arial" pitchFamily="34" charset="0"/>
                <a:ea typeface="Arial" pitchFamily="34" charset="-122"/>
                <a:cs typeface="Arial" pitchFamily="34" charset="-120"/>
              </a:rPr>
              <a:t>UNDERSTAND</a:t>
            </a:r>
            <a:endParaRPr lang="en-US" sz="1600" dirty="0"/>
          </a:p>
        </p:txBody>
      </p:sp>
      <p:sp>
        <p:nvSpPr>
          <p:cNvPr id="15" name="Text 11"/>
          <p:cNvSpPr/>
          <p:nvPr/>
        </p:nvSpPr>
        <p:spPr>
          <a:xfrm>
            <a:off x="3636112" y="3657600"/>
            <a:ext cx="2084832" cy="1920240"/>
          </a:xfrm>
          <a:prstGeom prst="rect">
            <a:avLst/>
          </a:prstGeom>
          <a:noFill/>
          <a:ln/>
        </p:spPr>
        <p:txBody>
          <a:bodyPr wrap="square" lIns="0" tIns="0" rIns="0" bIns="0" rtlCol="0" anchor="ctr"/>
          <a:lstStyle/>
          <a:p>
            <a:pPr algn="ctr" indent="0" marL="0">
              <a:lnSpc>
                <a:spcPts val="2600"/>
              </a:lnSpc>
              <a:buNone/>
            </a:pPr>
            <a:r>
              <a:rPr lang="en-US" sz="1350" dirty="0">
                <a:solidFill>
                  <a:srgbClr val="9A9A9E"/>
                </a:solidFill>
                <a:latin typeface="Arial" pitchFamily="34" charset="0"/>
                <a:ea typeface="Arial" pitchFamily="34" charset="-122"/>
                <a:cs typeface="Arial" pitchFamily="34" charset="-120"/>
              </a:rPr>
              <a:t>Transcription</a:t>
            </a:r>
            <a:endParaRPr lang="en-US" sz="1350" dirty="0"/>
          </a:p>
          <a:p>
            <a:pPr algn="ctr" indent="0" marL="0">
              <a:lnSpc>
                <a:spcPts val="2600"/>
              </a:lnSpc>
              <a:buNone/>
            </a:pPr>
            <a:r>
              <a:rPr lang="en-US" sz="1350" dirty="0">
                <a:solidFill>
                  <a:srgbClr val="9A9A9E"/>
                </a:solidFill>
                <a:latin typeface="Arial" pitchFamily="34" charset="0"/>
                <a:ea typeface="Arial" pitchFamily="34" charset="-122"/>
                <a:cs typeface="Arial" pitchFamily="34" charset="-120"/>
              </a:rPr>
              <a:t>Key details</a:t>
            </a:r>
            <a:endParaRPr lang="en-US" sz="1350" dirty="0"/>
          </a:p>
          <a:p>
            <a:pPr algn="ctr" indent="0" marL="0">
              <a:lnSpc>
                <a:spcPts val="2600"/>
              </a:lnSpc>
              <a:buNone/>
            </a:pPr>
            <a:r>
              <a:rPr lang="en-US" sz="1350" dirty="0">
                <a:solidFill>
                  <a:srgbClr val="9A9A9E"/>
                </a:solidFill>
                <a:latin typeface="Arial" pitchFamily="34" charset="0"/>
                <a:ea typeface="Arial" pitchFamily="34" charset="-122"/>
                <a:cs typeface="Arial" pitchFamily="34" charset="-120"/>
              </a:rPr>
              <a:t>Deal scoring</a:t>
            </a:r>
            <a:endParaRPr lang="en-US" sz="1350" dirty="0"/>
          </a:p>
        </p:txBody>
      </p:sp>
      <p:sp>
        <p:nvSpPr>
          <p:cNvPr id="16" name="Shape 12"/>
          <p:cNvSpPr/>
          <p:nvPr/>
        </p:nvSpPr>
        <p:spPr>
          <a:xfrm>
            <a:off x="5995264" y="3762756"/>
            <a:ext cx="219456" cy="201168"/>
          </a:xfrm>
          <a:prstGeom prst="chevron">
            <a:avLst/>
          </a:prstGeom>
          <a:solidFill>
            <a:srgbClr val="FF5A00"/>
          </a:solidFill>
          <a:ln/>
        </p:spPr>
      </p:sp>
      <p:sp>
        <p:nvSpPr>
          <p:cNvPr id="17" name="Shape 13"/>
          <p:cNvSpPr/>
          <p:nvPr/>
        </p:nvSpPr>
        <p:spPr>
          <a:xfrm>
            <a:off x="6287872" y="1965960"/>
            <a:ext cx="2450592" cy="3794760"/>
          </a:xfrm>
          <a:prstGeom prst="roundRect">
            <a:avLst>
              <a:gd name="adj" fmla="val 2612"/>
            </a:avLst>
          </a:prstGeom>
          <a:solidFill>
            <a:srgbClr val="1A1A1C"/>
          </a:solidFill>
          <a:ln/>
        </p:spPr>
      </p:sp>
      <p:sp>
        <p:nvSpPr>
          <p:cNvPr id="18" name="Shape 14"/>
          <p:cNvSpPr/>
          <p:nvPr/>
        </p:nvSpPr>
        <p:spPr>
          <a:xfrm>
            <a:off x="7156552" y="2295144"/>
            <a:ext cx="713232" cy="713232"/>
          </a:xfrm>
          <a:prstGeom prst="ellipse">
            <a:avLst/>
          </a:prstGeom>
          <a:solidFill>
            <a:srgbClr val="0D0D0D"/>
          </a:solidFill>
          <a:ln w="15875">
            <a:solidFill>
              <a:srgbClr val="FF5A00"/>
            </a:solidFill>
            <a:prstDash val="solid"/>
          </a:ln>
        </p:spPr>
      </p:sp>
      <p:pic>
        <p:nvPicPr>
          <p:cNvPr id="19" name="Image 2" descr="/tmp/claude-0/-home-user-getoios/887612f7-bce3-5d7f-a297-e09f9aa5407b/scratchpad/deck/icons/bolt-orange.png">    </p:cNvPr>
          <p:cNvPicPr>
            <a:picLocks noChangeAspect="1"/>
          </p:cNvPicPr>
          <p:nvPr/>
        </p:nvPicPr>
        <p:blipFill>
          <a:blip r:embed="rId3"/>
          <a:stretch>
            <a:fillRect/>
          </a:stretch>
        </p:blipFill>
        <p:spPr>
          <a:xfrm>
            <a:off x="7356257" y="2494849"/>
            <a:ext cx="313822" cy="313822"/>
          </a:xfrm>
          <a:prstGeom prst="rect">
            <a:avLst/>
          </a:prstGeom>
        </p:spPr>
      </p:pic>
      <p:sp>
        <p:nvSpPr>
          <p:cNvPr id="20" name="Text 15"/>
          <p:cNvSpPr/>
          <p:nvPr/>
        </p:nvSpPr>
        <p:spPr>
          <a:xfrm>
            <a:off x="6287872" y="3154680"/>
            <a:ext cx="2450592" cy="365760"/>
          </a:xfrm>
          <a:prstGeom prst="rect">
            <a:avLst/>
          </a:prstGeom>
          <a:noFill/>
          <a:ln/>
        </p:spPr>
        <p:txBody>
          <a:bodyPr wrap="square" lIns="0" tIns="0" rIns="0" bIns="0" rtlCol="0" anchor="ctr"/>
          <a:lstStyle/>
          <a:p>
            <a:pPr algn="ctr" indent="0" marL="0">
              <a:buNone/>
            </a:pPr>
            <a:r>
              <a:rPr lang="en-US" sz="1600" b="1" spc="200" kern="0" dirty="0">
                <a:solidFill>
                  <a:srgbClr val="F2F2F0"/>
                </a:solidFill>
                <a:latin typeface="Arial" pitchFamily="34" charset="0"/>
                <a:ea typeface="Arial" pitchFamily="34" charset="-122"/>
                <a:cs typeface="Arial" pitchFamily="34" charset="-120"/>
              </a:rPr>
              <a:t>ACT</a:t>
            </a:r>
            <a:endParaRPr lang="en-US" sz="1600" dirty="0"/>
          </a:p>
        </p:txBody>
      </p:sp>
      <p:sp>
        <p:nvSpPr>
          <p:cNvPr id="21" name="Text 16"/>
          <p:cNvSpPr/>
          <p:nvPr/>
        </p:nvSpPr>
        <p:spPr>
          <a:xfrm>
            <a:off x="6470752" y="3657600"/>
            <a:ext cx="2084832" cy="1920240"/>
          </a:xfrm>
          <a:prstGeom prst="rect">
            <a:avLst/>
          </a:prstGeom>
          <a:noFill/>
          <a:ln/>
        </p:spPr>
        <p:txBody>
          <a:bodyPr wrap="square" lIns="0" tIns="0" rIns="0" bIns="0" rtlCol="0" anchor="ctr"/>
          <a:lstStyle/>
          <a:p>
            <a:pPr algn="ctr" indent="0" marL="0">
              <a:lnSpc>
                <a:spcPts val="2600"/>
              </a:lnSpc>
              <a:buNone/>
            </a:pPr>
            <a:r>
              <a:rPr lang="en-US" sz="1350" dirty="0">
                <a:solidFill>
                  <a:srgbClr val="9A9A9E"/>
                </a:solidFill>
                <a:latin typeface="Arial" pitchFamily="34" charset="0"/>
                <a:ea typeface="Arial" pitchFamily="34" charset="-122"/>
                <a:cs typeface="Arial" pitchFamily="34" charset="-120"/>
              </a:rPr>
              <a:t>Follow-ups</a:t>
            </a:r>
            <a:endParaRPr lang="en-US" sz="1350" dirty="0"/>
          </a:p>
          <a:p>
            <a:pPr algn="ctr" indent="0" marL="0">
              <a:lnSpc>
                <a:spcPts val="2600"/>
              </a:lnSpc>
              <a:buNone/>
            </a:pPr>
            <a:r>
              <a:rPr lang="en-US" sz="1350" dirty="0">
                <a:solidFill>
                  <a:srgbClr val="9A9A9E"/>
                </a:solidFill>
                <a:latin typeface="Arial" pitchFamily="34" charset="0"/>
                <a:ea typeface="Arial" pitchFamily="34" charset="-122"/>
                <a:cs typeface="Arial" pitchFamily="34" charset="-120"/>
              </a:rPr>
              <a:t>Quotes</a:t>
            </a:r>
            <a:endParaRPr lang="en-US" sz="1350" dirty="0"/>
          </a:p>
          <a:p>
            <a:pPr algn="ctr" indent="0" marL="0">
              <a:lnSpc>
                <a:spcPts val="2600"/>
              </a:lnSpc>
              <a:buNone/>
            </a:pPr>
            <a:r>
              <a:rPr lang="en-US" sz="1350" dirty="0">
                <a:solidFill>
                  <a:srgbClr val="9A9A9E"/>
                </a:solidFill>
                <a:latin typeface="Arial" pitchFamily="34" charset="0"/>
                <a:ea typeface="Arial" pitchFamily="34" charset="-122"/>
                <a:cs typeface="Arial" pitchFamily="34" charset="-120"/>
              </a:rPr>
              <a:t>Scheduling</a:t>
            </a:r>
            <a:endParaRPr lang="en-US" sz="1350" dirty="0"/>
          </a:p>
          <a:p>
            <a:pPr algn="ctr" indent="0" marL="0">
              <a:lnSpc>
                <a:spcPts val="2600"/>
              </a:lnSpc>
              <a:buNone/>
            </a:pPr>
            <a:r>
              <a:rPr lang="en-US" sz="1350" dirty="0">
                <a:solidFill>
                  <a:srgbClr val="9A9A9E"/>
                </a:solidFill>
                <a:latin typeface="Arial" pitchFamily="34" charset="0"/>
                <a:ea typeface="Arial" pitchFamily="34" charset="-122"/>
                <a:cs typeface="Arial" pitchFamily="34" charset="-120"/>
              </a:rPr>
              <a:t>Service reminders</a:t>
            </a:r>
            <a:endParaRPr lang="en-US" sz="1350" dirty="0"/>
          </a:p>
        </p:txBody>
      </p:sp>
      <p:sp>
        <p:nvSpPr>
          <p:cNvPr id="22" name="Shape 17"/>
          <p:cNvSpPr/>
          <p:nvPr/>
        </p:nvSpPr>
        <p:spPr>
          <a:xfrm>
            <a:off x="8829904" y="3762756"/>
            <a:ext cx="219456" cy="201168"/>
          </a:xfrm>
          <a:prstGeom prst="chevron">
            <a:avLst/>
          </a:prstGeom>
          <a:solidFill>
            <a:srgbClr val="FF5A00"/>
          </a:solidFill>
          <a:ln/>
        </p:spPr>
      </p:sp>
      <p:sp>
        <p:nvSpPr>
          <p:cNvPr id="23" name="Shape 18"/>
          <p:cNvSpPr/>
          <p:nvPr/>
        </p:nvSpPr>
        <p:spPr>
          <a:xfrm>
            <a:off x="9122512" y="1965960"/>
            <a:ext cx="2450592" cy="3794760"/>
          </a:xfrm>
          <a:prstGeom prst="roundRect">
            <a:avLst>
              <a:gd name="adj" fmla="val 2612"/>
            </a:avLst>
          </a:prstGeom>
          <a:solidFill>
            <a:srgbClr val="1A1A1C"/>
          </a:solidFill>
          <a:ln/>
        </p:spPr>
      </p:sp>
      <p:sp>
        <p:nvSpPr>
          <p:cNvPr id="24" name="Shape 19"/>
          <p:cNvSpPr/>
          <p:nvPr/>
        </p:nvSpPr>
        <p:spPr>
          <a:xfrm>
            <a:off x="9991192" y="2295144"/>
            <a:ext cx="713232" cy="713232"/>
          </a:xfrm>
          <a:prstGeom prst="ellipse">
            <a:avLst/>
          </a:prstGeom>
          <a:solidFill>
            <a:srgbClr val="0D0D0D"/>
          </a:solidFill>
          <a:ln w="15875">
            <a:solidFill>
              <a:srgbClr val="FF5A00"/>
            </a:solidFill>
            <a:prstDash val="solid"/>
          </a:ln>
        </p:spPr>
      </p:sp>
      <p:pic>
        <p:nvPicPr>
          <p:cNvPr id="25" name="Image 3" descr="/tmp/claude-0/-home-user-getoios/887612f7-bce3-5d7f-a297-e09f9aa5407b/scratchpad/deck/icons/eye-orange.png">    </p:cNvPr>
          <p:cNvPicPr>
            <a:picLocks noChangeAspect="1"/>
          </p:cNvPicPr>
          <p:nvPr/>
        </p:nvPicPr>
        <p:blipFill>
          <a:blip r:embed="rId4"/>
          <a:stretch>
            <a:fillRect/>
          </a:stretch>
        </p:blipFill>
        <p:spPr>
          <a:xfrm>
            <a:off x="10190897" y="2494849"/>
            <a:ext cx="313822" cy="313822"/>
          </a:xfrm>
          <a:prstGeom prst="rect">
            <a:avLst/>
          </a:prstGeom>
        </p:spPr>
      </p:pic>
      <p:sp>
        <p:nvSpPr>
          <p:cNvPr id="26" name="Text 20"/>
          <p:cNvSpPr/>
          <p:nvPr/>
        </p:nvSpPr>
        <p:spPr>
          <a:xfrm>
            <a:off x="9122512" y="3154680"/>
            <a:ext cx="2450592" cy="365760"/>
          </a:xfrm>
          <a:prstGeom prst="rect">
            <a:avLst/>
          </a:prstGeom>
          <a:noFill/>
          <a:ln/>
        </p:spPr>
        <p:txBody>
          <a:bodyPr wrap="square" lIns="0" tIns="0" rIns="0" bIns="0" rtlCol="0" anchor="ctr"/>
          <a:lstStyle/>
          <a:p>
            <a:pPr algn="ctr" indent="0" marL="0">
              <a:buNone/>
            </a:pPr>
            <a:r>
              <a:rPr lang="en-US" sz="1600" b="1" spc="200" kern="0" dirty="0">
                <a:solidFill>
                  <a:srgbClr val="F2F2F0"/>
                </a:solidFill>
                <a:latin typeface="Arial" pitchFamily="34" charset="0"/>
                <a:ea typeface="Arial" pitchFamily="34" charset="-122"/>
                <a:cs typeface="Arial" pitchFamily="34" charset="-120"/>
              </a:rPr>
              <a:t>SEE</a:t>
            </a:r>
            <a:endParaRPr lang="en-US" sz="1600" dirty="0"/>
          </a:p>
        </p:txBody>
      </p:sp>
      <p:sp>
        <p:nvSpPr>
          <p:cNvPr id="27" name="Text 21"/>
          <p:cNvSpPr/>
          <p:nvPr/>
        </p:nvSpPr>
        <p:spPr>
          <a:xfrm>
            <a:off x="9305392" y="3657600"/>
            <a:ext cx="2084832" cy="1920240"/>
          </a:xfrm>
          <a:prstGeom prst="rect">
            <a:avLst/>
          </a:prstGeom>
          <a:noFill/>
          <a:ln/>
        </p:spPr>
        <p:txBody>
          <a:bodyPr wrap="square" lIns="0" tIns="0" rIns="0" bIns="0" rtlCol="0" anchor="ctr"/>
          <a:lstStyle/>
          <a:p>
            <a:pPr algn="ctr" indent="0" marL="0">
              <a:lnSpc>
                <a:spcPts val="2600"/>
              </a:lnSpc>
              <a:buNone/>
            </a:pPr>
            <a:r>
              <a:rPr lang="en-US" sz="1350" dirty="0">
                <a:solidFill>
                  <a:srgbClr val="9A9A9E"/>
                </a:solidFill>
                <a:latin typeface="Arial" pitchFamily="34" charset="0"/>
                <a:ea typeface="Arial" pitchFamily="34" charset="-122"/>
                <a:cs typeface="Arial" pitchFamily="34" charset="-120"/>
              </a:rPr>
              <a:t>Live dashboard</a:t>
            </a:r>
            <a:endParaRPr lang="en-US" sz="1350" dirty="0"/>
          </a:p>
          <a:p>
            <a:pPr algn="ctr" indent="0" marL="0">
              <a:lnSpc>
                <a:spcPts val="2600"/>
              </a:lnSpc>
              <a:buNone/>
            </a:pPr>
            <a:r>
              <a:rPr lang="en-US" sz="1350" dirty="0">
                <a:solidFill>
                  <a:srgbClr val="9A9A9E"/>
                </a:solidFill>
                <a:latin typeface="Arial" pitchFamily="34" charset="0"/>
                <a:ea typeface="Arial" pitchFamily="34" charset="-122"/>
                <a:cs typeface="Arial" pitchFamily="34" charset="-120"/>
              </a:rPr>
              <a:t>Risk flags</a:t>
            </a:r>
            <a:endParaRPr lang="en-US" sz="1350" dirty="0"/>
          </a:p>
          <a:p>
            <a:pPr algn="ctr" indent="0" marL="0">
              <a:lnSpc>
                <a:spcPts val="2600"/>
              </a:lnSpc>
              <a:buNone/>
            </a:pPr>
            <a:r>
              <a:rPr lang="en-US" sz="1350" dirty="0">
                <a:solidFill>
                  <a:srgbClr val="9A9A9E"/>
                </a:solidFill>
                <a:latin typeface="Arial" pitchFamily="34" charset="0"/>
                <a:ea typeface="Arial" pitchFamily="34" charset="-122"/>
                <a:cs typeface="Arial" pitchFamily="34" charset="-120"/>
              </a:rPr>
              <a:t>Weekly brief</a:t>
            </a:r>
            <a:endParaRPr lang="en-US" sz="1350" dirty="0"/>
          </a:p>
        </p:txBody>
      </p:sp>
      <p:sp>
        <p:nvSpPr>
          <p:cNvPr id="28" name="Text 22"/>
          <p:cNvSpPr/>
          <p:nvPr/>
        </p:nvSpPr>
        <p:spPr>
          <a:xfrm>
            <a:off x="685800" y="6080760"/>
            <a:ext cx="10789920" cy="320040"/>
          </a:xfrm>
          <a:prstGeom prst="rect">
            <a:avLst/>
          </a:prstGeom>
          <a:noFill/>
          <a:ln/>
        </p:spPr>
        <p:txBody>
          <a:bodyPr wrap="square" lIns="0" tIns="0" rIns="0" bIns="0" rtlCol="0" anchor="ctr"/>
          <a:lstStyle/>
          <a:p>
            <a:pPr indent="0" marL="0">
              <a:buNone/>
            </a:pPr>
            <a:r>
              <a:rPr lang="en-US" sz="1300" i="1" dirty="0">
                <a:solidFill>
                  <a:srgbClr val="9A9A9E"/>
                </a:solidFill>
                <a:latin typeface="Arial" pitchFamily="34" charset="0"/>
                <a:ea typeface="Arial" pitchFamily="34" charset="-122"/>
                <a:cs typeface="Arial" pitchFamily="34" charset="-120"/>
              </a:rPr>
              <a:t>You buy outcomes. The plumbing is our job.</a:t>
            </a:r>
            <a:endParaRPr lang="en-US" sz="13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D0D0D"/>
        </a:solidFill>
      </p:bgPr>
    </p:bg>
    <p:spTree>
      <p:nvGrpSpPr>
        <p:cNvPr id="1" name=""/>
        <p:cNvGrpSpPr/>
        <p:nvPr/>
      </p:nvGrpSpPr>
      <p:grpSpPr>
        <a:xfrm>
          <a:off x="0" y="0"/>
          <a:ext cx="0" cy="0"/>
          <a:chOff x="0" y="0"/>
          <a:chExt cx="0" cy="0"/>
        </a:xfrm>
      </p:grpSpPr>
      <p:sp>
        <p:nvSpPr>
          <p:cNvPr id="2" name="Text 0"/>
          <p:cNvSpPr/>
          <p:nvPr/>
        </p:nvSpPr>
        <p:spPr>
          <a:xfrm>
            <a:off x="685800" y="457200"/>
            <a:ext cx="7315200" cy="274320"/>
          </a:xfrm>
          <a:prstGeom prst="rect">
            <a:avLst/>
          </a:prstGeom>
          <a:noFill/>
          <a:ln/>
        </p:spPr>
        <p:txBody>
          <a:bodyPr wrap="square" lIns="0" tIns="0" rIns="0" bIns="0" rtlCol="0" anchor="ctr"/>
          <a:lstStyle/>
          <a:p>
            <a:pPr algn="l" indent="0" marL="0">
              <a:buNone/>
            </a:pPr>
            <a:r>
              <a:rPr lang="en-US" sz="1100" b="1" spc="400" kern="0" dirty="0">
                <a:solidFill>
                  <a:srgbClr val="FF5A00"/>
                </a:solidFill>
                <a:latin typeface="Arial" pitchFamily="34" charset="0"/>
                <a:ea typeface="Arial" pitchFamily="34" charset="-122"/>
                <a:cs typeface="Arial" pitchFamily="34" charset="-120"/>
              </a:rPr>
              <a:t>PILLAR 1</a:t>
            </a:r>
            <a:endParaRPr lang="en-US" sz="1100" dirty="0"/>
          </a:p>
        </p:txBody>
      </p:sp>
      <p:sp>
        <p:nvSpPr>
          <p:cNvPr id="3" name="Text 1"/>
          <p:cNvSpPr/>
          <p:nvPr/>
        </p:nvSpPr>
        <p:spPr>
          <a:xfrm>
            <a:off x="685800" y="749808"/>
            <a:ext cx="10820095" cy="777240"/>
          </a:xfrm>
          <a:prstGeom prst="rect">
            <a:avLst/>
          </a:prstGeom>
          <a:noFill/>
          <a:ln/>
        </p:spPr>
        <p:txBody>
          <a:bodyPr wrap="square" lIns="0" tIns="0" rIns="0" bIns="0" rtlCol="0" anchor="ctr"/>
          <a:lstStyle/>
          <a:p>
            <a:pPr algn="l" indent="0" marL="0">
              <a:buNone/>
            </a:pPr>
            <a:r>
              <a:rPr lang="en-US" sz="3400" b="1" dirty="0">
                <a:solidFill>
                  <a:srgbClr val="F2F2F0"/>
                </a:solidFill>
                <a:latin typeface="Arial" pitchFamily="34" charset="0"/>
                <a:ea typeface="Arial" pitchFamily="34" charset="-122"/>
                <a:cs typeface="Arial" pitchFamily="34" charset="-120"/>
              </a:rPr>
              <a:t>NEVER LOSE A LEAD.</a:t>
            </a:r>
            <a:endParaRPr lang="en-US" sz="3400" dirty="0"/>
          </a:p>
        </p:txBody>
      </p:sp>
      <p:sp>
        <p:nvSpPr>
          <p:cNvPr id="4" name="Text 2"/>
          <p:cNvSpPr/>
          <p:nvPr/>
        </p:nvSpPr>
        <p:spPr>
          <a:xfrm>
            <a:off x="11231575" y="6382512"/>
            <a:ext cx="548640" cy="274320"/>
          </a:xfrm>
          <a:prstGeom prst="rect">
            <a:avLst/>
          </a:prstGeom>
          <a:noFill/>
          <a:ln/>
        </p:spPr>
        <p:txBody>
          <a:bodyPr wrap="square" lIns="0" tIns="0" rIns="0" bIns="0" rtlCol="0" anchor="ctr"/>
          <a:lstStyle/>
          <a:p>
            <a:pPr algn="r" indent="0" marL="0">
              <a:buNone/>
            </a:pPr>
            <a:r>
              <a:rPr lang="en-US" sz="900" dirty="0">
                <a:solidFill>
                  <a:srgbClr val="5A5A5E"/>
                </a:solidFill>
                <a:latin typeface="Arial" pitchFamily="34" charset="0"/>
                <a:ea typeface="Arial" pitchFamily="34" charset="-122"/>
                <a:cs typeface="Arial" pitchFamily="34" charset="-120"/>
              </a:rPr>
              <a:t>07</a:t>
            </a:r>
            <a:endParaRPr lang="en-US" sz="900" dirty="0"/>
          </a:p>
        </p:txBody>
      </p:sp>
      <p:sp>
        <p:nvSpPr>
          <p:cNvPr id="5" name="Shape 3"/>
          <p:cNvSpPr/>
          <p:nvPr/>
        </p:nvSpPr>
        <p:spPr>
          <a:xfrm>
            <a:off x="685800" y="2011680"/>
            <a:ext cx="1005840" cy="1005840"/>
          </a:xfrm>
          <a:prstGeom prst="ellipse">
            <a:avLst/>
          </a:prstGeom>
          <a:solidFill>
            <a:srgbClr val="0D0D0D"/>
          </a:solidFill>
          <a:ln w="15875">
            <a:solidFill>
              <a:srgbClr val="FF5A00"/>
            </a:solidFill>
            <a:prstDash val="solid"/>
          </a:ln>
        </p:spPr>
      </p:sp>
      <p:pic>
        <p:nvPicPr>
          <p:cNvPr id="6" name="Image 0" descr="/tmp/claude-0/-home-user-getoios/887612f7-bce3-5d7f-a297-e09f9aa5407b/scratchpad/deck/icons/phone-orange.png">    </p:cNvPr>
          <p:cNvPicPr>
            <a:picLocks noChangeAspect="1"/>
          </p:cNvPicPr>
          <p:nvPr/>
        </p:nvPicPr>
        <p:blipFill>
          <a:blip r:embed="rId1"/>
          <a:stretch>
            <a:fillRect/>
          </a:stretch>
        </p:blipFill>
        <p:spPr>
          <a:xfrm>
            <a:off x="967435" y="2293315"/>
            <a:ext cx="442570" cy="442570"/>
          </a:xfrm>
          <a:prstGeom prst="rect">
            <a:avLst/>
          </a:prstGeom>
        </p:spPr>
      </p:pic>
      <p:sp>
        <p:nvSpPr>
          <p:cNvPr id="7" name="Text 4"/>
          <p:cNvSpPr/>
          <p:nvPr/>
        </p:nvSpPr>
        <p:spPr>
          <a:xfrm>
            <a:off x="685800" y="3337560"/>
            <a:ext cx="4114800" cy="2194560"/>
          </a:xfrm>
          <a:prstGeom prst="rect">
            <a:avLst/>
          </a:prstGeom>
          <a:noFill/>
          <a:ln/>
        </p:spPr>
        <p:txBody>
          <a:bodyPr wrap="square" lIns="0" tIns="0" rIns="0" bIns="0" rtlCol="0" anchor="ctr"/>
          <a:lstStyle/>
          <a:p>
            <a:pPr indent="0" marL="0">
              <a:lnSpc>
                <a:spcPts val="3000"/>
              </a:lnSpc>
              <a:buNone/>
            </a:pPr>
            <a:r>
              <a:rPr lang="en-US" sz="2200" b="1" dirty="0">
                <a:solidFill>
                  <a:srgbClr val="F2F2F0"/>
                </a:solidFill>
                <a:latin typeface="Arial" pitchFamily="34" charset="0"/>
                <a:ea typeface="Arial" pitchFamily="34" charset="-122"/>
                <a:cs typeface="Arial" pitchFamily="34" charset="-120"/>
              </a:rPr>
              <a:t>Answered 24/7.</a:t>
            </a:r>
            <a:endParaRPr lang="en-US" sz="2200" dirty="0"/>
          </a:p>
          <a:p>
            <a:pPr indent="0" marL="0">
              <a:lnSpc>
                <a:spcPts val="3000"/>
              </a:lnSpc>
              <a:buNone/>
            </a:pPr>
            <a:r>
              <a:rPr lang="en-US" sz="2200" b="1" dirty="0">
                <a:solidFill>
                  <a:srgbClr val="F2F2F0"/>
                </a:solidFill>
                <a:latin typeface="Arial" pitchFamily="34" charset="0"/>
                <a:ea typeface="Arial" pitchFamily="34" charset="-122"/>
                <a:cs typeface="Arial" pitchFamily="34" charset="-120"/>
              </a:rPr>
              <a:t>Qualified instantly.</a:t>
            </a:r>
            <a:endParaRPr lang="en-US" sz="2200" dirty="0"/>
          </a:p>
          <a:p>
            <a:pPr indent="0" marL="0">
              <a:lnSpc>
                <a:spcPts val="3000"/>
              </a:lnSpc>
              <a:buNone/>
            </a:pPr>
            <a:r>
              <a:rPr lang="en-US" sz="2200" b="1" dirty="0">
                <a:solidFill>
                  <a:srgbClr val="F2F2F0"/>
                </a:solidFill>
                <a:latin typeface="Arial" pitchFamily="34" charset="0"/>
                <a:ea typeface="Arial" pitchFamily="34" charset="-122"/>
                <a:cs typeface="Arial" pitchFamily="34" charset="-120"/>
              </a:rPr>
              <a:t>Routed to you</a:t>
            </a:r>
            <a:endParaRPr lang="en-US" sz="2200" dirty="0"/>
          </a:p>
          <a:p>
            <a:pPr indent="0" marL="0">
              <a:lnSpc>
                <a:spcPts val="3000"/>
              </a:lnSpc>
              <a:buNone/>
            </a:pPr>
            <a:r>
              <a:rPr lang="en-US" sz="2200" b="1" dirty="0">
                <a:solidFill>
                  <a:srgbClr val="F2F2F0"/>
                </a:solidFill>
                <a:latin typeface="Arial" pitchFamily="34" charset="0"/>
                <a:ea typeface="Arial" pitchFamily="34" charset="-122"/>
                <a:cs typeface="Arial" pitchFamily="34" charset="-120"/>
              </a:rPr>
              <a:t>with a full brief.</a:t>
            </a:r>
            <a:endParaRPr lang="en-US" sz="2200" dirty="0"/>
          </a:p>
        </p:txBody>
      </p:sp>
      <p:sp>
        <p:nvSpPr>
          <p:cNvPr id="8" name="Shape 5"/>
          <p:cNvSpPr/>
          <p:nvPr/>
        </p:nvSpPr>
        <p:spPr>
          <a:xfrm>
            <a:off x="5212080" y="2103120"/>
            <a:ext cx="6309360" cy="932688"/>
          </a:xfrm>
          <a:prstGeom prst="roundRect">
            <a:avLst>
              <a:gd name="adj" fmla="val 4902"/>
            </a:avLst>
          </a:prstGeom>
          <a:solidFill>
            <a:srgbClr val="1A1A1C"/>
          </a:solidFill>
          <a:ln/>
        </p:spPr>
      </p:sp>
      <p:sp>
        <p:nvSpPr>
          <p:cNvPr id="9" name="Shape 6"/>
          <p:cNvSpPr/>
          <p:nvPr/>
        </p:nvSpPr>
        <p:spPr>
          <a:xfrm>
            <a:off x="5504688" y="2523744"/>
            <a:ext cx="91440" cy="91440"/>
          </a:xfrm>
          <a:prstGeom prst="rect">
            <a:avLst/>
          </a:prstGeom>
          <a:solidFill>
            <a:srgbClr val="FF5A00"/>
          </a:solidFill>
          <a:ln/>
        </p:spPr>
      </p:sp>
      <p:sp>
        <p:nvSpPr>
          <p:cNvPr id="10" name="Text 7"/>
          <p:cNvSpPr/>
          <p:nvPr/>
        </p:nvSpPr>
        <p:spPr>
          <a:xfrm>
            <a:off x="5806440" y="2231136"/>
            <a:ext cx="5532120" cy="676656"/>
          </a:xfrm>
          <a:prstGeom prst="rect">
            <a:avLst/>
          </a:prstGeom>
          <a:noFill/>
          <a:ln/>
        </p:spPr>
        <p:txBody>
          <a:bodyPr wrap="square" lIns="0" tIns="0" rIns="0" bIns="0" rtlCol="0" anchor="ctr"/>
          <a:lstStyle/>
          <a:p>
            <a:pPr indent="0" marL="0">
              <a:buNone/>
            </a:pPr>
            <a:r>
              <a:rPr lang="en-US" sz="1500" dirty="0">
                <a:solidFill>
                  <a:srgbClr val="F2F2F0"/>
                </a:solidFill>
                <a:latin typeface="Arial" pitchFamily="34" charset="0"/>
                <a:ea typeface="Arial" pitchFamily="34" charset="-122"/>
                <a:cs typeface="Arial" pitchFamily="34" charset="-120"/>
              </a:rPr>
              <a:t>Every channel — phone, web, Facebook, RV Trader</a:t>
            </a:r>
            <a:endParaRPr lang="en-US" sz="1500" dirty="0"/>
          </a:p>
        </p:txBody>
      </p:sp>
      <p:sp>
        <p:nvSpPr>
          <p:cNvPr id="11" name="Shape 8"/>
          <p:cNvSpPr/>
          <p:nvPr/>
        </p:nvSpPr>
        <p:spPr>
          <a:xfrm>
            <a:off x="5212080" y="3200400"/>
            <a:ext cx="6309360" cy="932688"/>
          </a:xfrm>
          <a:prstGeom prst="roundRect">
            <a:avLst>
              <a:gd name="adj" fmla="val 4902"/>
            </a:avLst>
          </a:prstGeom>
          <a:solidFill>
            <a:srgbClr val="1A1A1C"/>
          </a:solidFill>
          <a:ln/>
        </p:spPr>
      </p:sp>
      <p:sp>
        <p:nvSpPr>
          <p:cNvPr id="12" name="Shape 9"/>
          <p:cNvSpPr/>
          <p:nvPr/>
        </p:nvSpPr>
        <p:spPr>
          <a:xfrm>
            <a:off x="5504688" y="3621024"/>
            <a:ext cx="91440" cy="91440"/>
          </a:xfrm>
          <a:prstGeom prst="rect">
            <a:avLst/>
          </a:prstGeom>
          <a:solidFill>
            <a:srgbClr val="FF5A00"/>
          </a:solidFill>
          <a:ln/>
        </p:spPr>
      </p:sp>
      <p:sp>
        <p:nvSpPr>
          <p:cNvPr id="13" name="Text 10"/>
          <p:cNvSpPr/>
          <p:nvPr/>
        </p:nvSpPr>
        <p:spPr>
          <a:xfrm>
            <a:off x="5806440" y="3328416"/>
            <a:ext cx="5532120" cy="676656"/>
          </a:xfrm>
          <a:prstGeom prst="rect">
            <a:avLst/>
          </a:prstGeom>
          <a:noFill/>
          <a:ln/>
        </p:spPr>
        <p:txBody>
          <a:bodyPr wrap="square" lIns="0" tIns="0" rIns="0" bIns="0" rtlCol="0" anchor="ctr"/>
          <a:lstStyle/>
          <a:p>
            <a:pPr indent="0" marL="0">
              <a:buNone/>
            </a:pPr>
            <a:r>
              <a:rPr lang="en-US" sz="1500" dirty="0">
                <a:solidFill>
                  <a:srgbClr val="F2F2F0"/>
                </a:solidFill>
                <a:latin typeface="Arial" pitchFamily="34" charset="0"/>
                <a:ea typeface="Arial" pitchFamily="34" charset="-122"/>
                <a:cs typeface="Arial" pitchFamily="34" charset="-120"/>
              </a:rPr>
              <a:t>Nights, Sundays, other time zones</a:t>
            </a:r>
            <a:endParaRPr lang="en-US" sz="1500" dirty="0"/>
          </a:p>
        </p:txBody>
      </p:sp>
      <p:sp>
        <p:nvSpPr>
          <p:cNvPr id="14" name="Shape 11"/>
          <p:cNvSpPr/>
          <p:nvPr/>
        </p:nvSpPr>
        <p:spPr>
          <a:xfrm>
            <a:off x="5212080" y="4297680"/>
            <a:ext cx="6309360" cy="932688"/>
          </a:xfrm>
          <a:prstGeom prst="roundRect">
            <a:avLst>
              <a:gd name="adj" fmla="val 4902"/>
            </a:avLst>
          </a:prstGeom>
          <a:solidFill>
            <a:srgbClr val="1A1A1C"/>
          </a:solidFill>
          <a:ln/>
        </p:spPr>
      </p:sp>
      <p:sp>
        <p:nvSpPr>
          <p:cNvPr id="15" name="Shape 12"/>
          <p:cNvSpPr/>
          <p:nvPr/>
        </p:nvSpPr>
        <p:spPr>
          <a:xfrm>
            <a:off x="5504688" y="4718304"/>
            <a:ext cx="91440" cy="91440"/>
          </a:xfrm>
          <a:prstGeom prst="rect">
            <a:avLst/>
          </a:prstGeom>
          <a:solidFill>
            <a:srgbClr val="FF5A00"/>
          </a:solidFill>
          <a:ln/>
        </p:spPr>
      </p:sp>
      <p:sp>
        <p:nvSpPr>
          <p:cNvPr id="16" name="Text 13"/>
          <p:cNvSpPr/>
          <p:nvPr/>
        </p:nvSpPr>
        <p:spPr>
          <a:xfrm>
            <a:off x="5806440" y="4425696"/>
            <a:ext cx="5532120" cy="676656"/>
          </a:xfrm>
          <a:prstGeom prst="rect">
            <a:avLst/>
          </a:prstGeom>
          <a:noFill/>
          <a:ln/>
        </p:spPr>
        <p:txBody>
          <a:bodyPr wrap="square" lIns="0" tIns="0" rIns="0" bIns="0" rtlCol="0" anchor="ctr"/>
          <a:lstStyle/>
          <a:p>
            <a:pPr indent="0" marL="0">
              <a:buNone/>
            </a:pPr>
            <a:r>
              <a:rPr lang="en-US" sz="1500" dirty="0">
                <a:solidFill>
                  <a:srgbClr val="F2F2F0"/>
                </a:solidFill>
                <a:latin typeface="Arial" pitchFamily="34" charset="0"/>
                <a:ea typeface="Arial" pitchFamily="34" charset="-122"/>
                <a:cs typeface="Arial" pitchFamily="34" charset="-120"/>
              </a:rPr>
              <a:t>Budget, timeline, trade, financing — captured up front</a:t>
            </a:r>
            <a:endParaRPr lang="en-US" sz="1500" dirty="0"/>
          </a:p>
        </p:txBody>
      </p:sp>
      <p:sp>
        <p:nvSpPr>
          <p:cNvPr id="17" name="Shape 14"/>
          <p:cNvSpPr/>
          <p:nvPr/>
        </p:nvSpPr>
        <p:spPr>
          <a:xfrm>
            <a:off x="5212080" y="5394960"/>
            <a:ext cx="6309360" cy="932688"/>
          </a:xfrm>
          <a:prstGeom prst="roundRect">
            <a:avLst>
              <a:gd name="adj" fmla="val 4902"/>
            </a:avLst>
          </a:prstGeom>
          <a:solidFill>
            <a:srgbClr val="1A1A1C"/>
          </a:solidFill>
          <a:ln/>
        </p:spPr>
      </p:sp>
      <p:sp>
        <p:nvSpPr>
          <p:cNvPr id="18" name="Shape 15"/>
          <p:cNvSpPr/>
          <p:nvPr/>
        </p:nvSpPr>
        <p:spPr>
          <a:xfrm>
            <a:off x="5504688" y="5815584"/>
            <a:ext cx="91440" cy="91440"/>
          </a:xfrm>
          <a:prstGeom prst="rect">
            <a:avLst/>
          </a:prstGeom>
          <a:solidFill>
            <a:srgbClr val="FF5A00"/>
          </a:solidFill>
          <a:ln/>
        </p:spPr>
      </p:sp>
      <p:sp>
        <p:nvSpPr>
          <p:cNvPr id="19" name="Text 16"/>
          <p:cNvSpPr/>
          <p:nvPr/>
        </p:nvSpPr>
        <p:spPr>
          <a:xfrm>
            <a:off x="5806440" y="5522976"/>
            <a:ext cx="5532120" cy="676656"/>
          </a:xfrm>
          <a:prstGeom prst="rect">
            <a:avLst/>
          </a:prstGeom>
          <a:noFill/>
          <a:ln/>
        </p:spPr>
        <p:txBody>
          <a:bodyPr wrap="square" lIns="0" tIns="0" rIns="0" bIns="0" rtlCol="0" anchor="ctr"/>
          <a:lstStyle/>
          <a:p>
            <a:pPr indent="0" marL="0">
              <a:buNone/>
            </a:pPr>
            <a:r>
              <a:rPr lang="en-US" sz="1500" dirty="0">
                <a:solidFill>
                  <a:srgbClr val="F2F2F0"/>
                </a:solidFill>
                <a:latin typeface="Arial" pitchFamily="34" charset="0"/>
                <a:ea typeface="Arial" pitchFamily="34" charset="-122"/>
                <a:cs typeface="Arial" pitchFamily="34" charset="-120"/>
              </a:rPr>
              <a:t>You never start a conversation from zero</a:t>
            </a:r>
            <a:endParaRPr lang="en-US" sz="15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D0D0D"/>
        </a:solidFill>
      </p:bgPr>
    </p:bg>
    <p:spTree>
      <p:nvGrpSpPr>
        <p:cNvPr id="1" name=""/>
        <p:cNvGrpSpPr/>
        <p:nvPr/>
      </p:nvGrpSpPr>
      <p:grpSpPr>
        <a:xfrm>
          <a:off x="0" y="0"/>
          <a:ext cx="0" cy="0"/>
          <a:chOff x="0" y="0"/>
          <a:chExt cx="0" cy="0"/>
        </a:xfrm>
      </p:grpSpPr>
      <p:sp>
        <p:nvSpPr>
          <p:cNvPr id="2" name="Text 0"/>
          <p:cNvSpPr/>
          <p:nvPr/>
        </p:nvSpPr>
        <p:spPr>
          <a:xfrm>
            <a:off x="685800" y="457200"/>
            <a:ext cx="7315200" cy="274320"/>
          </a:xfrm>
          <a:prstGeom prst="rect">
            <a:avLst/>
          </a:prstGeom>
          <a:noFill/>
          <a:ln/>
        </p:spPr>
        <p:txBody>
          <a:bodyPr wrap="square" lIns="0" tIns="0" rIns="0" bIns="0" rtlCol="0" anchor="ctr"/>
          <a:lstStyle/>
          <a:p>
            <a:pPr algn="l" indent="0" marL="0">
              <a:buNone/>
            </a:pPr>
            <a:r>
              <a:rPr lang="en-US" sz="1100" b="1" spc="400" kern="0" dirty="0">
                <a:solidFill>
                  <a:srgbClr val="FF5A00"/>
                </a:solidFill>
                <a:latin typeface="Arial" pitchFamily="34" charset="0"/>
                <a:ea typeface="Arial" pitchFamily="34" charset="-122"/>
                <a:cs typeface="Arial" pitchFamily="34" charset="-120"/>
              </a:rPr>
              <a:t>PILLAR 2</a:t>
            </a:r>
            <a:endParaRPr lang="en-US" sz="1100" dirty="0"/>
          </a:p>
        </p:txBody>
      </p:sp>
      <p:sp>
        <p:nvSpPr>
          <p:cNvPr id="3" name="Text 1"/>
          <p:cNvSpPr/>
          <p:nvPr/>
        </p:nvSpPr>
        <p:spPr>
          <a:xfrm>
            <a:off x="685800" y="749808"/>
            <a:ext cx="10820095" cy="777240"/>
          </a:xfrm>
          <a:prstGeom prst="rect">
            <a:avLst/>
          </a:prstGeom>
          <a:noFill/>
          <a:ln/>
        </p:spPr>
        <p:txBody>
          <a:bodyPr wrap="square" lIns="0" tIns="0" rIns="0" bIns="0" rtlCol="0" anchor="ctr"/>
          <a:lstStyle/>
          <a:p>
            <a:pPr algn="l" indent="0" marL="0">
              <a:buNone/>
            </a:pPr>
            <a:r>
              <a:rPr lang="en-US" sz="3400" b="1" dirty="0">
                <a:solidFill>
                  <a:srgbClr val="F2F2F0"/>
                </a:solidFill>
                <a:latin typeface="Arial" pitchFamily="34" charset="0"/>
                <a:ea typeface="Arial" pitchFamily="34" charset="-122"/>
                <a:cs typeface="Arial" pitchFamily="34" charset="-120"/>
              </a:rPr>
              <a:t>SERVICE IS THE SUBSCRIPTION.</a:t>
            </a:r>
            <a:endParaRPr lang="en-US" sz="3400" dirty="0"/>
          </a:p>
        </p:txBody>
      </p:sp>
      <p:sp>
        <p:nvSpPr>
          <p:cNvPr id="4" name="Text 2"/>
          <p:cNvSpPr/>
          <p:nvPr/>
        </p:nvSpPr>
        <p:spPr>
          <a:xfrm>
            <a:off x="11231575" y="6382512"/>
            <a:ext cx="548640" cy="274320"/>
          </a:xfrm>
          <a:prstGeom prst="rect">
            <a:avLst/>
          </a:prstGeom>
          <a:noFill/>
          <a:ln/>
        </p:spPr>
        <p:txBody>
          <a:bodyPr wrap="square" lIns="0" tIns="0" rIns="0" bIns="0" rtlCol="0" anchor="ctr"/>
          <a:lstStyle/>
          <a:p>
            <a:pPr algn="r" indent="0" marL="0">
              <a:buNone/>
            </a:pPr>
            <a:r>
              <a:rPr lang="en-US" sz="900" dirty="0">
                <a:solidFill>
                  <a:srgbClr val="5A5A5E"/>
                </a:solidFill>
                <a:latin typeface="Arial" pitchFamily="34" charset="0"/>
                <a:ea typeface="Arial" pitchFamily="34" charset="-122"/>
                <a:cs typeface="Arial" pitchFamily="34" charset="-120"/>
              </a:rPr>
              <a:t>08</a:t>
            </a:r>
            <a:endParaRPr lang="en-US" sz="900" dirty="0"/>
          </a:p>
        </p:txBody>
      </p:sp>
      <p:sp>
        <p:nvSpPr>
          <p:cNvPr id="5" name="Shape 3"/>
          <p:cNvSpPr/>
          <p:nvPr/>
        </p:nvSpPr>
        <p:spPr>
          <a:xfrm>
            <a:off x="685800" y="2011680"/>
            <a:ext cx="1005840" cy="1005840"/>
          </a:xfrm>
          <a:prstGeom prst="ellipse">
            <a:avLst/>
          </a:prstGeom>
          <a:solidFill>
            <a:srgbClr val="0D0D0D"/>
          </a:solidFill>
          <a:ln w="15875">
            <a:solidFill>
              <a:srgbClr val="FF5A00"/>
            </a:solidFill>
            <a:prstDash val="solid"/>
          </a:ln>
        </p:spPr>
      </p:sp>
      <p:pic>
        <p:nvPicPr>
          <p:cNvPr id="6" name="Image 0" descr="/tmp/claude-0/-home-user-getoios/887612f7-bce3-5d7f-a297-e09f9aa5407b/scratchpad/deck/icons/wrench-orange.png">    </p:cNvPr>
          <p:cNvPicPr>
            <a:picLocks noChangeAspect="1"/>
          </p:cNvPicPr>
          <p:nvPr/>
        </p:nvPicPr>
        <p:blipFill>
          <a:blip r:embed="rId1"/>
          <a:stretch>
            <a:fillRect/>
          </a:stretch>
        </p:blipFill>
        <p:spPr>
          <a:xfrm>
            <a:off x="967435" y="2293315"/>
            <a:ext cx="442570" cy="442570"/>
          </a:xfrm>
          <a:prstGeom prst="rect">
            <a:avLst/>
          </a:prstGeom>
        </p:spPr>
      </p:pic>
      <p:sp>
        <p:nvSpPr>
          <p:cNvPr id="7" name="Text 4"/>
          <p:cNvSpPr/>
          <p:nvPr/>
        </p:nvSpPr>
        <p:spPr>
          <a:xfrm>
            <a:off x="685800" y="3337560"/>
            <a:ext cx="4114800" cy="2194560"/>
          </a:xfrm>
          <a:prstGeom prst="rect">
            <a:avLst/>
          </a:prstGeom>
          <a:noFill/>
          <a:ln/>
        </p:spPr>
        <p:txBody>
          <a:bodyPr wrap="square" lIns="0" tIns="0" rIns="0" bIns="0" rtlCol="0" anchor="ctr"/>
          <a:lstStyle/>
          <a:p>
            <a:pPr indent="0" marL="0">
              <a:lnSpc>
                <a:spcPts val="3000"/>
              </a:lnSpc>
              <a:buNone/>
            </a:pPr>
            <a:r>
              <a:rPr lang="en-US" sz="2200" b="1" dirty="0">
                <a:solidFill>
                  <a:srgbClr val="F2F2F0"/>
                </a:solidFill>
                <a:latin typeface="Arial" pitchFamily="34" charset="0"/>
                <a:ea typeface="Arial" pitchFamily="34" charset="-122"/>
                <a:cs typeface="Arial" pitchFamily="34" charset="-120"/>
              </a:rPr>
              <a:t>Sales are lumpy.</a:t>
            </a:r>
            <a:endParaRPr lang="en-US" sz="2200" dirty="0"/>
          </a:p>
          <a:p>
            <a:pPr indent="0" marL="0">
              <a:lnSpc>
                <a:spcPts val="3000"/>
              </a:lnSpc>
              <a:buNone/>
            </a:pPr>
            <a:r>
              <a:rPr lang="en-US" sz="2200" b="1" dirty="0">
                <a:solidFill>
                  <a:srgbClr val="F2F2F0"/>
                </a:solidFill>
                <a:latin typeface="Arial" pitchFamily="34" charset="0"/>
                <a:ea typeface="Arial" pitchFamily="34" charset="-122"/>
                <a:cs typeface="Arial" pitchFamily="34" charset="-120"/>
              </a:rPr>
              <a:t>Service is</a:t>
            </a:r>
            <a:endParaRPr lang="en-US" sz="2200" dirty="0"/>
          </a:p>
          <a:p>
            <a:pPr indent="0" marL="0">
              <a:lnSpc>
                <a:spcPts val="3000"/>
              </a:lnSpc>
              <a:buNone/>
            </a:pPr>
            <a:r>
              <a:rPr lang="en-US" sz="2200" b="1" dirty="0">
                <a:solidFill>
                  <a:srgbClr val="F2F2F0"/>
                </a:solidFill>
                <a:latin typeface="Arial" pitchFamily="34" charset="0"/>
                <a:ea typeface="Arial" pitchFamily="34" charset="-122"/>
                <a:cs typeface="Arial" pitchFamily="34" charset="-120"/>
              </a:rPr>
              <a:t>recurring revenue</a:t>
            </a:r>
            <a:endParaRPr lang="en-US" sz="2200" dirty="0"/>
          </a:p>
          <a:p>
            <a:pPr indent="0" marL="0">
              <a:lnSpc>
                <a:spcPts val="3000"/>
              </a:lnSpc>
              <a:buNone/>
            </a:pPr>
            <a:r>
              <a:rPr lang="en-US" sz="2200" b="1" dirty="0">
                <a:solidFill>
                  <a:srgbClr val="F2F2F0"/>
                </a:solidFill>
                <a:latin typeface="Arial" pitchFamily="34" charset="0"/>
                <a:ea typeface="Arial" pitchFamily="34" charset="-122"/>
                <a:cs typeface="Arial" pitchFamily="34" charset="-120"/>
              </a:rPr>
              <a:t>in disguise.</a:t>
            </a:r>
            <a:endParaRPr lang="en-US" sz="2200" dirty="0"/>
          </a:p>
        </p:txBody>
      </p:sp>
      <p:sp>
        <p:nvSpPr>
          <p:cNvPr id="8" name="Shape 5"/>
          <p:cNvSpPr/>
          <p:nvPr/>
        </p:nvSpPr>
        <p:spPr>
          <a:xfrm>
            <a:off x="5212080" y="2103120"/>
            <a:ext cx="6309360" cy="932688"/>
          </a:xfrm>
          <a:prstGeom prst="roundRect">
            <a:avLst>
              <a:gd name="adj" fmla="val 4902"/>
            </a:avLst>
          </a:prstGeom>
          <a:solidFill>
            <a:srgbClr val="1A1A1C"/>
          </a:solidFill>
          <a:ln/>
        </p:spPr>
      </p:sp>
      <p:sp>
        <p:nvSpPr>
          <p:cNvPr id="9" name="Shape 6"/>
          <p:cNvSpPr/>
          <p:nvPr/>
        </p:nvSpPr>
        <p:spPr>
          <a:xfrm>
            <a:off x="5504688" y="2523744"/>
            <a:ext cx="91440" cy="91440"/>
          </a:xfrm>
          <a:prstGeom prst="rect">
            <a:avLst/>
          </a:prstGeom>
          <a:solidFill>
            <a:srgbClr val="FF5A00"/>
          </a:solidFill>
          <a:ln/>
        </p:spPr>
      </p:sp>
      <p:sp>
        <p:nvSpPr>
          <p:cNvPr id="10" name="Text 7"/>
          <p:cNvSpPr/>
          <p:nvPr/>
        </p:nvSpPr>
        <p:spPr>
          <a:xfrm>
            <a:off x="5806440" y="2231136"/>
            <a:ext cx="5532120" cy="676656"/>
          </a:xfrm>
          <a:prstGeom prst="rect">
            <a:avLst/>
          </a:prstGeom>
          <a:noFill/>
          <a:ln/>
        </p:spPr>
        <p:txBody>
          <a:bodyPr wrap="square" lIns="0" tIns="0" rIns="0" bIns="0" rtlCol="0" anchor="ctr"/>
          <a:lstStyle/>
          <a:p>
            <a:pPr indent="0" marL="0">
              <a:buNone/>
            </a:pPr>
            <a:r>
              <a:rPr lang="en-US" sz="1500" dirty="0">
                <a:solidFill>
                  <a:srgbClr val="F2F2F0"/>
                </a:solidFill>
                <a:latin typeface="Arial" pitchFamily="34" charset="0"/>
                <a:ea typeface="Arial" pitchFamily="34" charset="-122"/>
                <a:cs typeface="Arial" pitchFamily="34" charset="-120"/>
              </a:rPr>
              <a:t>Intake off the sales line — booked, routed, history pulled</a:t>
            </a:r>
            <a:endParaRPr lang="en-US" sz="1500" dirty="0"/>
          </a:p>
        </p:txBody>
      </p:sp>
      <p:sp>
        <p:nvSpPr>
          <p:cNvPr id="11" name="Shape 8"/>
          <p:cNvSpPr/>
          <p:nvPr/>
        </p:nvSpPr>
        <p:spPr>
          <a:xfrm>
            <a:off x="5212080" y="3200400"/>
            <a:ext cx="6309360" cy="932688"/>
          </a:xfrm>
          <a:prstGeom prst="roundRect">
            <a:avLst>
              <a:gd name="adj" fmla="val 4902"/>
            </a:avLst>
          </a:prstGeom>
          <a:solidFill>
            <a:srgbClr val="1A1A1C"/>
          </a:solidFill>
          <a:ln/>
        </p:spPr>
      </p:sp>
      <p:sp>
        <p:nvSpPr>
          <p:cNvPr id="12" name="Shape 9"/>
          <p:cNvSpPr/>
          <p:nvPr/>
        </p:nvSpPr>
        <p:spPr>
          <a:xfrm>
            <a:off x="5504688" y="3621024"/>
            <a:ext cx="91440" cy="91440"/>
          </a:xfrm>
          <a:prstGeom prst="rect">
            <a:avLst/>
          </a:prstGeom>
          <a:solidFill>
            <a:srgbClr val="FF5A00"/>
          </a:solidFill>
          <a:ln/>
        </p:spPr>
      </p:sp>
      <p:sp>
        <p:nvSpPr>
          <p:cNvPr id="13" name="Text 10"/>
          <p:cNvSpPr/>
          <p:nvPr/>
        </p:nvSpPr>
        <p:spPr>
          <a:xfrm>
            <a:off x="5806440" y="3328416"/>
            <a:ext cx="5532120" cy="676656"/>
          </a:xfrm>
          <a:prstGeom prst="rect">
            <a:avLst/>
          </a:prstGeom>
          <a:noFill/>
          <a:ln/>
        </p:spPr>
        <p:txBody>
          <a:bodyPr wrap="square" lIns="0" tIns="0" rIns="0" bIns="0" rtlCol="0" anchor="ctr"/>
          <a:lstStyle/>
          <a:p>
            <a:pPr indent="0" marL="0">
              <a:buNone/>
            </a:pPr>
            <a:r>
              <a:rPr lang="en-US" sz="1500" dirty="0">
                <a:solidFill>
                  <a:srgbClr val="F2F2F0"/>
                </a:solidFill>
                <a:latin typeface="Arial" pitchFamily="34" charset="0"/>
                <a:ea typeface="Arial" pitchFamily="34" charset="-122"/>
                <a:cs typeface="Arial" pitchFamily="34" charset="-120"/>
              </a:rPr>
              <a:t>Proactive outreach by unit and age</a:t>
            </a:r>
            <a:endParaRPr lang="en-US" sz="1500" dirty="0"/>
          </a:p>
        </p:txBody>
      </p:sp>
      <p:sp>
        <p:nvSpPr>
          <p:cNvPr id="14" name="Shape 11"/>
          <p:cNvSpPr/>
          <p:nvPr/>
        </p:nvSpPr>
        <p:spPr>
          <a:xfrm>
            <a:off x="5212080" y="4297680"/>
            <a:ext cx="6309360" cy="932688"/>
          </a:xfrm>
          <a:prstGeom prst="roundRect">
            <a:avLst>
              <a:gd name="adj" fmla="val 4902"/>
            </a:avLst>
          </a:prstGeom>
          <a:solidFill>
            <a:srgbClr val="1A1A1C"/>
          </a:solidFill>
          <a:ln/>
        </p:spPr>
      </p:sp>
      <p:sp>
        <p:nvSpPr>
          <p:cNvPr id="15" name="Shape 12"/>
          <p:cNvSpPr/>
          <p:nvPr/>
        </p:nvSpPr>
        <p:spPr>
          <a:xfrm>
            <a:off x="5504688" y="4718304"/>
            <a:ext cx="91440" cy="91440"/>
          </a:xfrm>
          <a:prstGeom prst="rect">
            <a:avLst/>
          </a:prstGeom>
          <a:solidFill>
            <a:srgbClr val="FF5A00"/>
          </a:solidFill>
          <a:ln/>
        </p:spPr>
      </p:sp>
      <p:sp>
        <p:nvSpPr>
          <p:cNvPr id="16" name="Text 13"/>
          <p:cNvSpPr/>
          <p:nvPr/>
        </p:nvSpPr>
        <p:spPr>
          <a:xfrm>
            <a:off x="5806440" y="4425696"/>
            <a:ext cx="5532120" cy="676656"/>
          </a:xfrm>
          <a:prstGeom prst="rect">
            <a:avLst/>
          </a:prstGeom>
          <a:noFill/>
          <a:ln/>
        </p:spPr>
        <p:txBody>
          <a:bodyPr wrap="square" lIns="0" tIns="0" rIns="0" bIns="0" rtlCol="0" anchor="ctr"/>
          <a:lstStyle/>
          <a:p>
            <a:pPr indent="0" marL="0">
              <a:buNone/>
            </a:pPr>
            <a:r>
              <a:rPr lang="en-US" sz="1500" dirty="0">
                <a:solidFill>
                  <a:srgbClr val="F2F2F0"/>
                </a:solidFill>
                <a:latin typeface="Arial" pitchFamily="34" charset="0"/>
                <a:ea typeface="Arial" pitchFamily="34" charset="-122"/>
                <a:cs typeface="Arial" pitchFamily="34" charset="-120"/>
              </a:rPr>
              <a:t>Post-service follow-up, upsell, referral ask</a:t>
            </a:r>
            <a:endParaRPr lang="en-US" sz="15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D0D0D"/>
        </a:solidFill>
      </p:bgPr>
    </p:bg>
    <p:spTree>
      <p:nvGrpSpPr>
        <p:cNvPr id="1" name=""/>
        <p:cNvGrpSpPr/>
        <p:nvPr/>
      </p:nvGrpSpPr>
      <p:grpSpPr>
        <a:xfrm>
          <a:off x="0" y="0"/>
          <a:ext cx="0" cy="0"/>
          <a:chOff x="0" y="0"/>
          <a:chExt cx="0" cy="0"/>
        </a:xfrm>
      </p:grpSpPr>
      <p:sp>
        <p:nvSpPr>
          <p:cNvPr id="2" name="Text 0"/>
          <p:cNvSpPr/>
          <p:nvPr/>
        </p:nvSpPr>
        <p:spPr>
          <a:xfrm>
            <a:off x="685800" y="457200"/>
            <a:ext cx="7315200" cy="274320"/>
          </a:xfrm>
          <a:prstGeom prst="rect">
            <a:avLst/>
          </a:prstGeom>
          <a:noFill/>
          <a:ln/>
        </p:spPr>
        <p:txBody>
          <a:bodyPr wrap="square" lIns="0" tIns="0" rIns="0" bIns="0" rtlCol="0" anchor="ctr"/>
          <a:lstStyle/>
          <a:p>
            <a:pPr algn="l" indent="0" marL="0">
              <a:buNone/>
            </a:pPr>
            <a:r>
              <a:rPr lang="en-US" sz="1100" b="1" spc="400" kern="0" dirty="0">
                <a:solidFill>
                  <a:srgbClr val="FF5A00"/>
                </a:solidFill>
                <a:latin typeface="Arial" pitchFamily="34" charset="0"/>
                <a:ea typeface="Arial" pitchFamily="34" charset="-122"/>
                <a:cs typeface="Arial" pitchFamily="34" charset="-120"/>
              </a:rPr>
              <a:t>PILLAR 3</a:t>
            </a:r>
            <a:endParaRPr lang="en-US" sz="1100" dirty="0"/>
          </a:p>
        </p:txBody>
      </p:sp>
      <p:sp>
        <p:nvSpPr>
          <p:cNvPr id="3" name="Text 1"/>
          <p:cNvSpPr/>
          <p:nvPr/>
        </p:nvSpPr>
        <p:spPr>
          <a:xfrm>
            <a:off x="685800" y="749808"/>
            <a:ext cx="10820095" cy="777240"/>
          </a:xfrm>
          <a:prstGeom prst="rect">
            <a:avLst/>
          </a:prstGeom>
          <a:noFill/>
          <a:ln/>
        </p:spPr>
        <p:txBody>
          <a:bodyPr wrap="square" lIns="0" tIns="0" rIns="0" bIns="0" rtlCol="0" anchor="ctr"/>
          <a:lstStyle/>
          <a:p>
            <a:pPr algn="l" indent="0" marL="0">
              <a:buNone/>
            </a:pPr>
            <a:r>
              <a:rPr lang="en-US" sz="3400" b="1" dirty="0">
                <a:solidFill>
                  <a:srgbClr val="F2F2F0"/>
                </a:solidFill>
                <a:latin typeface="Arial" pitchFamily="34" charset="0"/>
                <a:ea typeface="Arial" pitchFamily="34" charset="-122"/>
                <a:cs typeface="Arial" pitchFamily="34" charset="-120"/>
              </a:rPr>
              <a:t>COMPRESS TIME-TO-CLOSE.</a:t>
            </a:r>
            <a:endParaRPr lang="en-US" sz="3400" dirty="0"/>
          </a:p>
        </p:txBody>
      </p:sp>
      <p:sp>
        <p:nvSpPr>
          <p:cNvPr id="4" name="Text 2"/>
          <p:cNvSpPr/>
          <p:nvPr/>
        </p:nvSpPr>
        <p:spPr>
          <a:xfrm>
            <a:off x="11231575" y="6382512"/>
            <a:ext cx="548640" cy="274320"/>
          </a:xfrm>
          <a:prstGeom prst="rect">
            <a:avLst/>
          </a:prstGeom>
          <a:noFill/>
          <a:ln/>
        </p:spPr>
        <p:txBody>
          <a:bodyPr wrap="square" lIns="0" tIns="0" rIns="0" bIns="0" rtlCol="0" anchor="ctr"/>
          <a:lstStyle/>
          <a:p>
            <a:pPr algn="r" indent="0" marL="0">
              <a:buNone/>
            </a:pPr>
            <a:r>
              <a:rPr lang="en-US" sz="900" dirty="0">
                <a:solidFill>
                  <a:srgbClr val="5A5A5E"/>
                </a:solidFill>
                <a:latin typeface="Arial" pitchFamily="34" charset="0"/>
                <a:ea typeface="Arial" pitchFamily="34" charset="-122"/>
                <a:cs typeface="Arial" pitchFamily="34" charset="-120"/>
              </a:rPr>
              <a:t>09</a:t>
            </a:r>
            <a:endParaRPr lang="en-US" sz="900" dirty="0"/>
          </a:p>
        </p:txBody>
      </p:sp>
      <p:sp>
        <p:nvSpPr>
          <p:cNvPr id="5" name="Shape 3"/>
          <p:cNvSpPr/>
          <p:nvPr/>
        </p:nvSpPr>
        <p:spPr>
          <a:xfrm>
            <a:off x="685800" y="2011680"/>
            <a:ext cx="1005840" cy="1005840"/>
          </a:xfrm>
          <a:prstGeom prst="ellipse">
            <a:avLst/>
          </a:prstGeom>
          <a:solidFill>
            <a:srgbClr val="0D0D0D"/>
          </a:solidFill>
          <a:ln w="15875">
            <a:solidFill>
              <a:srgbClr val="FF5A00"/>
            </a:solidFill>
            <a:prstDash val="solid"/>
          </a:ln>
        </p:spPr>
      </p:sp>
      <p:pic>
        <p:nvPicPr>
          <p:cNvPr id="6" name="Image 0" descr="/tmp/claude-0/-home-user-getoios/887612f7-bce3-5d7f-a297-e09f9aa5407b/scratchpad/deck/icons/stopwatch-orange.png">    </p:cNvPr>
          <p:cNvPicPr>
            <a:picLocks noChangeAspect="1"/>
          </p:cNvPicPr>
          <p:nvPr/>
        </p:nvPicPr>
        <p:blipFill>
          <a:blip r:embed="rId1"/>
          <a:stretch>
            <a:fillRect/>
          </a:stretch>
        </p:blipFill>
        <p:spPr>
          <a:xfrm>
            <a:off x="967435" y="2293315"/>
            <a:ext cx="442570" cy="442570"/>
          </a:xfrm>
          <a:prstGeom prst="rect">
            <a:avLst/>
          </a:prstGeom>
        </p:spPr>
      </p:pic>
      <p:sp>
        <p:nvSpPr>
          <p:cNvPr id="7" name="Text 4"/>
          <p:cNvSpPr/>
          <p:nvPr/>
        </p:nvSpPr>
        <p:spPr>
          <a:xfrm>
            <a:off x="685800" y="3337560"/>
            <a:ext cx="4114800" cy="2194560"/>
          </a:xfrm>
          <a:prstGeom prst="rect">
            <a:avLst/>
          </a:prstGeom>
          <a:noFill/>
          <a:ln/>
        </p:spPr>
        <p:txBody>
          <a:bodyPr wrap="square" lIns="0" tIns="0" rIns="0" bIns="0" rtlCol="0" anchor="ctr"/>
          <a:lstStyle/>
          <a:p>
            <a:pPr indent="0" marL="0">
              <a:lnSpc>
                <a:spcPts val="3000"/>
              </a:lnSpc>
              <a:buNone/>
            </a:pPr>
            <a:r>
              <a:rPr lang="en-US" sz="2200" b="1" dirty="0">
                <a:solidFill>
                  <a:srgbClr val="F2F2F0"/>
                </a:solidFill>
                <a:latin typeface="Arial" pitchFamily="34" charset="0"/>
                <a:ea typeface="Arial" pitchFamily="34" charset="-122"/>
                <a:cs typeface="Arial" pitchFamily="34" charset="-120"/>
              </a:rPr>
              <a:t>Speed wins</a:t>
            </a:r>
            <a:endParaRPr lang="en-US" sz="2200" dirty="0"/>
          </a:p>
          <a:p>
            <a:pPr indent="0" marL="0">
              <a:lnSpc>
                <a:spcPts val="3000"/>
              </a:lnSpc>
              <a:buNone/>
            </a:pPr>
            <a:r>
              <a:rPr lang="en-US" sz="2200" b="1" dirty="0">
                <a:solidFill>
                  <a:srgbClr val="F2F2F0"/>
                </a:solidFill>
                <a:latin typeface="Arial" pitchFamily="34" charset="0"/>
                <a:ea typeface="Arial" pitchFamily="34" charset="-122"/>
                <a:cs typeface="Arial" pitchFamily="34" charset="-120"/>
              </a:rPr>
              <a:t>remote deals.</a:t>
            </a:r>
            <a:endParaRPr lang="en-US" sz="2200" dirty="0"/>
          </a:p>
        </p:txBody>
      </p:sp>
      <p:sp>
        <p:nvSpPr>
          <p:cNvPr id="8" name="Shape 5"/>
          <p:cNvSpPr/>
          <p:nvPr/>
        </p:nvSpPr>
        <p:spPr>
          <a:xfrm>
            <a:off x="5212080" y="2103120"/>
            <a:ext cx="6309360" cy="932688"/>
          </a:xfrm>
          <a:prstGeom prst="roundRect">
            <a:avLst>
              <a:gd name="adj" fmla="val 4902"/>
            </a:avLst>
          </a:prstGeom>
          <a:solidFill>
            <a:srgbClr val="1A1A1C"/>
          </a:solidFill>
          <a:ln/>
        </p:spPr>
      </p:sp>
      <p:sp>
        <p:nvSpPr>
          <p:cNvPr id="9" name="Shape 6"/>
          <p:cNvSpPr/>
          <p:nvPr/>
        </p:nvSpPr>
        <p:spPr>
          <a:xfrm>
            <a:off x="5504688" y="2523744"/>
            <a:ext cx="91440" cy="91440"/>
          </a:xfrm>
          <a:prstGeom prst="rect">
            <a:avLst/>
          </a:prstGeom>
          <a:solidFill>
            <a:srgbClr val="FF5A00"/>
          </a:solidFill>
          <a:ln/>
        </p:spPr>
      </p:sp>
      <p:sp>
        <p:nvSpPr>
          <p:cNvPr id="10" name="Text 7"/>
          <p:cNvSpPr/>
          <p:nvPr/>
        </p:nvSpPr>
        <p:spPr>
          <a:xfrm>
            <a:off x="5806440" y="2231136"/>
            <a:ext cx="5532120" cy="676656"/>
          </a:xfrm>
          <a:prstGeom prst="rect">
            <a:avLst/>
          </a:prstGeom>
          <a:noFill/>
          <a:ln/>
        </p:spPr>
        <p:txBody>
          <a:bodyPr wrap="square" lIns="0" tIns="0" rIns="0" bIns="0" rtlCol="0" anchor="ctr"/>
          <a:lstStyle/>
          <a:p>
            <a:pPr indent="0" marL="0">
              <a:buNone/>
            </a:pPr>
            <a:r>
              <a:rPr lang="en-US" sz="1500" dirty="0">
                <a:solidFill>
                  <a:srgbClr val="F2F2F0"/>
                </a:solidFill>
                <a:latin typeface="Arial" pitchFamily="34" charset="0"/>
                <a:ea typeface="Arial" pitchFamily="34" charset="-122"/>
                <a:cs typeface="Arial" pitchFamily="34" charset="-120"/>
              </a:rPr>
              <a:t>Spec quotes in minutes, not days</a:t>
            </a:r>
            <a:endParaRPr lang="en-US" sz="1500" dirty="0"/>
          </a:p>
        </p:txBody>
      </p:sp>
      <p:sp>
        <p:nvSpPr>
          <p:cNvPr id="11" name="Shape 8"/>
          <p:cNvSpPr/>
          <p:nvPr/>
        </p:nvSpPr>
        <p:spPr>
          <a:xfrm>
            <a:off x="5212080" y="3200400"/>
            <a:ext cx="6309360" cy="932688"/>
          </a:xfrm>
          <a:prstGeom prst="roundRect">
            <a:avLst>
              <a:gd name="adj" fmla="val 4902"/>
            </a:avLst>
          </a:prstGeom>
          <a:solidFill>
            <a:srgbClr val="1A1A1C"/>
          </a:solidFill>
          <a:ln/>
        </p:spPr>
      </p:sp>
      <p:sp>
        <p:nvSpPr>
          <p:cNvPr id="12" name="Shape 9"/>
          <p:cNvSpPr/>
          <p:nvPr/>
        </p:nvSpPr>
        <p:spPr>
          <a:xfrm>
            <a:off x="5504688" y="3621024"/>
            <a:ext cx="91440" cy="91440"/>
          </a:xfrm>
          <a:prstGeom prst="rect">
            <a:avLst/>
          </a:prstGeom>
          <a:solidFill>
            <a:srgbClr val="FF5A00"/>
          </a:solidFill>
          <a:ln/>
        </p:spPr>
      </p:sp>
      <p:sp>
        <p:nvSpPr>
          <p:cNvPr id="13" name="Text 10"/>
          <p:cNvSpPr/>
          <p:nvPr/>
        </p:nvSpPr>
        <p:spPr>
          <a:xfrm>
            <a:off x="5806440" y="3328416"/>
            <a:ext cx="5532120" cy="676656"/>
          </a:xfrm>
          <a:prstGeom prst="rect">
            <a:avLst/>
          </a:prstGeom>
          <a:noFill/>
          <a:ln/>
        </p:spPr>
        <p:txBody>
          <a:bodyPr wrap="square" lIns="0" tIns="0" rIns="0" bIns="0" rtlCol="0" anchor="ctr"/>
          <a:lstStyle/>
          <a:p>
            <a:pPr indent="0" marL="0">
              <a:buNone/>
            </a:pPr>
            <a:r>
              <a:rPr lang="en-US" sz="1500" dirty="0">
                <a:solidFill>
                  <a:srgbClr val="F2F2F0"/>
                </a:solidFill>
                <a:latin typeface="Arial" pitchFamily="34" charset="0"/>
                <a:ea typeface="Arial" pitchFamily="34" charset="-122"/>
                <a:cs typeface="Arial" pitchFamily="34" charset="-120"/>
              </a:rPr>
              <a:t>Photo, spec, and video requests handled for you</a:t>
            </a:r>
            <a:endParaRPr lang="en-US" sz="1500" dirty="0"/>
          </a:p>
        </p:txBody>
      </p:sp>
      <p:sp>
        <p:nvSpPr>
          <p:cNvPr id="14" name="Shape 11"/>
          <p:cNvSpPr/>
          <p:nvPr/>
        </p:nvSpPr>
        <p:spPr>
          <a:xfrm>
            <a:off x="5212080" y="4297680"/>
            <a:ext cx="6309360" cy="932688"/>
          </a:xfrm>
          <a:prstGeom prst="roundRect">
            <a:avLst>
              <a:gd name="adj" fmla="val 4902"/>
            </a:avLst>
          </a:prstGeom>
          <a:solidFill>
            <a:srgbClr val="1A1A1C"/>
          </a:solidFill>
          <a:ln/>
        </p:spPr>
      </p:sp>
      <p:sp>
        <p:nvSpPr>
          <p:cNvPr id="15" name="Shape 12"/>
          <p:cNvSpPr/>
          <p:nvPr/>
        </p:nvSpPr>
        <p:spPr>
          <a:xfrm>
            <a:off x="5504688" y="4718304"/>
            <a:ext cx="91440" cy="91440"/>
          </a:xfrm>
          <a:prstGeom prst="rect">
            <a:avLst/>
          </a:prstGeom>
          <a:solidFill>
            <a:srgbClr val="FF5A00"/>
          </a:solidFill>
          <a:ln/>
        </p:spPr>
      </p:sp>
      <p:sp>
        <p:nvSpPr>
          <p:cNvPr id="16" name="Text 13"/>
          <p:cNvSpPr/>
          <p:nvPr/>
        </p:nvSpPr>
        <p:spPr>
          <a:xfrm>
            <a:off x="5806440" y="4425696"/>
            <a:ext cx="5532120" cy="676656"/>
          </a:xfrm>
          <a:prstGeom prst="rect">
            <a:avLst/>
          </a:prstGeom>
          <a:noFill/>
          <a:ln/>
        </p:spPr>
        <p:txBody>
          <a:bodyPr wrap="square" lIns="0" tIns="0" rIns="0" bIns="0" rtlCol="0" anchor="ctr"/>
          <a:lstStyle/>
          <a:p>
            <a:pPr indent="0" marL="0">
              <a:buNone/>
            </a:pPr>
            <a:r>
              <a:rPr lang="en-US" sz="1500" dirty="0">
                <a:solidFill>
                  <a:srgbClr val="F2F2F0"/>
                </a:solidFill>
                <a:latin typeface="Arial" pitchFamily="34" charset="0"/>
                <a:ea typeface="Arial" pitchFamily="34" charset="-122"/>
                <a:cs typeface="Arial" pitchFamily="34" charset="-120"/>
              </a:rPr>
              <a:t>Stalled buyers stay warm on a cadence</a:t>
            </a:r>
            <a:endParaRPr lang="en-US" sz="1500" dirty="0"/>
          </a:p>
        </p:txBody>
      </p:sp>
      <p:sp>
        <p:nvSpPr>
          <p:cNvPr id="17" name="Shape 14"/>
          <p:cNvSpPr/>
          <p:nvPr/>
        </p:nvSpPr>
        <p:spPr>
          <a:xfrm>
            <a:off x="5212080" y="5394960"/>
            <a:ext cx="6309360" cy="932688"/>
          </a:xfrm>
          <a:prstGeom prst="roundRect">
            <a:avLst>
              <a:gd name="adj" fmla="val 4902"/>
            </a:avLst>
          </a:prstGeom>
          <a:solidFill>
            <a:srgbClr val="1A1A1C"/>
          </a:solidFill>
          <a:ln/>
        </p:spPr>
      </p:sp>
      <p:sp>
        <p:nvSpPr>
          <p:cNvPr id="18" name="Shape 15"/>
          <p:cNvSpPr/>
          <p:nvPr/>
        </p:nvSpPr>
        <p:spPr>
          <a:xfrm>
            <a:off x="5504688" y="5815584"/>
            <a:ext cx="91440" cy="91440"/>
          </a:xfrm>
          <a:prstGeom prst="rect">
            <a:avLst/>
          </a:prstGeom>
          <a:solidFill>
            <a:srgbClr val="FF5A00"/>
          </a:solidFill>
          <a:ln/>
        </p:spPr>
      </p:sp>
      <p:sp>
        <p:nvSpPr>
          <p:cNvPr id="19" name="Text 16"/>
          <p:cNvSpPr/>
          <p:nvPr/>
        </p:nvSpPr>
        <p:spPr>
          <a:xfrm>
            <a:off x="5806440" y="5522976"/>
            <a:ext cx="5532120" cy="676656"/>
          </a:xfrm>
          <a:prstGeom prst="rect">
            <a:avLst/>
          </a:prstGeom>
          <a:noFill/>
          <a:ln/>
        </p:spPr>
        <p:txBody>
          <a:bodyPr wrap="square" lIns="0" tIns="0" rIns="0" bIns="0" rtlCol="0" anchor="ctr"/>
          <a:lstStyle/>
          <a:p>
            <a:pPr indent="0" marL="0">
              <a:buNone/>
            </a:pPr>
            <a:r>
              <a:rPr lang="en-US" sz="1500" dirty="0">
                <a:solidFill>
                  <a:srgbClr val="F2F2F0"/>
                </a:solidFill>
                <a:latin typeface="Arial" pitchFamily="34" charset="0"/>
                <a:ea typeface="Arial" pitchFamily="34" charset="-122"/>
                <a:cs typeface="Arial" pitchFamily="34" charset="-120"/>
              </a:rPr>
              <a:t>Trades and consignments never go quiet</a:t>
            </a:r>
            <a:endParaRPr lang="en-US" sz="15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D0D0D"/>
        </a:solidFill>
      </p:bgPr>
    </p:bg>
    <p:spTree>
      <p:nvGrpSpPr>
        <p:cNvPr id="1" name=""/>
        <p:cNvGrpSpPr/>
        <p:nvPr/>
      </p:nvGrpSpPr>
      <p:grpSpPr>
        <a:xfrm>
          <a:off x="0" y="0"/>
          <a:ext cx="0" cy="0"/>
          <a:chOff x="0" y="0"/>
          <a:chExt cx="0" cy="0"/>
        </a:xfrm>
      </p:grpSpPr>
      <p:sp>
        <p:nvSpPr>
          <p:cNvPr id="2" name="Text 0"/>
          <p:cNvSpPr/>
          <p:nvPr/>
        </p:nvSpPr>
        <p:spPr>
          <a:xfrm>
            <a:off x="685800" y="457200"/>
            <a:ext cx="7315200" cy="274320"/>
          </a:xfrm>
          <a:prstGeom prst="rect">
            <a:avLst/>
          </a:prstGeom>
          <a:noFill/>
          <a:ln/>
        </p:spPr>
        <p:txBody>
          <a:bodyPr wrap="square" lIns="0" tIns="0" rIns="0" bIns="0" rtlCol="0" anchor="ctr"/>
          <a:lstStyle/>
          <a:p>
            <a:pPr algn="l" indent="0" marL="0">
              <a:buNone/>
            </a:pPr>
            <a:r>
              <a:rPr lang="en-US" sz="1100" b="1" spc="400" kern="0" dirty="0">
                <a:solidFill>
                  <a:srgbClr val="FF5A00"/>
                </a:solidFill>
                <a:latin typeface="Arial" pitchFamily="34" charset="0"/>
                <a:ea typeface="Arial" pitchFamily="34" charset="-122"/>
                <a:cs typeface="Arial" pitchFamily="34" charset="-120"/>
              </a:rPr>
              <a:t>PILLAR 4</a:t>
            </a:r>
            <a:endParaRPr lang="en-US" sz="1100" dirty="0"/>
          </a:p>
        </p:txBody>
      </p:sp>
      <p:sp>
        <p:nvSpPr>
          <p:cNvPr id="3" name="Text 1"/>
          <p:cNvSpPr/>
          <p:nvPr/>
        </p:nvSpPr>
        <p:spPr>
          <a:xfrm>
            <a:off x="685800" y="749808"/>
            <a:ext cx="10820095" cy="777240"/>
          </a:xfrm>
          <a:prstGeom prst="rect">
            <a:avLst/>
          </a:prstGeom>
          <a:noFill/>
          <a:ln/>
        </p:spPr>
        <p:txBody>
          <a:bodyPr wrap="square" lIns="0" tIns="0" rIns="0" bIns="0" rtlCol="0" anchor="ctr"/>
          <a:lstStyle/>
          <a:p>
            <a:pPr algn="l" indent="0" marL="0">
              <a:buNone/>
            </a:pPr>
            <a:r>
              <a:rPr lang="en-US" sz="3400" b="1" dirty="0">
                <a:solidFill>
                  <a:srgbClr val="F2F2F0"/>
                </a:solidFill>
                <a:latin typeface="Arial" pitchFamily="34" charset="0"/>
                <a:ea typeface="Arial" pitchFamily="34" charset="-122"/>
                <a:cs typeface="Arial" pitchFamily="34" charset="-120"/>
              </a:rPr>
              <a:t>KNOW WHAT'S ACTUALLY HAPPENING.</a:t>
            </a:r>
            <a:endParaRPr lang="en-US" sz="3400" dirty="0"/>
          </a:p>
        </p:txBody>
      </p:sp>
      <p:sp>
        <p:nvSpPr>
          <p:cNvPr id="4" name="Text 2"/>
          <p:cNvSpPr/>
          <p:nvPr/>
        </p:nvSpPr>
        <p:spPr>
          <a:xfrm>
            <a:off x="11231575" y="6382512"/>
            <a:ext cx="548640" cy="274320"/>
          </a:xfrm>
          <a:prstGeom prst="rect">
            <a:avLst/>
          </a:prstGeom>
          <a:noFill/>
          <a:ln/>
        </p:spPr>
        <p:txBody>
          <a:bodyPr wrap="square" lIns="0" tIns="0" rIns="0" bIns="0" rtlCol="0" anchor="ctr"/>
          <a:lstStyle/>
          <a:p>
            <a:pPr algn="r" indent="0" marL="0">
              <a:buNone/>
            </a:pPr>
            <a:r>
              <a:rPr lang="en-US" sz="900" dirty="0">
                <a:solidFill>
                  <a:srgbClr val="5A5A5E"/>
                </a:solidFill>
                <a:latin typeface="Arial" pitchFamily="34" charset="0"/>
                <a:ea typeface="Arial" pitchFamily="34" charset="-122"/>
                <a:cs typeface="Arial" pitchFamily="34" charset="-120"/>
              </a:rPr>
              <a:t>10</a:t>
            </a:r>
            <a:endParaRPr lang="en-US" sz="900" dirty="0"/>
          </a:p>
        </p:txBody>
      </p:sp>
      <p:sp>
        <p:nvSpPr>
          <p:cNvPr id="5" name="Shape 3"/>
          <p:cNvSpPr/>
          <p:nvPr/>
        </p:nvSpPr>
        <p:spPr>
          <a:xfrm>
            <a:off x="685800" y="2011680"/>
            <a:ext cx="1005840" cy="1005840"/>
          </a:xfrm>
          <a:prstGeom prst="ellipse">
            <a:avLst/>
          </a:prstGeom>
          <a:solidFill>
            <a:srgbClr val="0D0D0D"/>
          </a:solidFill>
          <a:ln w="15875">
            <a:solidFill>
              <a:srgbClr val="FF5A00"/>
            </a:solidFill>
            <a:prstDash val="solid"/>
          </a:ln>
        </p:spPr>
      </p:sp>
      <p:pic>
        <p:nvPicPr>
          <p:cNvPr id="6" name="Image 0" descr="/tmp/claude-0/-home-user-getoios/887612f7-bce3-5d7f-a297-e09f9aa5407b/scratchpad/deck/icons/chart-orange.png">    </p:cNvPr>
          <p:cNvPicPr>
            <a:picLocks noChangeAspect="1"/>
          </p:cNvPicPr>
          <p:nvPr/>
        </p:nvPicPr>
        <p:blipFill>
          <a:blip r:embed="rId1"/>
          <a:stretch>
            <a:fillRect/>
          </a:stretch>
        </p:blipFill>
        <p:spPr>
          <a:xfrm>
            <a:off x="967435" y="2293315"/>
            <a:ext cx="442570" cy="442570"/>
          </a:xfrm>
          <a:prstGeom prst="rect">
            <a:avLst/>
          </a:prstGeom>
        </p:spPr>
      </p:pic>
      <p:sp>
        <p:nvSpPr>
          <p:cNvPr id="7" name="Text 4"/>
          <p:cNvSpPr/>
          <p:nvPr/>
        </p:nvSpPr>
        <p:spPr>
          <a:xfrm>
            <a:off x="685800" y="3337560"/>
            <a:ext cx="4114800" cy="2194560"/>
          </a:xfrm>
          <a:prstGeom prst="rect">
            <a:avLst/>
          </a:prstGeom>
          <a:noFill/>
          <a:ln/>
        </p:spPr>
        <p:txBody>
          <a:bodyPr wrap="square" lIns="0" tIns="0" rIns="0" bIns="0" rtlCol="0" anchor="ctr"/>
          <a:lstStyle/>
          <a:p>
            <a:pPr indent="0" marL="0">
              <a:lnSpc>
                <a:spcPts val="3000"/>
              </a:lnSpc>
              <a:buNone/>
            </a:pPr>
            <a:r>
              <a:rPr lang="en-US" sz="2200" b="1" dirty="0">
                <a:solidFill>
                  <a:srgbClr val="F2F2F0"/>
                </a:solidFill>
                <a:latin typeface="Arial" pitchFamily="34" charset="0"/>
                <a:ea typeface="Arial" pitchFamily="34" charset="-122"/>
                <a:cs typeface="Arial" pitchFamily="34" charset="-120"/>
              </a:rPr>
              <a:t>Not automation.</a:t>
            </a:r>
            <a:endParaRPr lang="en-US" sz="2200" dirty="0"/>
          </a:p>
          <a:p>
            <a:pPr indent="0" marL="0">
              <a:lnSpc>
                <a:spcPts val="3000"/>
              </a:lnSpc>
              <a:buNone/>
            </a:pPr>
            <a:r>
              <a:rPr lang="en-US" sz="2200" b="1" dirty="0">
                <a:solidFill>
                  <a:srgbClr val="F2F2F0"/>
                </a:solidFill>
                <a:latin typeface="Arial" pitchFamily="34" charset="0"/>
                <a:ea typeface="Arial" pitchFamily="34" charset="-122"/>
                <a:cs typeface="Arial" pitchFamily="34" charset="-120"/>
              </a:rPr>
              <a:t>Intelligence.</a:t>
            </a:r>
            <a:endParaRPr lang="en-US" sz="2200" dirty="0"/>
          </a:p>
        </p:txBody>
      </p:sp>
      <p:sp>
        <p:nvSpPr>
          <p:cNvPr id="8" name="Shape 5"/>
          <p:cNvSpPr/>
          <p:nvPr/>
        </p:nvSpPr>
        <p:spPr>
          <a:xfrm>
            <a:off x="5212080" y="2103120"/>
            <a:ext cx="6309360" cy="932688"/>
          </a:xfrm>
          <a:prstGeom prst="roundRect">
            <a:avLst>
              <a:gd name="adj" fmla="val 4902"/>
            </a:avLst>
          </a:prstGeom>
          <a:solidFill>
            <a:srgbClr val="1A1A1C"/>
          </a:solidFill>
          <a:ln/>
        </p:spPr>
      </p:sp>
      <p:sp>
        <p:nvSpPr>
          <p:cNvPr id="9" name="Shape 6"/>
          <p:cNvSpPr/>
          <p:nvPr/>
        </p:nvSpPr>
        <p:spPr>
          <a:xfrm>
            <a:off x="5504688" y="2523744"/>
            <a:ext cx="91440" cy="91440"/>
          </a:xfrm>
          <a:prstGeom prst="rect">
            <a:avLst/>
          </a:prstGeom>
          <a:solidFill>
            <a:srgbClr val="FF5A00"/>
          </a:solidFill>
          <a:ln/>
        </p:spPr>
      </p:sp>
      <p:sp>
        <p:nvSpPr>
          <p:cNvPr id="10" name="Text 7"/>
          <p:cNvSpPr/>
          <p:nvPr/>
        </p:nvSpPr>
        <p:spPr>
          <a:xfrm>
            <a:off x="5806440" y="2231136"/>
            <a:ext cx="5532120" cy="676656"/>
          </a:xfrm>
          <a:prstGeom prst="rect">
            <a:avLst/>
          </a:prstGeom>
          <a:noFill/>
          <a:ln/>
        </p:spPr>
        <p:txBody>
          <a:bodyPr wrap="square" lIns="0" tIns="0" rIns="0" bIns="0" rtlCol="0" anchor="ctr"/>
          <a:lstStyle/>
          <a:p>
            <a:pPr indent="0" marL="0">
              <a:buNone/>
            </a:pPr>
            <a:r>
              <a:rPr lang="en-US" sz="1500" dirty="0">
                <a:solidFill>
                  <a:srgbClr val="F2F2F0"/>
                </a:solidFill>
                <a:latin typeface="Arial" pitchFamily="34" charset="0"/>
                <a:ea typeface="Arial" pitchFamily="34" charset="-122"/>
                <a:cs typeface="Arial" pitchFamily="34" charset="-120"/>
              </a:rPr>
              <a:t>Deals at risk — gone quiet, tone shift, stalled</a:t>
            </a:r>
            <a:endParaRPr lang="en-US" sz="1500" dirty="0"/>
          </a:p>
        </p:txBody>
      </p:sp>
      <p:sp>
        <p:nvSpPr>
          <p:cNvPr id="11" name="Shape 8"/>
          <p:cNvSpPr/>
          <p:nvPr/>
        </p:nvSpPr>
        <p:spPr>
          <a:xfrm>
            <a:off x="5212080" y="3200400"/>
            <a:ext cx="6309360" cy="932688"/>
          </a:xfrm>
          <a:prstGeom prst="roundRect">
            <a:avLst>
              <a:gd name="adj" fmla="val 4902"/>
            </a:avLst>
          </a:prstGeom>
          <a:solidFill>
            <a:srgbClr val="1A1A1C"/>
          </a:solidFill>
          <a:ln/>
        </p:spPr>
      </p:sp>
      <p:sp>
        <p:nvSpPr>
          <p:cNvPr id="12" name="Shape 9"/>
          <p:cNvSpPr/>
          <p:nvPr/>
        </p:nvSpPr>
        <p:spPr>
          <a:xfrm>
            <a:off x="5504688" y="3621024"/>
            <a:ext cx="91440" cy="91440"/>
          </a:xfrm>
          <a:prstGeom prst="rect">
            <a:avLst/>
          </a:prstGeom>
          <a:solidFill>
            <a:srgbClr val="FF5A00"/>
          </a:solidFill>
          <a:ln/>
        </p:spPr>
      </p:sp>
      <p:sp>
        <p:nvSpPr>
          <p:cNvPr id="13" name="Text 10"/>
          <p:cNvSpPr/>
          <p:nvPr/>
        </p:nvSpPr>
        <p:spPr>
          <a:xfrm>
            <a:off x="5806440" y="3328416"/>
            <a:ext cx="5532120" cy="676656"/>
          </a:xfrm>
          <a:prstGeom prst="rect">
            <a:avLst/>
          </a:prstGeom>
          <a:noFill/>
          <a:ln/>
        </p:spPr>
        <p:txBody>
          <a:bodyPr wrap="square" lIns="0" tIns="0" rIns="0" bIns="0" rtlCol="0" anchor="ctr"/>
          <a:lstStyle/>
          <a:p>
            <a:pPr indent="0" marL="0">
              <a:buNone/>
            </a:pPr>
            <a:r>
              <a:rPr lang="en-US" sz="1500" dirty="0">
                <a:solidFill>
                  <a:srgbClr val="F2F2F0"/>
                </a:solidFill>
                <a:latin typeface="Arial" pitchFamily="34" charset="0"/>
                <a:ea typeface="Arial" pitchFamily="34" charset="-122"/>
                <a:cs typeface="Arial" pitchFamily="34" charset="-120"/>
              </a:rPr>
              <a:t>What buyers keep asking for that you don't stock</a:t>
            </a:r>
            <a:endParaRPr lang="en-US" sz="1500" dirty="0"/>
          </a:p>
        </p:txBody>
      </p:sp>
      <p:sp>
        <p:nvSpPr>
          <p:cNvPr id="14" name="Shape 11"/>
          <p:cNvSpPr/>
          <p:nvPr/>
        </p:nvSpPr>
        <p:spPr>
          <a:xfrm>
            <a:off x="5212080" y="4297680"/>
            <a:ext cx="6309360" cy="932688"/>
          </a:xfrm>
          <a:prstGeom prst="roundRect">
            <a:avLst>
              <a:gd name="adj" fmla="val 4902"/>
            </a:avLst>
          </a:prstGeom>
          <a:solidFill>
            <a:srgbClr val="1A1A1C"/>
          </a:solidFill>
          <a:ln/>
        </p:spPr>
      </p:sp>
      <p:sp>
        <p:nvSpPr>
          <p:cNvPr id="15" name="Shape 12"/>
          <p:cNvSpPr/>
          <p:nvPr/>
        </p:nvSpPr>
        <p:spPr>
          <a:xfrm>
            <a:off x="5504688" y="4718304"/>
            <a:ext cx="91440" cy="91440"/>
          </a:xfrm>
          <a:prstGeom prst="rect">
            <a:avLst/>
          </a:prstGeom>
          <a:solidFill>
            <a:srgbClr val="FF5A00"/>
          </a:solidFill>
          <a:ln/>
        </p:spPr>
      </p:sp>
      <p:sp>
        <p:nvSpPr>
          <p:cNvPr id="16" name="Text 13"/>
          <p:cNvSpPr/>
          <p:nvPr/>
        </p:nvSpPr>
        <p:spPr>
          <a:xfrm>
            <a:off x="5806440" y="4425696"/>
            <a:ext cx="5532120" cy="676656"/>
          </a:xfrm>
          <a:prstGeom prst="rect">
            <a:avLst/>
          </a:prstGeom>
          <a:noFill/>
          <a:ln/>
        </p:spPr>
        <p:txBody>
          <a:bodyPr wrap="square" lIns="0" tIns="0" rIns="0" bIns="0" rtlCol="0" anchor="ctr"/>
          <a:lstStyle/>
          <a:p>
            <a:pPr indent="0" marL="0">
              <a:buNone/>
            </a:pPr>
            <a:r>
              <a:rPr lang="en-US" sz="1500" dirty="0">
                <a:solidFill>
                  <a:srgbClr val="F2F2F0"/>
                </a:solidFill>
                <a:latin typeface="Arial" pitchFamily="34" charset="0"/>
                <a:ea typeface="Arial" pitchFamily="34" charset="-122"/>
                <a:cs typeface="Arial" pitchFamily="34" charset="-120"/>
              </a:rPr>
              <a:t>Which inventory drives conversation — and which sits</a:t>
            </a:r>
            <a:endParaRPr lang="en-US" sz="1500" dirty="0"/>
          </a:p>
        </p:txBody>
      </p:sp>
      <p:sp>
        <p:nvSpPr>
          <p:cNvPr id="17" name="Shape 14"/>
          <p:cNvSpPr/>
          <p:nvPr/>
        </p:nvSpPr>
        <p:spPr>
          <a:xfrm>
            <a:off x="5212080" y="5394960"/>
            <a:ext cx="6309360" cy="932688"/>
          </a:xfrm>
          <a:prstGeom prst="roundRect">
            <a:avLst>
              <a:gd name="adj" fmla="val 4902"/>
            </a:avLst>
          </a:prstGeom>
          <a:solidFill>
            <a:srgbClr val="1A1A1C"/>
          </a:solidFill>
          <a:ln/>
        </p:spPr>
      </p:sp>
      <p:sp>
        <p:nvSpPr>
          <p:cNvPr id="18" name="Shape 15"/>
          <p:cNvSpPr/>
          <p:nvPr/>
        </p:nvSpPr>
        <p:spPr>
          <a:xfrm>
            <a:off x="5504688" y="5815584"/>
            <a:ext cx="91440" cy="91440"/>
          </a:xfrm>
          <a:prstGeom prst="rect">
            <a:avLst/>
          </a:prstGeom>
          <a:solidFill>
            <a:srgbClr val="FF5A00"/>
          </a:solidFill>
          <a:ln/>
        </p:spPr>
      </p:sp>
      <p:sp>
        <p:nvSpPr>
          <p:cNvPr id="19" name="Text 16"/>
          <p:cNvSpPr/>
          <p:nvPr/>
        </p:nvSpPr>
        <p:spPr>
          <a:xfrm>
            <a:off x="5806440" y="5522976"/>
            <a:ext cx="5532120" cy="676656"/>
          </a:xfrm>
          <a:prstGeom prst="rect">
            <a:avLst/>
          </a:prstGeom>
          <a:noFill/>
          <a:ln/>
        </p:spPr>
        <p:txBody>
          <a:bodyPr wrap="square" lIns="0" tIns="0" rIns="0" bIns="0" rtlCol="0" anchor="ctr"/>
          <a:lstStyle/>
          <a:p>
            <a:pPr indent="0" marL="0">
              <a:buNone/>
            </a:pPr>
            <a:r>
              <a:rPr lang="en-US" sz="1500" dirty="0">
                <a:solidFill>
                  <a:srgbClr val="F2F2F0"/>
                </a:solidFill>
                <a:latin typeface="Arial" pitchFamily="34" charset="0"/>
                <a:ea typeface="Arial" pitchFamily="34" charset="-122"/>
                <a:cs typeface="Arial" pitchFamily="34" charset="-120"/>
              </a:rPr>
              <a:t>A Monday brief: what happened, what needs you</a:t>
            </a:r>
            <a:endParaRPr lang="en-US" sz="15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D0D0D"/>
        </a:solidFill>
      </p:bgPr>
    </p:bg>
    <p:spTree>
      <p:nvGrpSpPr>
        <p:cNvPr id="1" name=""/>
        <p:cNvGrpSpPr/>
        <p:nvPr/>
      </p:nvGrpSpPr>
      <p:grpSpPr>
        <a:xfrm>
          <a:off x="0" y="0"/>
          <a:ext cx="0" cy="0"/>
          <a:chOff x="0" y="0"/>
          <a:chExt cx="0" cy="0"/>
        </a:xfrm>
      </p:grpSpPr>
      <p:sp>
        <p:nvSpPr>
          <p:cNvPr id="2" name="Text 0"/>
          <p:cNvSpPr/>
          <p:nvPr/>
        </p:nvSpPr>
        <p:spPr>
          <a:xfrm>
            <a:off x="685800" y="457200"/>
            <a:ext cx="7315200" cy="274320"/>
          </a:xfrm>
          <a:prstGeom prst="rect">
            <a:avLst/>
          </a:prstGeom>
          <a:noFill/>
          <a:ln/>
        </p:spPr>
        <p:txBody>
          <a:bodyPr wrap="square" lIns="0" tIns="0" rIns="0" bIns="0" rtlCol="0" anchor="ctr"/>
          <a:lstStyle/>
          <a:p>
            <a:pPr algn="l" indent="0" marL="0">
              <a:buNone/>
            </a:pPr>
            <a:r>
              <a:rPr lang="en-US" sz="1100" b="1" spc="400" kern="0" dirty="0">
                <a:solidFill>
                  <a:srgbClr val="FF5A00"/>
                </a:solidFill>
                <a:latin typeface="Arial" pitchFamily="34" charset="0"/>
                <a:ea typeface="Arial" pitchFamily="34" charset="-122"/>
                <a:cs typeface="Arial" pitchFamily="34" charset="-120"/>
              </a:rPr>
              <a:t>THE OUT-OF-STATE PLAY</a:t>
            </a:r>
            <a:endParaRPr lang="en-US" sz="1100" dirty="0"/>
          </a:p>
        </p:txBody>
      </p:sp>
      <p:sp>
        <p:nvSpPr>
          <p:cNvPr id="3" name="Text 1"/>
          <p:cNvSpPr/>
          <p:nvPr/>
        </p:nvSpPr>
        <p:spPr>
          <a:xfrm>
            <a:off x="685800" y="749808"/>
            <a:ext cx="6858000" cy="777240"/>
          </a:xfrm>
          <a:prstGeom prst="rect">
            <a:avLst/>
          </a:prstGeom>
          <a:noFill/>
          <a:ln/>
        </p:spPr>
        <p:txBody>
          <a:bodyPr wrap="square" lIns="0" tIns="0" rIns="0" bIns="0" rtlCol="0" anchor="ctr"/>
          <a:lstStyle/>
          <a:p>
            <a:pPr algn="l" indent="0" marL="0">
              <a:buNone/>
            </a:pPr>
            <a:r>
              <a:rPr lang="en-US" sz="3400" b="1" dirty="0">
                <a:solidFill>
                  <a:srgbClr val="F2F2F0"/>
                </a:solidFill>
                <a:latin typeface="Arial" pitchFamily="34" charset="0"/>
                <a:ea typeface="Arial" pitchFamily="34" charset="-122"/>
                <a:cs typeface="Arial" pitchFamily="34" charset="-120"/>
              </a:rPr>
              <a:t>YOUR BUYERS AREN'T LOCAL.</a:t>
            </a:r>
            <a:endParaRPr lang="en-US" sz="3400" dirty="0"/>
          </a:p>
        </p:txBody>
      </p:sp>
      <p:sp>
        <p:nvSpPr>
          <p:cNvPr id="4" name="Text 2"/>
          <p:cNvSpPr/>
          <p:nvPr/>
        </p:nvSpPr>
        <p:spPr>
          <a:xfrm>
            <a:off x="11231575" y="6382512"/>
            <a:ext cx="548640" cy="274320"/>
          </a:xfrm>
          <a:prstGeom prst="rect">
            <a:avLst/>
          </a:prstGeom>
          <a:noFill/>
          <a:ln/>
        </p:spPr>
        <p:txBody>
          <a:bodyPr wrap="square" lIns="0" tIns="0" rIns="0" bIns="0" rtlCol="0" anchor="ctr"/>
          <a:lstStyle/>
          <a:p>
            <a:pPr algn="r" indent="0" marL="0">
              <a:buNone/>
            </a:pPr>
            <a:r>
              <a:rPr lang="en-US" sz="900" dirty="0">
                <a:solidFill>
                  <a:srgbClr val="5A5A5E"/>
                </a:solidFill>
                <a:latin typeface="Arial" pitchFamily="34" charset="0"/>
                <a:ea typeface="Arial" pitchFamily="34" charset="-122"/>
                <a:cs typeface="Arial" pitchFamily="34" charset="-120"/>
              </a:rPr>
              <a:t>11</a:t>
            </a:r>
            <a:endParaRPr lang="en-US" sz="900" dirty="0"/>
          </a:p>
        </p:txBody>
      </p:sp>
      <p:sp>
        <p:nvSpPr>
          <p:cNvPr id="5" name="Text 3"/>
          <p:cNvSpPr/>
          <p:nvPr/>
        </p:nvSpPr>
        <p:spPr>
          <a:xfrm>
            <a:off x="685800" y="2194560"/>
            <a:ext cx="5394960" cy="1371600"/>
          </a:xfrm>
          <a:prstGeom prst="rect">
            <a:avLst/>
          </a:prstGeom>
          <a:noFill/>
          <a:ln/>
        </p:spPr>
        <p:txBody>
          <a:bodyPr wrap="square" lIns="0" tIns="0" rIns="0" bIns="0" rtlCol="0" anchor="ctr"/>
          <a:lstStyle/>
          <a:p>
            <a:pPr indent="0" marL="0">
              <a:lnSpc>
                <a:spcPts val="3200"/>
              </a:lnSpc>
              <a:buNone/>
            </a:pPr>
            <a:r>
              <a:rPr lang="en-US" sz="2400" b="1" dirty="0">
                <a:solidFill>
                  <a:srgbClr val="F2F2F0"/>
                </a:solidFill>
                <a:latin typeface="Arial" pitchFamily="34" charset="0"/>
                <a:ea typeface="Arial" pitchFamily="34" charset="-122"/>
                <a:cs typeface="Arial" pitchFamily="34" charset="-120"/>
              </a:rPr>
              <a:t>Your reviews already prove it: </a:t>
            </a:r>
            <a:pPr indent="0" marL="0">
              <a:lnSpc>
                <a:spcPts val="3200"/>
              </a:lnSpc>
              <a:buNone/>
            </a:pPr>
            <a:r>
              <a:rPr lang="en-US" sz="2400" b="1" dirty="0">
                <a:solidFill>
                  <a:srgbClr val="FF5A00"/>
                </a:solidFill>
                <a:latin typeface="Arial" pitchFamily="34" charset="0"/>
                <a:ea typeface="Arial" pitchFamily="34" charset="-122"/>
                <a:cs typeface="Arial" pitchFamily="34" charset="-120"/>
              </a:rPr>
              <a:t>buyers purchase sight-unseen.</a:t>
            </a:r>
            <a:endParaRPr lang="en-US" sz="2400" dirty="0"/>
          </a:p>
        </p:txBody>
      </p:sp>
      <p:sp>
        <p:nvSpPr>
          <p:cNvPr id="6" name="Text 4"/>
          <p:cNvSpPr/>
          <p:nvPr/>
        </p:nvSpPr>
        <p:spPr>
          <a:xfrm>
            <a:off x="685800" y="3794760"/>
            <a:ext cx="5120640" cy="1005840"/>
          </a:xfrm>
          <a:prstGeom prst="rect">
            <a:avLst/>
          </a:prstGeom>
          <a:noFill/>
          <a:ln/>
        </p:spPr>
        <p:txBody>
          <a:bodyPr wrap="square" lIns="0" tIns="0" rIns="0" bIns="0" rtlCol="0" anchor="ctr"/>
          <a:lstStyle/>
          <a:p>
            <a:pPr indent="0" marL="0">
              <a:lnSpc>
                <a:spcPts val="2400"/>
              </a:lnSpc>
              <a:buNone/>
            </a:pPr>
            <a:r>
              <a:rPr lang="en-US" sz="1600" dirty="0">
                <a:solidFill>
                  <a:srgbClr val="9A9A9E"/>
                </a:solidFill>
                <a:latin typeface="Arial" pitchFamily="34" charset="0"/>
                <a:ea typeface="Arial" pitchFamily="34" charset="-122"/>
                <a:cs typeface="Arial" pitchFamily="34" charset="-120"/>
              </a:rPr>
              <a:t>Remote buyers need fast, detailed, patient answers — around the clock. That's the layer.</a:t>
            </a:r>
            <a:endParaRPr lang="en-US" sz="1600" dirty="0"/>
          </a:p>
        </p:txBody>
      </p:sp>
      <p:sp>
        <p:nvSpPr>
          <p:cNvPr id="7" name="Shape 5"/>
          <p:cNvSpPr/>
          <p:nvPr/>
        </p:nvSpPr>
        <p:spPr>
          <a:xfrm>
            <a:off x="6355080" y="1143000"/>
            <a:ext cx="5303520" cy="5303520"/>
          </a:xfrm>
          <a:prstGeom prst="ellipse">
            <a:avLst/>
          </a:prstGeom>
          <a:solidFill>
            <a:srgbClr val="0D0D0D"/>
          </a:solidFill>
          <a:ln w="12700">
            <a:solidFill>
              <a:srgbClr val="3A3A3E"/>
            </a:solidFill>
            <a:prstDash val="solid"/>
          </a:ln>
        </p:spPr>
      </p:sp>
      <p:sp>
        <p:nvSpPr>
          <p:cNvPr id="8" name="Shape 6"/>
          <p:cNvSpPr/>
          <p:nvPr/>
        </p:nvSpPr>
        <p:spPr>
          <a:xfrm>
            <a:off x="7132320" y="1920240"/>
            <a:ext cx="3749040" cy="3749040"/>
          </a:xfrm>
          <a:prstGeom prst="ellipse">
            <a:avLst/>
          </a:prstGeom>
          <a:solidFill>
            <a:srgbClr val="0D0D0D"/>
          </a:solidFill>
          <a:ln w="12700">
            <a:solidFill>
              <a:srgbClr val="3A3A3E"/>
            </a:solidFill>
            <a:prstDash val="solid"/>
          </a:ln>
        </p:spPr>
      </p:sp>
      <p:sp>
        <p:nvSpPr>
          <p:cNvPr id="9" name="Shape 7"/>
          <p:cNvSpPr/>
          <p:nvPr/>
        </p:nvSpPr>
        <p:spPr>
          <a:xfrm>
            <a:off x="7909560" y="2697480"/>
            <a:ext cx="2194560" cy="2194560"/>
          </a:xfrm>
          <a:prstGeom prst="ellipse">
            <a:avLst/>
          </a:prstGeom>
          <a:solidFill>
            <a:srgbClr val="0D0D0D"/>
          </a:solidFill>
          <a:ln w="12700">
            <a:solidFill>
              <a:srgbClr val="3A3A3E"/>
            </a:solidFill>
            <a:prstDash val="solid"/>
          </a:ln>
        </p:spPr>
      </p:sp>
      <p:sp>
        <p:nvSpPr>
          <p:cNvPr id="10" name="Shape 8"/>
          <p:cNvSpPr/>
          <p:nvPr/>
        </p:nvSpPr>
        <p:spPr>
          <a:xfrm>
            <a:off x="8924544" y="3712464"/>
            <a:ext cx="164592" cy="164592"/>
          </a:xfrm>
          <a:prstGeom prst="ellipse">
            <a:avLst/>
          </a:prstGeom>
          <a:solidFill>
            <a:srgbClr val="FF5A00"/>
          </a:solidFill>
          <a:ln/>
        </p:spPr>
      </p:sp>
      <p:sp>
        <p:nvSpPr>
          <p:cNvPr id="11" name="Text 9"/>
          <p:cNvSpPr/>
          <p:nvPr/>
        </p:nvSpPr>
        <p:spPr>
          <a:xfrm>
            <a:off x="8275320" y="3922776"/>
            <a:ext cx="1463040" cy="256032"/>
          </a:xfrm>
          <a:prstGeom prst="rect">
            <a:avLst/>
          </a:prstGeom>
          <a:noFill/>
          <a:ln/>
        </p:spPr>
        <p:txBody>
          <a:bodyPr wrap="square" lIns="0" tIns="0" rIns="0" bIns="0" rtlCol="0" anchor="ctr"/>
          <a:lstStyle/>
          <a:p>
            <a:pPr algn="ctr" indent="0" marL="0">
              <a:buNone/>
            </a:pPr>
            <a:r>
              <a:rPr lang="en-US" sz="1100" b="1" dirty="0">
                <a:solidFill>
                  <a:srgbClr val="FF5A00"/>
                </a:solidFill>
                <a:latin typeface="Arial" pitchFamily="34" charset="0"/>
                <a:ea typeface="Arial" pitchFamily="34" charset="-122"/>
                <a:cs typeface="Arial" pitchFamily="34" charset="-120"/>
              </a:rPr>
              <a:t>PADUCAH</a:t>
            </a:r>
            <a:endParaRPr lang="en-US" sz="1100" dirty="0"/>
          </a:p>
        </p:txBody>
      </p:sp>
      <p:sp>
        <p:nvSpPr>
          <p:cNvPr id="12" name="Text 10"/>
          <p:cNvSpPr/>
          <p:nvPr/>
        </p:nvSpPr>
        <p:spPr>
          <a:xfrm>
            <a:off x="9144000" y="2313432"/>
            <a:ext cx="2194560" cy="274320"/>
          </a:xfrm>
          <a:prstGeom prst="rect">
            <a:avLst/>
          </a:prstGeom>
          <a:noFill/>
          <a:ln/>
        </p:spPr>
        <p:txBody>
          <a:bodyPr wrap="square" lIns="0" tIns="0" rIns="0" bIns="0" rtlCol="0" anchor="ctr"/>
          <a:lstStyle/>
          <a:p>
            <a:pPr indent="0" marL="0">
              <a:buNone/>
            </a:pPr>
            <a:r>
              <a:rPr lang="en-US" sz="1150" dirty="0">
                <a:solidFill>
                  <a:srgbClr val="9A9A9E"/>
                </a:solidFill>
                <a:latin typeface="Arial" pitchFamily="34" charset="0"/>
                <a:ea typeface="Arial" pitchFamily="34" charset="-122"/>
                <a:cs typeface="Arial" pitchFamily="34" charset="-120"/>
              </a:rPr>
              <a:t>Nashville · BNA ~2 hrs</a:t>
            </a:r>
            <a:endParaRPr lang="en-US" sz="1150" dirty="0"/>
          </a:p>
        </p:txBody>
      </p:sp>
      <p:sp>
        <p:nvSpPr>
          <p:cNvPr id="13" name="Text 11"/>
          <p:cNvSpPr/>
          <p:nvPr/>
        </p:nvSpPr>
        <p:spPr>
          <a:xfrm>
            <a:off x="6492240" y="2926080"/>
            <a:ext cx="2194560" cy="274320"/>
          </a:xfrm>
          <a:prstGeom prst="rect">
            <a:avLst/>
          </a:prstGeom>
          <a:noFill/>
          <a:ln/>
        </p:spPr>
        <p:txBody>
          <a:bodyPr wrap="square" lIns="0" tIns="0" rIns="0" bIns="0" rtlCol="0" anchor="ctr"/>
          <a:lstStyle/>
          <a:p>
            <a:pPr indent="0" marL="0">
              <a:buNone/>
            </a:pPr>
            <a:r>
              <a:rPr lang="en-US" sz="1150" dirty="0">
                <a:solidFill>
                  <a:srgbClr val="9A9A9E"/>
                </a:solidFill>
                <a:latin typeface="Arial" pitchFamily="34" charset="0"/>
                <a:ea typeface="Arial" pitchFamily="34" charset="-122"/>
                <a:cs typeface="Arial" pitchFamily="34" charset="-120"/>
              </a:rPr>
              <a:t>St. Louis</a:t>
            </a:r>
            <a:endParaRPr lang="en-US" sz="1150" dirty="0"/>
          </a:p>
        </p:txBody>
      </p:sp>
      <p:sp>
        <p:nvSpPr>
          <p:cNvPr id="14" name="Text 12"/>
          <p:cNvSpPr/>
          <p:nvPr/>
        </p:nvSpPr>
        <p:spPr>
          <a:xfrm>
            <a:off x="6903720" y="4754880"/>
            <a:ext cx="2194560" cy="274320"/>
          </a:xfrm>
          <a:prstGeom prst="rect">
            <a:avLst/>
          </a:prstGeom>
          <a:noFill/>
          <a:ln/>
        </p:spPr>
        <p:txBody>
          <a:bodyPr wrap="square" lIns="0" tIns="0" rIns="0" bIns="0" rtlCol="0" anchor="ctr"/>
          <a:lstStyle/>
          <a:p>
            <a:pPr indent="0" marL="0">
              <a:buNone/>
            </a:pPr>
            <a:r>
              <a:rPr lang="en-US" sz="1150" dirty="0">
                <a:solidFill>
                  <a:srgbClr val="9A9A9E"/>
                </a:solidFill>
                <a:latin typeface="Arial" pitchFamily="34" charset="0"/>
                <a:ea typeface="Arial" pitchFamily="34" charset="-122"/>
                <a:cs typeface="Arial" pitchFamily="34" charset="-120"/>
              </a:rPr>
              <a:t>Memphis</a:t>
            </a:r>
            <a:endParaRPr lang="en-US" sz="1150" dirty="0"/>
          </a:p>
        </p:txBody>
      </p:sp>
      <p:sp>
        <p:nvSpPr>
          <p:cNvPr id="15" name="Text 13"/>
          <p:cNvSpPr/>
          <p:nvPr/>
        </p:nvSpPr>
        <p:spPr>
          <a:xfrm>
            <a:off x="9235440" y="5623560"/>
            <a:ext cx="2194560" cy="274320"/>
          </a:xfrm>
          <a:prstGeom prst="rect">
            <a:avLst/>
          </a:prstGeom>
          <a:noFill/>
          <a:ln/>
        </p:spPr>
        <p:txBody>
          <a:bodyPr wrap="square" lIns="0" tIns="0" rIns="0" bIns="0" rtlCol="0" anchor="ctr"/>
          <a:lstStyle/>
          <a:p>
            <a:pPr indent="0" marL="0">
              <a:buNone/>
            </a:pPr>
            <a:r>
              <a:rPr lang="en-US" sz="1150" dirty="0">
                <a:solidFill>
                  <a:srgbClr val="9A9A9E"/>
                </a:solidFill>
                <a:latin typeface="Arial" pitchFamily="34" charset="0"/>
                <a:ea typeface="Arial" pitchFamily="34" charset="-122"/>
                <a:cs typeface="Arial" pitchFamily="34" charset="-120"/>
              </a:rPr>
              <a:t>Anyone with a phone</a:t>
            </a:r>
            <a:endParaRPr lang="en-US" sz="11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D0D0D"/>
        </a:solidFill>
      </p:bgPr>
    </p:bg>
    <p:spTree>
      <p:nvGrpSpPr>
        <p:cNvPr id="1" name=""/>
        <p:cNvGrpSpPr/>
        <p:nvPr/>
      </p:nvGrpSpPr>
      <p:grpSpPr>
        <a:xfrm>
          <a:off x="0" y="0"/>
          <a:ext cx="0" cy="0"/>
          <a:chOff x="0" y="0"/>
          <a:chExt cx="0" cy="0"/>
        </a:xfrm>
      </p:grpSpPr>
      <p:sp>
        <p:nvSpPr>
          <p:cNvPr id="2" name="Text 0"/>
          <p:cNvSpPr/>
          <p:nvPr/>
        </p:nvSpPr>
        <p:spPr>
          <a:xfrm>
            <a:off x="685800" y="457200"/>
            <a:ext cx="7315200" cy="274320"/>
          </a:xfrm>
          <a:prstGeom prst="rect">
            <a:avLst/>
          </a:prstGeom>
          <a:noFill/>
          <a:ln/>
        </p:spPr>
        <p:txBody>
          <a:bodyPr wrap="square" lIns="0" tIns="0" rIns="0" bIns="0" rtlCol="0" anchor="ctr"/>
          <a:lstStyle/>
          <a:p>
            <a:pPr algn="l" indent="0" marL="0">
              <a:buNone/>
            </a:pPr>
            <a:r>
              <a:rPr lang="en-US" sz="1100" b="1" spc="400" kern="0" dirty="0">
                <a:solidFill>
                  <a:srgbClr val="FF5A00"/>
                </a:solidFill>
                <a:latin typeface="Arial" pitchFamily="34" charset="0"/>
                <a:ea typeface="Arial" pitchFamily="34" charset="-122"/>
                <a:cs typeface="Arial" pitchFamily="34" charset="-120"/>
              </a:rPr>
              <a:t>WHAT CHANGES</a:t>
            </a:r>
            <a:endParaRPr lang="en-US" sz="1100" dirty="0"/>
          </a:p>
        </p:txBody>
      </p:sp>
      <p:sp>
        <p:nvSpPr>
          <p:cNvPr id="3" name="Text 1"/>
          <p:cNvSpPr/>
          <p:nvPr/>
        </p:nvSpPr>
        <p:spPr>
          <a:xfrm>
            <a:off x="685800" y="749808"/>
            <a:ext cx="10820095" cy="777240"/>
          </a:xfrm>
          <a:prstGeom prst="rect">
            <a:avLst/>
          </a:prstGeom>
          <a:noFill/>
          <a:ln/>
        </p:spPr>
        <p:txBody>
          <a:bodyPr wrap="square" lIns="0" tIns="0" rIns="0" bIns="0" rtlCol="0" anchor="ctr"/>
          <a:lstStyle/>
          <a:p>
            <a:pPr algn="l" indent="0" marL="0">
              <a:buNone/>
            </a:pPr>
            <a:r>
              <a:rPr lang="en-US" sz="3400" b="1" dirty="0">
                <a:solidFill>
                  <a:srgbClr val="F2F2F0"/>
                </a:solidFill>
                <a:latin typeface="Arial" pitchFamily="34" charset="0"/>
                <a:ea typeface="Arial" pitchFamily="34" charset="-122"/>
                <a:cs typeface="Arial" pitchFamily="34" charset="-120"/>
              </a:rPr>
              <a:t>90 DAYS, BEFORE AND AFTER.</a:t>
            </a:r>
            <a:endParaRPr lang="en-US" sz="3400" dirty="0"/>
          </a:p>
        </p:txBody>
      </p:sp>
      <p:sp>
        <p:nvSpPr>
          <p:cNvPr id="4" name="Text 2"/>
          <p:cNvSpPr/>
          <p:nvPr/>
        </p:nvSpPr>
        <p:spPr>
          <a:xfrm>
            <a:off x="11231575" y="6382512"/>
            <a:ext cx="548640" cy="274320"/>
          </a:xfrm>
          <a:prstGeom prst="rect">
            <a:avLst/>
          </a:prstGeom>
          <a:noFill/>
          <a:ln/>
        </p:spPr>
        <p:txBody>
          <a:bodyPr wrap="square" lIns="0" tIns="0" rIns="0" bIns="0" rtlCol="0" anchor="ctr"/>
          <a:lstStyle/>
          <a:p>
            <a:pPr algn="r" indent="0" marL="0">
              <a:buNone/>
            </a:pPr>
            <a:r>
              <a:rPr lang="en-US" sz="900" dirty="0">
                <a:solidFill>
                  <a:srgbClr val="5A5A5E"/>
                </a:solidFill>
                <a:latin typeface="Arial" pitchFamily="34" charset="0"/>
                <a:ea typeface="Arial" pitchFamily="34" charset="-122"/>
                <a:cs typeface="Arial" pitchFamily="34" charset="-120"/>
              </a:rPr>
              <a:t>12</a:t>
            </a:r>
            <a:endParaRPr lang="en-US" sz="900" dirty="0"/>
          </a:p>
        </p:txBody>
      </p:sp>
      <p:sp>
        <p:nvSpPr>
          <p:cNvPr id="5" name="Text 3"/>
          <p:cNvSpPr/>
          <p:nvPr/>
        </p:nvSpPr>
        <p:spPr>
          <a:xfrm>
            <a:off x="685800" y="1828800"/>
            <a:ext cx="5074920" cy="320040"/>
          </a:xfrm>
          <a:prstGeom prst="rect">
            <a:avLst/>
          </a:prstGeom>
          <a:noFill/>
          <a:ln/>
        </p:spPr>
        <p:txBody>
          <a:bodyPr wrap="square" lIns="0" tIns="0" rIns="0" bIns="0" rtlCol="0" anchor="ctr"/>
          <a:lstStyle/>
          <a:p>
            <a:pPr indent="0" marL="0">
              <a:buNone/>
            </a:pPr>
            <a:r>
              <a:rPr lang="en-US" sz="1300" b="1" spc="300" kern="0" dirty="0">
                <a:solidFill>
                  <a:srgbClr val="5A5A5E"/>
                </a:solidFill>
                <a:latin typeface="Arial" pitchFamily="34" charset="0"/>
                <a:ea typeface="Arial" pitchFamily="34" charset="-122"/>
                <a:cs typeface="Arial" pitchFamily="34" charset="-120"/>
              </a:rPr>
              <a:t>TODAY</a:t>
            </a:r>
            <a:endParaRPr lang="en-US" sz="1300" dirty="0"/>
          </a:p>
        </p:txBody>
      </p:sp>
      <p:sp>
        <p:nvSpPr>
          <p:cNvPr id="6" name="Text 4"/>
          <p:cNvSpPr/>
          <p:nvPr/>
        </p:nvSpPr>
        <p:spPr>
          <a:xfrm>
            <a:off x="6430975" y="1828800"/>
            <a:ext cx="5074920" cy="320040"/>
          </a:xfrm>
          <a:prstGeom prst="rect">
            <a:avLst/>
          </a:prstGeom>
          <a:noFill/>
          <a:ln/>
        </p:spPr>
        <p:txBody>
          <a:bodyPr wrap="square" lIns="0" tIns="0" rIns="0" bIns="0" rtlCol="0" anchor="ctr"/>
          <a:lstStyle/>
          <a:p>
            <a:pPr indent="0" marL="0">
              <a:buNone/>
            </a:pPr>
            <a:r>
              <a:rPr lang="en-US" sz="1300" b="1" spc="300" kern="0" dirty="0">
                <a:solidFill>
                  <a:srgbClr val="FF5A00"/>
                </a:solidFill>
                <a:latin typeface="Arial" pitchFamily="34" charset="0"/>
                <a:ea typeface="Arial" pitchFamily="34" charset="-122"/>
                <a:cs typeface="Arial" pitchFamily="34" charset="-120"/>
              </a:rPr>
              <a:t>DAY 90</a:t>
            </a:r>
            <a:endParaRPr lang="en-US" sz="1300" dirty="0"/>
          </a:p>
        </p:txBody>
      </p:sp>
      <p:sp>
        <p:nvSpPr>
          <p:cNvPr id="7" name="Shape 5"/>
          <p:cNvSpPr/>
          <p:nvPr/>
        </p:nvSpPr>
        <p:spPr>
          <a:xfrm>
            <a:off x="685800" y="2286000"/>
            <a:ext cx="5074920" cy="841248"/>
          </a:xfrm>
          <a:prstGeom prst="roundRect">
            <a:avLst>
              <a:gd name="adj" fmla="val 5435"/>
            </a:avLst>
          </a:prstGeom>
          <a:solidFill>
            <a:srgbClr val="1A1A1C"/>
          </a:solidFill>
          <a:ln/>
        </p:spPr>
      </p:sp>
      <p:sp>
        <p:nvSpPr>
          <p:cNvPr id="8" name="Text 6"/>
          <p:cNvSpPr/>
          <p:nvPr/>
        </p:nvSpPr>
        <p:spPr>
          <a:xfrm>
            <a:off x="960120" y="2395728"/>
            <a:ext cx="4526280" cy="621792"/>
          </a:xfrm>
          <a:prstGeom prst="rect">
            <a:avLst/>
          </a:prstGeom>
          <a:noFill/>
          <a:ln/>
        </p:spPr>
        <p:txBody>
          <a:bodyPr wrap="square" lIns="0" tIns="0" rIns="0" bIns="0" rtlCol="0" anchor="ctr"/>
          <a:lstStyle/>
          <a:p>
            <a:pPr indent="0" marL="0">
              <a:buNone/>
            </a:pPr>
            <a:r>
              <a:rPr lang="en-US" sz="1450" dirty="0">
                <a:solidFill>
                  <a:srgbClr val="9A9A9E"/>
                </a:solidFill>
                <a:latin typeface="Arial" pitchFamily="34" charset="0"/>
                <a:ea typeface="Arial" pitchFamily="34" charset="-122"/>
                <a:cs typeface="Arial" pitchFamily="34" charset="-120"/>
              </a:rPr>
              <a:t>Leads die in voicemail</a:t>
            </a:r>
            <a:endParaRPr lang="en-US" sz="1450" dirty="0"/>
          </a:p>
        </p:txBody>
      </p:sp>
      <p:sp>
        <p:nvSpPr>
          <p:cNvPr id="9" name="Shape 7"/>
          <p:cNvSpPr/>
          <p:nvPr/>
        </p:nvSpPr>
        <p:spPr>
          <a:xfrm>
            <a:off x="5998464" y="2624328"/>
            <a:ext cx="182880" cy="164592"/>
          </a:xfrm>
          <a:prstGeom prst="chevron">
            <a:avLst/>
          </a:prstGeom>
          <a:solidFill>
            <a:srgbClr val="FF5A00"/>
          </a:solidFill>
          <a:ln/>
        </p:spPr>
      </p:sp>
      <p:sp>
        <p:nvSpPr>
          <p:cNvPr id="10" name="Shape 8"/>
          <p:cNvSpPr/>
          <p:nvPr/>
        </p:nvSpPr>
        <p:spPr>
          <a:xfrm>
            <a:off x="6430975" y="2286000"/>
            <a:ext cx="5074920" cy="841248"/>
          </a:xfrm>
          <a:prstGeom prst="roundRect">
            <a:avLst>
              <a:gd name="adj" fmla="val 5435"/>
            </a:avLst>
          </a:prstGeom>
          <a:solidFill>
            <a:srgbClr val="222226"/>
          </a:solidFill>
          <a:ln/>
        </p:spPr>
      </p:sp>
      <p:sp>
        <p:nvSpPr>
          <p:cNvPr id="11" name="Text 9"/>
          <p:cNvSpPr/>
          <p:nvPr/>
        </p:nvSpPr>
        <p:spPr>
          <a:xfrm>
            <a:off x="6705295" y="2395728"/>
            <a:ext cx="4526280" cy="621792"/>
          </a:xfrm>
          <a:prstGeom prst="rect">
            <a:avLst/>
          </a:prstGeom>
          <a:noFill/>
          <a:ln/>
        </p:spPr>
        <p:txBody>
          <a:bodyPr wrap="square" lIns="0" tIns="0" rIns="0" bIns="0" rtlCol="0" anchor="ctr"/>
          <a:lstStyle/>
          <a:p>
            <a:pPr indent="0" marL="0">
              <a:buNone/>
            </a:pPr>
            <a:r>
              <a:rPr lang="en-US" sz="1450" b="1" dirty="0">
                <a:solidFill>
                  <a:srgbClr val="F2F2F0"/>
                </a:solidFill>
                <a:latin typeface="Arial" pitchFamily="34" charset="0"/>
                <a:ea typeface="Arial" pitchFamily="34" charset="-122"/>
                <a:cs typeface="Arial" pitchFamily="34" charset="-120"/>
              </a:rPr>
              <a:t>Every inquiry answered in seconds</a:t>
            </a:r>
            <a:endParaRPr lang="en-US" sz="1450" dirty="0"/>
          </a:p>
        </p:txBody>
      </p:sp>
      <p:sp>
        <p:nvSpPr>
          <p:cNvPr id="12" name="Shape 10"/>
          <p:cNvSpPr/>
          <p:nvPr/>
        </p:nvSpPr>
        <p:spPr>
          <a:xfrm>
            <a:off x="685800" y="3291840"/>
            <a:ext cx="5074920" cy="841248"/>
          </a:xfrm>
          <a:prstGeom prst="roundRect">
            <a:avLst>
              <a:gd name="adj" fmla="val 5435"/>
            </a:avLst>
          </a:prstGeom>
          <a:solidFill>
            <a:srgbClr val="1A1A1C"/>
          </a:solidFill>
          <a:ln/>
        </p:spPr>
      </p:sp>
      <p:sp>
        <p:nvSpPr>
          <p:cNvPr id="13" name="Text 11"/>
          <p:cNvSpPr/>
          <p:nvPr/>
        </p:nvSpPr>
        <p:spPr>
          <a:xfrm>
            <a:off x="960120" y="3401568"/>
            <a:ext cx="4526280" cy="621792"/>
          </a:xfrm>
          <a:prstGeom prst="rect">
            <a:avLst/>
          </a:prstGeom>
          <a:noFill/>
          <a:ln/>
        </p:spPr>
        <p:txBody>
          <a:bodyPr wrap="square" lIns="0" tIns="0" rIns="0" bIns="0" rtlCol="0" anchor="ctr"/>
          <a:lstStyle/>
          <a:p>
            <a:pPr indent="0" marL="0">
              <a:buNone/>
            </a:pPr>
            <a:r>
              <a:rPr lang="en-US" sz="1450" dirty="0">
                <a:solidFill>
                  <a:srgbClr val="9A9A9E"/>
                </a:solidFill>
                <a:latin typeface="Arial" pitchFamily="34" charset="0"/>
                <a:ea typeface="Arial" pitchFamily="34" charset="-122"/>
                <a:cs typeface="Arial" pitchFamily="34" charset="-120"/>
              </a:rPr>
              <a:t>Deals live in your head</a:t>
            </a:r>
            <a:endParaRPr lang="en-US" sz="1450" dirty="0"/>
          </a:p>
        </p:txBody>
      </p:sp>
      <p:sp>
        <p:nvSpPr>
          <p:cNvPr id="14" name="Shape 12"/>
          <p:cNvSpPr/>
          <p:nvPr/>
        </p:nvSpPr>
        <p:spPr>
          <a:xfrm>
            <a:off x="5998464" y="3630168"/>
            <a:ext cx="182880" cy="164592"/>
          </a:xfrm>
          <a:prstGeom prst="chevron">
            <a:avLst/>
          </a:prstGeom>
          <a:solidFill>
            <a:srgbClr val="FF5A00"/>
          </a:solidFill>
          <a:ln/>
        </p:spPr>
      </p:sp>
      <p:sp>
        <p:nvSpPr>
          <p:cNvPr id="15" name="Shape 13"/>
          <p:cNvSpPr/>
          <p:nvPr/>
        </p:nvSpPr>
        <p:spPr>
          <a:xfrm>
            <a:off x="6430975" y="3291840"/>
            <a:ext cx="5074920" cy="841248"/>
          </a:xfrm>
          <a:prstGeom prst="roundRect">
            <a:avLst>
              <a:gd name="adj" fmla="val 5435"/>
            </a:avLst>
          </a:prstGeom>
          <a:solidFill>
            <a:srgbClr val="222226"/>
          </a:solidFill>
          <a:ln/>
        </p:spPr>
      </p:sp>
      <p:sp>
        <p:nvSpPr>
          <p:cNvPr id="16" name="Text 14"/>
          <p:cNvSpPr/>
          <p:nvPr/>
        </p:nvSpPr>
        <p:spPr>
          <a:xfrm>
            <a:off x="6705295" y="3401568"/>
            <a:ext cx="4526280" cy="621792"/>
          </a:xfrm>
          <a:prstGeom prst="rect">
            <a:avLst/>
          </a:prstGeom>
          <a:noFill/>
          <a:ln/>
        </p:spPr>
        <p:txBody>
          <a:bodyPr wrap="square" lIns="0" tIns="0" rIns="0" bIns="0" rtlCol="0" anchor="ctr"/>
          <a:lstStyle/>
          <a:p>
            <a:pPr indent="0" marL="0">
              <a:buNone/>
            </a:pPr>
            <a:r>
              <a:rPr lang="en-US" sz="1450" b="1" dirty="0">
                <a:solidFill>
                  <a:srgbClr val="F2F2F0"/>
                </a:solidFill>
                <a:latin typeface="Arial" pitchFamily="34" charset="0"/>
                <a:ea typeface="Arial" pitchFamily="34" charset="-122"/>
                <a:cs typeface="Arial" pitchFamily="34" charset="-120"/>
              </a:rPr>
              <a:t>Every conversation captured, searchable</a:t>
            </a:r>
            <a:endParaRPr lang="en-US" sz="1450" dirty="0"/>
          </a:p>
        </p:txBody>
      </p:sp>
      <p:sp>
        <p:nvSpPr>
          <p:cNvPr id="17" name="Shape 15"/>
          <p:cNvSpPr/>
          <p:nvPr/>
        </p:nvSpPr>
        <p:spPr>
          <a:xfrm>
            <a:off x="685800" y="4297680"/>
            <a:ext cx="5074920" cy="841248"/>
          </a:xfrm>
          <a:prstGeom prst="roundRect">
            <a:avLst>
              <a:gd name="adj" fmla="val 5435"/>
            </a:avLst>
          </a:prstGeom>
          <a:solidFill>
            <a:srgbClr val="1A1A1C"/>
          </a:solidFill>
          <a:ln/>
        </p:spPr>
      </p:sp>
      <p:sp>
        <p:nvSpPr>
          <p:cNvPr id="18" name="Text 16"/>
          <p:cNvSpPr/>
          <p:nvPr/>
        </p:nvSpPr>
        <p:spPr>
          <a:xfrm>
            <a:off x="960120" y="4407408"/>
            <a:ext cx="4526280" cy="621792"/>
          </a:xfrm>
          <a:prstGeom prst="rect">
            <a:avLst/>
          </a:prstGeom>
          <a:noFill/>
          <a:ln/>
        </p:spPr>
        <p:txBody>
          <a:bodyPr wrap="square" lIns="0" tIns="0" rIns="0" bIns="0" rtlCol="0" anchor="ctr"/>
          <a:lstStyle/>
          <a:p>
            <a:pPr indent="0" marL="0">
              <a:buNone/>
            </a:pPr>
            <a:r>
              <a:rPr lang="en-US" sz="1450" dirty="0">
                <a:solidFill>
                  <a:srgbClr val="9A9A9E"/>
                </a:solidFill>
                <a:latin typeface="Arial" pitchFamily="34" charset="0"/>
                <a:ea typeface="Arial" pitchFamily="34" charset="-122"/>
                <a:cs typeface="Arial" pitchFamily="34" charset="-120"/>
              </a:rPr>
              <a:t>Follow-up when you remember</a:t>
            </a:r>
            <a:endParaRPr lang="en-US" sz="1450" dirty="0"/>
          </a:p>
        </p:txBody>
      </p:sp>
      <p:sp>
        <p:nvSpPr>
          <p:cNvPr id="19" name="Shape 17"/>
          <p:cNvSpPr/>
          <p:nvPr/>
        </p:nvSpPr>
        <p:spPr>
          <a:xfrm>
            <a:off x="5998464" y="4636008"/>
            <a:ext cx="182880" cy="164592"/>
          </a:xfrm>
          <a:prstGeom prst="chevron">
            <a:avLst/>
          </a:prstGeom>
          <a:solidFill>
            <a:srgbClr val="FF5A00"/>
          </a:solidFill>
          <a:ln/>
        </p:spPr>
      </p:sp>
      <p:sp>
        <p:nvSpPr>
          <p:cNvPr id="20" name="Shape 18"/>
          <p:cNvSpPr/>
          <p:nvPr/>
        </p:nvSpPr>
        <p:spPr>
          <a:xfrm>
            <a:off x="6430975" y="4297680"/>
            <a:ext cx="5074920" cy="841248"/>
          </a:xfrm>
          <a:prstGeom prst="roundRect">
            <a:avLst>
              <a:gd name="adj" fmla="val 5435"/>
            </a:avLst>
          </a:prstGeom>
          <a:solidFill>
            <a:srgbClr val="222226"/>
          </a:solidFill>
          <a:ln/>
        </p:spPr>
      </p:sp>
      <p:sp>
        <p:nvSpPr>
          <p:cNvPr id="21" name="Text 19"/>
          <p:cNvSpPr/>
          <p:nvPr/>
        </p:nvSpPr>
        <p:spPr>
          <a:xfrm>
            <a:off x="6705295" y="4407408"/>
            <a:ext cx="4526280" cy="621792"/>
          </a:xfrm>
          <a:prstGeom prst="rect">
            <a:avLst/>
          </a:prstGeom>
          <a:noFill/>
          <a:ln/>
        </p:spPr>
        <p:txBody>
          <a:bodyPr wrap="square" lIns="0" tIns="0" rIns="0" bIns="0" rtlCol="0" anchor="ctr"/>
          <a:lstStyle/>
          <a:p>
            <a:pPr indent="0" marL="0">
              <a:buNone/>
            </a:pPr>
            <a:r>
              <a:rPr lang="en-US" sz="1450" b="1" dirty="0">
                <a:solidFill>
                  <a:srgbClr val="F2F2F0"/>
                </a:solidFill>
                <a:latin typeface="Arial" pitchFamily="34" charset="0"/>
                <a:ea typeface="Arial" pitchFamily="34" charset="-122"/>
                <a:cs typeface="Arial" pitchFamily="34" charset="-120"/>
              </a:rPr>
              <a:t>Follow-up on a system</a:t>
            </a:r>
            <a:endParaRPr lang="en-US" sz="1450" dirty="0"/>
          </a:p>
        </p:txBody>
      </p:sp>
      <p:sp>
        <p:nvSpPr>
          <p:cNvPr id="22" name="Shape 20"/>
          <p:cNvSpPr/>
          <p:nvPr/>
        </p:nvSpPr>
        <p:spPr>
          <a:xfrm>
            <a:off x="685800" y="5303520"/>
            <a:ext cx="5074920" cy="841248"/>
          </a:xfrm>
          <a:prstGeom prst="roundRect">
            <a:avLst>
              <a:gd name="adj" fmla="val 5435"/>
            </a:avLst>
          </a:prstGeom>
          <a:solidFill>
            <a:srgbClr val="1A1A1C"/>
          </a:solidFill>
          <a:ln/>
        </p:spPr>
      </p:sp>
      <p:sp>
        <p:nvSpPr>
          <p:cNvPr id="23" name="Text 21"/>
          <p:cNvSpPr/>
          <p:nvPr/>
        </p:nvSpPr>
        <p:spPr>
          <a:xfrm>
            <a:off x="960120" y="5413248"/>
            <a:ext cx="4526280" cy="621792"/>
          </a:xfrm>
          <a:prstGeom prst="rect">
            <a:avLst/>
          </a:prstGeom>
          <a:noFill/>
          <a:ln/>
        </p:spPr>
        <p:txBody>
          <a:bodyPr wrap="square" lIns="0" tIns="0" rIns="0" bIns="0" rtlCol="0" anchor="ctr"/>
          <a:lstStyle/>
          <a:p>
            <a:pPr indent="0" marL="0">
              <a:buNone/>
            </a:pPr>
            <a:r>
              <a:rPr lang="en-US" sz="1450" dirty="0">
                <a:solidFill>
                  <a:srgbClr val="9A9A9E"/>
                </a:solidFill>
                <a:latin typeface="Arial" pitchFamily="34" charset="0"/>
                <a:ea typeface="Arial" pitchFamily="34" charset="-122"/>
                <a:cs typeface="Arial" pitchFamily="34" charset="-120"/>
              </a:rPr>
              <a:t>Monday starts with guesswork</a:t>
            </a:r>
            <a:endParaRPr lang="en-US" sz="1450" dirty="0"/>
          </a:p>
        </p:txBody>
      </p:sp>
      <p:sp>
        <p:nvSpPr>
          <p:cNvPr id="24" name="Shape 22"/>
          <p:cNvSpPr/>
          <p:nvPr/>
        </p:nvSpPr>
        <p:spPr>
          <a:xfrm>
            <a:off x="5998464" y="5641848"/>
            <a:ext cx="182880" cy="164592"/>
          </a:xfrm>
          <a:prstGeom prst="chevron">
            <a:avLst/>
          </a:prstGeom>
          <a:solidFill>
            <a:srgbClr val="FF5A00"/>
          </a:solidFill>
          <a:ln/>
        </p:spPr>
      </p:sp>
      <p:sp>
        <p:nvSpPr>
          <p:cNvPr id="25" name="Shape 23"/>
          <p:cNvSpPr/>
          <p:nvPr/>
        </p:nvSpPr>
        <p:spPr>
          <a:xfrm>
            <a:off x="6430975" y="5303520"/>
            <a:ext cx="5074920" cy="841248"/>
          </a:xfrm>
          <a:prstGeom prst="roundRect">
            <a:avLst>
              <a:gd name="adj" fmla="val 5435"/>
            </a:avLst>
          </a:prstGeom>
          <a:solidFill>
            <a:srgbClr val="222226"/>
          </a:solidFill>
          <a:ln/>
        </p:spPr>
      </p:sp>
      <p:sp>
        <p:nvSpPr>
          <p:cNvPr id="26" name="Text 24"/>
          <p:cNvSpPr/>
          <p:nvPr/>
        </p:nvSpPr>
        <p:spPr>
          <a:xfrm>
            <a:off x="6705295" y="5413248"/>
            <a:ext cx="4526280" cy="621792"/>
          </a:xfrm>
          <a:prstGeom prst="rect">
            <a:avLst/>
          </a:prstGeom>
          <a:noFill/>
          <a:ln/>
        </p:spPr>
        <p:txBody>
          <a:bodyPr wrap="square" lIns="0" tIns="0" rIns="0" bIns="0" rtlCol="0" anchor="ctr"/>
          <a:lstStyle/>
          <a:p>
            <a:pPr indent="0" marL="0">
              <a:buNone/>
            </a:pPr>
            <a:r>
              <a:rPr lang="en-US" sz="1450" b="1" dirty="0">
                <a:solidFill>
                  <a:srgbClr val="F2F2F0"/>
                </a:solidFill>
                <a:latin typeface="Arial" pitchFamily="34" charset="0"/>
                <a:ea typeface="Arial" pitchFamily="34" charset="-122"/>
                <a:cs typeface="Arial" pitchFamily="34" charset="-120"/>
              </a:rPr>
              <a:t>Monday starts with a brief</a:t>
            </a:r>
            <a:endParaRPr lang="en-US" sz="14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D0D0D"/>
        </a:solidFill>
      </p:bgPr>
    </p:bg>
    <p:spTree>
      <p:nvGrpSpPr>
        <p:cNvPr id="1" name=""/>
        <p:cNvGrpSpPr/>
        <p:nvPr/>
      </p:nvGrpSpPr>
      <p:grpSpPr>
        <a:xfrm>
          <a:off x="0" y="0"/>
          <a:ext cx="0" cy="0"/>
          <a:chOff x="0" y="0"/>
          <a:chExt cx="0" cy="0"/>
        </a:xfrm>
      </p:grpSpPr>
      <p:sp>
        <p:nvSpPr>
          <p:cNvPr id="2" name="Text 0"/>
          <p:cNvSpPr/>
          <p:nvPr/>
        </p:nvSpPr>
        <p:spPr>
          <a:xfrm>
            <a:off x="685800" y="457200"/>
            <a:ext cx="7315200" cy="274320"/>
          </a:xfrm>
          <a:prstGeom prst="rect">
            <a:avLst/>
          </a:prstGeom>
          <a:noFill/>
          <a:ln/>
        </p:spPr>
        <p:txBody>
          <a:bodyPr wrap="square" lIns="0" tIns="0" rIns="0" bIns="0" rtlCol="0" anchor="ctr"/>
          <a:lstStyle/>
          <a:p>
            <a:pPr algn="l" indent="0" marL="0">
              <a:buNone/>
            </a:pPr>
            <a:r>
              <a:rPr lang="en-US" sz="1100" b="1" spc="400" kern="0" dirty="0">
                <a:solidFill>
                  <a:srgbClr val="FF5A00"/>
                </a:solidFill>
                <a:latin typeface="Arial" pitchFamily="34" charset="0"/>
                <a:ea typeface="Arial" pitchFamily="34" charset="-122"/>
                <a:cs typeface="Arial" pitchFamily="34" charset="-120"/>
              </a:rPr>
              <a:t>ROLLOUT</a:t>
            </a:r>
            <a:endParaRPr lang="en-US" sz="1100" dirty="0"/>
          </a:p>
        </p:txBody>
      </p:sp>
      <p:sp>
        <p:nvSpPr>
          <p:cNvPr id="3" name="Text 1"/>
          <p:cNvSpPr/>
          <p:nvPr/>
        </p:nvSpPr>
        <p:spPr>
          <a:xfrm>
            <a:off x="685800" y="749808"/>
            <a:ext cx="10820095" cy="777240"/>
          </a:xfrm>
          <a:prstGeom prst="rect">
            <a:avLst/>
          </a:prstGeom>
          <a:noFill/>
          <a:ln/>
        </p:spPr>
        <p:txBody>
          <a:bodyPr wrap="square" lIns="0" tIns="0" rIns="0" bIns="0" rtlCol="0" anchor="ctr"/>
          <a:lstStyle/>
          <a:p>
            <a:pPr algn="l" indent="0" marL="0">
              <a:buNone/>
            </a:pPr>
            <a:r>
              <a:rPr lang="en-US" sz="3400" b="1" dirty="0">
                <a:solidFill>
                  <a:srgbClr val="F2F2F0"/>
                </a:solidFill>
                <a:latin typeface="Arial" pitchFamily="34" charset="0"/>
                <a:ea typeface="Arial" pitchFamily="34" charset="-122"/>
                <a:cs typeface="Arial" pitchFamily="34" charset="-120"/>
              </a:rPr>
              <a:t>LIVE IN TWO WEEKS. FULL SYSTEM IN EIGHT.</a:t>
            </a:r>
            <a:endParaRPr lang="en-US" sz="3400" dirty="0"/>
          </a:p>
        </p:txBody>
      </p:sp>
      <p:sp>
        <p:nvSpPr>
          <p:cNvPr id="4" name="Text 2"/>
          <p:cNvSpPr/>
          <p:nvPr/>
        </p:nvSpPr>
        <p:spPr>
          <a:xfrm>
            <a:off x="11231575" y="6382512"/>
            <a:ext cx="548640" cy="274320"/>
          </a:xfrm>
          <a:prstGeom prst="rect">
            <a:avLst/>
          </a:prstGeom>
          <a:noFill/>
          <a:ln/>
        </p:spPr>
        <p:txBody>
          <a:bodyPr wrap="square" lIns="0" tIns="0" rIns="0" bIns="0" rtlCol="0" anchor="ctr"/>
          <a:lstStyle/>
          <a:p>
            <a:pPr algn="r" indent="0" marL="0">
              <a:buNone/>
            </a:pPr>
            <a:r>
              <a:rPr lang="en-US" sz="900" dirty="0">
                <a:solidFill>
                  <a:srgbClr val="5A5A5E"/>
                </a:solidFill>
                <a:latin typeface="Arial" pitchFamily="34" charset="0"/>
                <a:ea typeface="Arial" pitchFamily="34" charset="-122"/>
                <a:cs typeface="Arial" pitchFamily="34" charset="-120"/>
              </a:rPr>
              <a:t>13</a:t>
            </a:r>
            <a:endParaRPr lang="en-US" sz="900" dirty="0"/>
          </a:p>
        </p:txBody>
      </p:sp>
      <p:sp>
        <p:nvSpPr>
          <p:cNvPr id="5" name="Shape 3"/>
          <p:cNvSpPr/>
          <p:nvPr/>
        </p:nvSpPr>
        <p:spPr>
          <a:xfrm>
            <a:off x="1005840" y="2743200"/>
            <a:ext cx="9692640" cy="914"/>
          </a:xfrm>
          <a:prstGeom prst="line">
            <a:avLst/>
          </a:prstGeom>
          <a:noFill/>
          <a:ln w="15875">
            <a:solidFill>
              <a:srgbClr val="3A3A3E"/>
            </a:solidFill>
            <a:prstDash val="solid"/>
          </a:ln>
        </p:spPr>
      </p:sp>
      <p:sp>
        <p:nvSpPr>
          <p:cNvPr id="6" name="Shape 4"/>
          <p:cNvSpPr/>
          <p:nvPr/>
        </p:nvSpPr>
        <p:spPr>
          <a:xfrm>
            <a:off x="896112" y="2633472"/>
            <a:ext cx="219456" cy="219456"/>
          </a:xfrm>
          <a:prstGeom prst="ellipse">
            <a:avLst/>
          </a:prstGeom>
          <a:solidFill>
            <a:srgbClr val="FF5A00"/>
          </a:solidFill>
          <a:ln/>
        </p:spPr>
      </p:sp>
      <p:sp>
        <p:nvSpPr>
          <p:cNvPr id="7" name="Text 5"/>
          <p:cNvSpPr/>
          <p:nvPr/>
        </p:nvSpPr>
        <p:spPr>
          <a:xfrm>
            <a:off x="914400" y="2057400"/>
            <a:ext cx="2377440" cy="274320"/>
          </a:xfrm>
          <a:prstGeom prst="rect">
            <a:avLst/>
          </a:prstGeom>
          <a:noFill/>
          <a:ln/>
        </p:spPr>
        <p:txBody>
          <a:bodyPr wrap="square" lIns="0" tIns="0" rIns="0" bIns="0" rtlCol="0" anchor="ctr"/>
          <a:lstStyle/>
          <a:p>
            <a:pPr indent="0" marL="0">
              <a:buNone/>
            </a:pPr>
            <a:r>
              <a:rPr lang="en-US" sz="1200" b="1" spc="200" kern="0" dirty="0">
                <a:solidFill>
                  <a:srgbClr val="FF5A00"/>
                </a:solidFill>
                <a:latin typeface="Arial" pitchFamily="34" charset="0"/>
                <a:ea typeface="Arial" pitchFamily="34" charset="-122"/>
                <a:cs typeface="Arial" pitchFamily="34" charset="-120"/>
              </a:rPr>
              <a:t>WEEKS 1–2</a:t>
            </a:r>
            <a:endParaRPr lang="en-US" sz="1200" dirty="0"/>
          </a:p>
        </p:txBody>
      </p:sp>
      <p:sp>
        <p:nvSpPr>
          <p:cNvPr id="8" name="Text 6"/>
          <p:cNvSpPr/>
          <p:nvPr/>
        </p:nvSpPr>
        <p:spPr>
          <a:xfrm>
            <a:off x="914400" y="3063240"/>
            <a:ext cx="2788920" cy="411480"/>
          </a:xfrm>
          <a:prstGeom prst="rect">
            <a:avLst/>
          </a:prstGeom>
          <a:noFill/>
          <a:ln/>
        </p:spPr>
        <p:txBody>
          <a:bodyPr wrap="square" lIns="0" tIns="0" rIns="0" bIns="0" rtlCol="0" anchor="ctr"/>
          <a:lstStyle/>
          <a:p>
            <a:pPr indent="0" marL="0">
              <a:buNone/>
            </a:pPr>
            <a:r>
              <a:rPr lang="en-US" sz="1800" b="1" dirty="0">
                <a:solidFill>
                  <a:srgbClr val="F2F2F0"/>
                </a:solidFill>
                <a:latin typeface="Arial" pitchFamily="34" charset="0"/>
                <a:ea typeface="Arial" pitchFamily="34" charset="-122"/>
                <a:cs typeface="Arial" pitchFamily="34" charset="-120"/>
              </a:rPr>
              <a:t>Capture + inbound</a:t>
            </a:r>
            <a:endParaRPr lang="en-US" sz="1800" dirty="0"/>
          </a:p>
        </p:txBody>
      </p:sp>
      <p:sp>
        <p:nvSpPr>
          <p:cNvPr id="9" name="Text 7"/>
          <p:cNvSpPr/>
          <p:nvPr/>
        </p:nvSpPr>
        <p:spPr>
          <a:xfrm>
            <a:off x="914400" y="3520440"/>
            <a:ext cx="2560320" cy="914400"/>
          </a:xfrm>
          <a:prstGeom prst="rect">
            <a:avLst/>
          </a:prstGeom>
          <a:noFill/>
          <a:ln/>
        </p:spPr>
        <p:txBody>
          <a:bodyPr wrap="square" lIns="0" tIns="0" rIns="0" bIns="0" rtlCol="0" anchor="ctr"/>
          <a:lstStyle/>
          <a:p>
            <a:pPr indent="0" marL="0">
              <a:lnSpc>
                <a:spcPts val="1900"/>
              </a:lnSpc>
              <a:buNone/>
            </a:pPr>
            <a:r>
              <a:rPr lang="en-US" sz="1300" dirty="0">
                <a:solidFill>
                  <a:srgbClr val="9A9A9E"/>
                </a:solidFill>
                <a:latin typeface="Arial" pitchFamily="34" charset="0"/>
                <a:ea typeface="Arial" pitchFamily="34" charset="-122"/>
                <a:cs typeface="Arial" pitchFamily="34" charset="-120"/>
              </a:rPr>
              <a:t>Phones, forms, and Messenger answered and logged</a:t>
            </a:r>
            <a:endParaRPr lang="en-US" sz="1300" dirty="0"/>
          </a:p>
        </p:txBody>
      </p:sp>
      <p:sp>
        <p:nvSpPr>
          <p:cNvPr id="10" name="Shape 8"/>
          <p:cNvSpPr/>
          <p:nvPr/>
        </p:nvSpPr>
        <p:spPr>
          <a:xfrm>
            <a:off x="4919472" y="2633472"/>
            <a:ext cx="219456" cy="219456"/>
          </a:xfrm>
          <a:prstGeom prst="ellipse">
            <a:avLst/>
          </a:prstGeom>
          <a:solidFill>
            <a:srgbClr val="FF5A00"/>
          </a:solidFill>
          <a:ln/>
        </p:spPr>
      </p:sp>
      <p:sp>
        <p:nvSpPr>
          <p:cNvPr id="11" name="Text 9"/>
          <p:cNvSpPr/>
          <p:nvPr/>
        </p:nvSpPr>
        <p:spPr>
          <a:xfrm>
            <a:off x="4937760" y="2057400"/>
            <a:ext cx="2377440" cy="274320"/>
          </a:xfrm>
          <a:prstGeom prst="rect">
            <a:avLst/>
          </a:prstGeom>
          <a:noFill/>
          <a:ln/>
        </p:spPr>
        <p:txBody>
          <a:bodyPr wrap="square" lIns="0" tIns="0" rIns="0" bIns="0" rtlCol="0" anchor="ctr"/>
          <a:lstStyle/>
          <a:p>
            <a:pPr indent="0" marL="0">
              <a:buNone/>
            </a:pPr>
            <a:r>
              <a:rPr lang="en-US" sz="1200" b="1" spc="200" kern="0" dirty="0">
                <a:solidFill>
                  <a:srgbClr val="FF5A00"/>
                </a:solidFill>
                <a:latin typeface="Arial" pitchFamily="34" charset="0"/>
                <a:ea typeface="Arial" pitchFamily="34" charset="-122"/>
                <a:cs typeface="Arial" pitchFamily="34" charset="-120"/>
              </a:rPr>
              <a:t>WEEKS 3–4</a:t>
            </a:r>
            <a:endParaRPr lang="en-US" sz="1200" dirty="0"/>
          </a:p>
        </p:txBody>
      </p:sp>
      <p:sp>
        <p:nvSpPr>
          <p:cNvPr id="12" name="Text 10"/>
          <p:cNvSpPr/>
          <p:nvPr/>
        </p:nvSpPr>
        <p:spPr>
          <a:xfrm>
            <a:off x="4937760" y="3063240"/>
            <a:ext cx="2788920" cy="411480"/>
          </a:xfrm>
          <a:prstGeom prst="rect">
            <a:avLst/>
          </a:prstGeom>
          <a:noFill/>
          <a:ln/>
        </p:spPr>
        <p:txBody>
          <a:bodyPr wrap="square" lIns="0" tIns="0" rIns="0" bIns="0" rtlCol="0" anchor="ctr"/>
          <a:lstStyle/>
          <a:p>
            <a:pPr indent="0" marL="0">
              <a:buNone/>
            </a:pPr>
            <a:r>
              <a:rPr lang="en-US" sz="1800" b="1" dirty="0">
                <a:solidFill>
                  <a:srgbClr val="F2F2F0"/>
                </a:solidFill>
                <a:latin typeface="Arial" pitchFamily="34" charset="0"/>
                <a:ea typeface="Arial" pitchFamily="34" charset="-122"/>
                <a:cs typeface="Arial" pitchFamily="34" charset="-120"/>
              </a:rPr>
              <a:t>Service workflows</a:t>
            </a:r>
            <a:endParaRPr lang="en-US" sz="1800" dirty="0"/>
          </a:p>
        </p:txBody>
      </p:sp>
      <p:sp>
        <p:nvSpPr>
          <p:cNvPr id="13" name="Text 11"/>
          <p:cNvSpPr/>
          <p:nvPr/>
        </p:nvSpPr>
        <p:spPr>
          <a:xfrm>
            <a:off x="4937760" y="3520440"/>
            <a:ext cx="2560320" cy="914400"/>
          </a:xfrm>
          <a:prstGeom prst="rect">
            <a:avLst/>
          </a:prstGeom>
          <a:noFill/>
          <a:ln/>
        </p:spPr>
        <p:txBody>
          <a:bodyPr wrap="square" lIns="0" tIns="0" rIns="0" bIns="0" rtlCol="0" anchor="ctr"/>
          <a:lstStyle/>
          <a:p>
            <a:pPr indent="0" marL="0">
              <a:lnSpc>
                <a:spcPts val="1900"/>
              </a:lnSpc>
              <a:buNone/>
            </a:pPr>
            <a:r>
              <a:rPr lang="en-US" sz="1300" dirty="0">
                <a:solidFill>
                  <a:srgbClr val="9A9A9E"/>
                </a:solidFill>
                <a:latin typeface="Arial" pitchFamily="34" charset="0"/>
                <a:ea typeface="Arial" pitchFamily="34" charset="-122"/>
                <a:cs typeface="Arial" pitchFamily="34" charset="-120"/>
              </a:rPr>
              <a:t>Intake, scheduling, and history off the sales line</a:t>
            </a:r>
            <a:endParaRPr lang="en-US" sz="1300" dirty="0"/>
          </a:p>
        </p:txBody>
      </p:sp>
      <p:sp>
        <p:nvSpPr>
          <p:cNvPr id="14" name="Shape 12"/>
          <p:cNvSpPr/>
          <p:nvPr/>
        </p:nvSpPr>
        <p:spPr>
          <a:xfrm>
            <a:off x="8942832" y="2633472"/>
            <a:ext cx="219456" cy="219456"/>
          </a:xfrm>
          <a:prstGeom prst="ellipse">
            <a:avLst/>
          </a:prstGeom>
          <a:solidFill>
            <a:srgbClr val="FF5A00"/>
          </a:solidFill>
          <a:ln/>
        </p:spPr>
      </p:sp>
      <p:sp>
        <p:nvSpPr>
          <p:cNvPr id="15" name="Text 13"/>
          <p:cNvSpPr/>
          <p:nvPr/>
        </p:nvSpPr>
        <p:spPr>
          <a:xfrm>
            <a:off x="8961120" y="2057400"/>
            <a:ext cx="2377440" cy="274320"/>
          </a:xfrm>
          <a:prstGeom prst="rect">
            <a:avLst/>
          </a:prstGeom>
          <a:noFill/>
          <a:ln/>
        </p:spPr>
        <p:txBody>
          <a:bodyPr wrap="square" lIns="0" tIns="0" rIns="0" bIns="0" rtlCol="0" anchor="ctr"/>
          <a:lstStyle/>
          <a:p>
            <a:pPr indent="0" marL="0">
              <a:buNone/>
            </a:pPr>
            <a:r>
              <a:rPr lang="en-US" sz="1200" b="1" spc="200" kern="0" dirty="0">
                <a:solidFill>
                  <a:srgbClr val="FF5A00"/>
                </a:solidFill>
                <a:latin typeface="Arial" pitchFamily="34" charset="0"/>
                <a:ea typeface="Arial" pitchFamily="34" charset="-122"/>
                <a:cs typeface="Arial" pitchFamily="34" charset="-120"/>
              </a:rPr>
              <a:t>WEEKS 5–8</a:t>
            </a:r>
            <a:endParaRPr lang="en-US" sz="1200" dirty="0"/>
          </a:p>
        </p:txBody>
      </p:sp>
      <p:sp>
        <p:nvSpPr>
          <p:cNvPr id="16" name="Text 14"/>
          <p:cNvSpPr/>
          <p:nvPr/>
        </p:nvSpPr>
        <p:spPr>
          <a:xfrm>
            <a:off x="8961120" y="3063240"/>
            <a:ext cx="2788920" cy="411480"/>
          </a:xfrm>
          <a:prstGeom prst="rect">
            <a:avLst/>
          </a:prstGeom>
          <a:noFill/>
          <a:ln/>
        </p:spPr>
        <p:txBody>
          <a:bodyPr wrap="square" lIns="0" tIns="0" rIns="0" bIns="0" rtlCol="0" anchor="ctr"/>
          <a:lstStyle/>
          <a:p>
            <a:pPr indent="0" marL="0">
              <a:buNone/>
            </a:pPr>
            <a:r>
              <a:rPr lang="en-US" sz="1800" b="1" dirty="0">
                <a:solidFill>
                  <a:srgbClr val="F2F2F0"/>
                </a:solidFill>
                <a:latin typeface="Arial" pitchFamily="34" charset="0"/>
                <a:ea typeface="Arial" pitchFamily="34" charset="-122"/>
                <a:cs typeface="Arial" pitchFamily="34" charset="-120"/>
              </a:rPr>
              <a:t>Outreach + dashboard</a:t>
            </a:r>
            <a:endParaRPr lang="en-US" sz="1800" dirty="0"/>
          </a:p>
        </p:txBody>
      </p:sp>
      <p:sp>
        <p:nvSpPr>
          <p:cNvPr id="17" name="Text 15"/>
          <p:cNvSpPr/>
          <p:nvPr/>
        </p:nvSpPr>
        <p:spPr>
          <a:xfrm>
            <a:off x="8961120" y="3520440"/>
            <a:ext cx="2560320" cy="914400"/>
          </a:xfrm>
          <a:prstGeom prst="rect">
            <a:avLst/>
          </a:prstGeom>
          <a:noFill/>
          <a:ln/>
        </p:spPr>
        <p:txBody>
          <a:bodyPr wrap="square" lIns="0" tIns="0" rIns="0" bIns="0" rtlCol="0" anchor="ctr"/>
          <a:lstStyle/>
          <a:p>
            <a:pPr indent="0" marL="0">
              <a:lnSpc>
                <a:spcPts val="1900"/>
              </a:lnSpc>
              <a:buNone/>
            </a:pPr>
            <a:r>
              <a:rPr lang="en-US" sz="1300" dirty="0">
                <a:solidFill>
                  <a:srgbClr val="9A9A9E"/>
                </a:solidFill>
                <a:latin typeface="Arial" pitchFamily="34" charset="0"/>
                <a:ea typeface="Arial" pitchFamily="34" charset="-122"/>
                <a:cs typeface="Arial" pitchFamily="34" charset="-120"/>
              </a:rPr>
              <a:t>Proactive campaigns and the Monday brief</a:t>
            </a:r>
            <a:endParaRPr lang="en-US" sz="1300" dirty="0"/>
          </a:p>
        </p:txBody>
      </p:sp>
      <p:sp>
        <p:nvSpPr>
          <p:cNvPr id="18" name="Text 16"/>
          <p:cNvSpPr/>
          <p:nvPr/>
        </p:nvSpPr>
        <p:spPr>
          <a:xfrm>
            <a:off x="685800" y="5623560"/>
            <a:ext cx="10789920" cy="365760"/>
          </a:xfrm>
          <a:prstGeom prst="rect">
            <a:avLst/>
          </a:prstGeom>
          <a:noFill/>
          <a:ln/>
        </p:spPr>
        <p:txBody>
          <a:bodyPr wrap="square" lIns="0" tIns="0" rIns="0" bIns="0" rtlCol="0" anchor="ctr"/>
          <a:lstStyle/>
          <a:p>
            <a:pPr indent="0" marL="0">
              <a:buNone/>
            </a:pPr>
            <a:r>
              <a:rPr lang="en-US" sz="1400" i="1" dirty="0">
                <a:solidFill>
                  <a:srgbClr val="9A9A9E"/>
                </a:solidFill>
                <a:latin typeface="Arial" pitchFamily="34" charset="0"/>
                <a:ea typeface="Arial" pitchFamily="34" charset="-122"/>
                <a:cs typeface="Arial" pitchFamily="34" charset="-120"/>
              </a:rPr>
              <a:t>No rip-and-replace. Your phone number, your process — with a layer under it.</a:t>
            </a:r>
            <a:endParaRPr lang="en-US" sz="14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D0D0D"/>
        </a:solidFill>
      </p:bgPr>
    </p:bg>
    <p:spTree>
      <p:nvGrpSpPr>
        <p:cNvPr id="1" name=""/>
        <p:cNvGrpSpPr/>
        <p:nvPr/>
      </p:nvGrpSpPr>
      <p:grpSpPr>
        <a:xfrm>
          <a:off x="0" y="0"/>
          <a:ext cx="0" cy="0"/>
          <a:chOff x="0" y="0"/>
          <a:chExt cx="0" cy="0"/>
        </a:xfrm>
      </p:grpSpPr>
      <p:sp>
        <p:nvSpPr>
          <p:cNvPr id="2" name="Text 0"/>
          <p:cNvSpPr/>
          <p:nvPr/>
        </p:nvSpPr>
        <p:spPr>
          <a:xfrm>
            <a:off x="685800" y="457200"/>
            <a:ext cx="7315200" cy="274320"/>
          </a:xfrm>
          <a:prstGeom prst="rect">
            <a:avLst/>
          </a:prstGeom>
          <a:noFill/>
          <a:ln/>
        </p:spPr>
        <p:txBody>
          <a:bodyPr wrap="square" lIns="0" tIns="0" rIns="0" bIns="0" rtlCol="0" anchor="ctr"/>
          <a:lstStyle/>
          <a:p>
            <a:pPr algn="l" indent="0" marL="0">
              <a:buNone/>
            </a:pPr>
            <a:r>
              <a:rPr lang="en-US" sz="1100" b="1" spc="400" kern="0" dirty="0">
                <a:solidFill>
                  <a:srgbClr val="FF5A00"/>
                </a:solidFill>
                <a:latin typeface="Arial" pitchFamily="34" charset="0"/>
                <a:ea typeface="Arial" pitchFamily="34" charset="-122"/>
                <a:cs typeface="Arial" pitchFamily="34" charset="-120"/>
              </a:rPr>
              <a:t>THE CLOSE</a:t>
            </a:r>
            <a:endParaRPr lang="en-US" sz="1100" dirty="0"/>
          </a:p>
        </p:txBody>
      </p:sp>
      <p:sp>
        <p:nvSpPr>
          <p:cNvPr id="3" name="Text 1"/>
          <p:cNvSpPr/>
          <p:nvPr/>
        </p:nvSpPr>
        <p:spPr>
          <a:xfrm>
            <a:off x="685800" y="749808"/>
            <a:ext cx="10820095" cy="777240"/>
          </a:xfrm>
          <a:prstGeom prst="rect">
            <a:avLst/>
          </a:prstGeom>
          <a:noFill/>
          <a:ln/>
        </p:spPr>
        <p:txBody>
          <a:bodyPr wrap="square" lIns="0" tIns="0" rIns="0" bIns="0" rtlCol="0" anchor="ctr"/>
          <a:lstStyle/>
          <a:p>
            <a:pPr algn="l" indent="0" marL="0">
              <a:buNone/>
            </a:pPr>
            <a:r>
              <a:rPr lang="en-US" sz="3400" b="1" dirty="0">
                <a:solidFill>
                  <a:srgbClr val="F2F2F0"/>
                </a:solidFill>
                <a:latin typeface="Arial" pitchFamily="34" charset="0"/>
                <a:ea typeface="Arial" pitchFamily="34" charset="-122"/>
                <a:cs typeface="Arial" pitchFamily="34" charset="-120"/>
              </a:rPr>
              <a:t>WHAT I NEED FROM YOU.</a:t>
            </a:r>
            <a:endParaRPr lang="en-US" sz="3400" dirty="0"/>
          </a:p>
        </p:txBody>
      </p:sp>
      <p:sp>
        <p:nvSpPr>
          <p:cNvPr id="4" name="Text 2"/>
          <p:cNvSpPr/>
          <p:nvPr/>
        </p:nvSpPr>
        <p:spPr>
          <a:xfrm>
            <a:off x="11231575" y="6382512"/>
            <a:ext cx="548640" cy="274320"/>
          </a:xfrm>
          <a:prstGeom prst="rect">
            <a:avLst/>
          </a:prstGeom>
          <a:noFill/>
          <a:ln/>
        </p:spPr>
        <p:txBody>
          <a:bodyPr wrap="square" lIns="0" tIns="0" rIns="0" bIns="0" rtlCol="0" anchor="ctr"/>
          <a:lstStyle/>
          <a:p>
            <a:pPr algn="r" indent="0" marL="0">
              <a:buNone/>
            </a:pPr>
            <a:r>
              <a:rPr lang="en-US" sz="900" dirty="0">
                <a:solidFill>
                  <a:srgbClr val="5A5A5E"/>
                </a:solidFill>
                <a:latin typeface="Arial" pitchFamily="34" charset="0"/>
                <a:ea typeface="Arial" pitchFamily="34" charset="-122"/>
                <a:cs typeface="Arial" pitchFamily="34" charset="-120"/>
              </a:rPr>
              <a:t>14</a:t>
            </a:r>
            <a:endParaRPr lang="en-US" sz="900" dirty="0"/>
          </a:p>
        </p:txBody>
      </p:sp>
      <p:sp>
        <p:nvSpPr>
          <p:cNvPr id="5" name="Text 3"/>
          <p:cNvSpPr/>
          <p:nvPr/>
        </p:nvSpPr>
        <p:spPr>
          <a:xfrm>
            <a:off x="685800" y="2231136"/>
            <a:ext cx="914400" cy="685800"/>
          </a:xfrm>
          <a:prstGeom prst="rect">
            <a:avLst/>
          </a:prstGeom>
          <a:noFill/>
          <a:ln/>
        </p:spPr>
        <p:txBody>
          <a:bodyPr wrap="square" lIns="0" tIns="0" rIns="0" bIns="0" rtlCol="0" anchor="ctr"/>
          <a:lstStyle/>
          <a:p>
            <a:pPr indent="0" marL="0">
              <a:buNone/>
            </a:pPr>
            <a:r>
              <a:rPr lang="en-US" sz="3400" b="1" dirty="0">
                <a:solidFill>
                  <a:srgbClr val="FF5A00"/>
                </a:solidFill>
                <a:latin typeface="Arial" pitchFamily="34" charset="0"/>
                <a:ea typeface="Arial" pitchFamily="34" charset="-122"/>
                <a:cs typeface="Arial" pitchFamily="34" charset="-120"/>
              </a:rPr>
              <a:t>01</a:t>
            </a:r>
            <a:endParaRPr lang="en-US" sz="3400" dirty="0"/>
          </a:p>
        </p:txBody>
      </p:sp>
      <p:sp>
        <p:nvSpPr>
          <p:cNvPr id="6" name="Text 4"/>
          <p:cNvSpPr/>
          <p:nvPr/>
        </p:nvSpPr>
        <p:spPr>
          <a:xfrm>
            <a:off x="1783080" y="2231136"/>
            <a:ext cx="6949440" cy="685800"/>
          </a:xfrm>
          <a:prstGeom prst="rect">
            <a:avLst/>
          </a:prstGeom>
          <a:noFill/>
          <a:ln/>
        </p:spPr>
        <p:txBody>
          <a:bodyPr wrap="square" lIns="0" tIns="0" rIns="0" bIns="0" rtlCol="0" anchor="ctr"/>
          <a:lstStyle/>
          <a:p>
            <a:pPr indent="0" marL="0">
              <a:buNone/>
            </a:pPr>
            <a:r>
              <a:rPr lang="en-US" sz="1900" b="1" dirty="0">
                <a:solidFill>
                  <a:srgbClr val="F2F2F0"/>
                </a:solidFill>
                <a:latin typeface="Arial" pitchFamily="34" charset="0"/>
                <a:ea typeface="Arial" pitchFamily="34" charset="-122"/>
                <a:cs typeface="Arial" pitchFamily="34" charset="-120"/>
              </a:rPr>
              <a:t>One hour to map your phones, inboxes, and channels</a:t>
            </a:r>
            <a:endParaRPr lang="en-US" sz="1900" dirty="0"/>
          </a:p>
        </p:txBody>
      </p:sp>
      <p:sp>
        <p:nvSpPr>
          <p:cNvPr id="7" name="Text 5"/>
          <p:cNvSpPr/>
          <p:nvPr/>
        </p:nvSpPr>
        <p:spPr>
          <a:xfrm>
            <a:off x="685800" y="3392424"/>
            <a:ext cx="914400" cy="685800"/>
          </a:xfrm>
          <a:prstGeom prst="rect">
            <a:avLst/>
          </a:prstGeom>
          <a:noFill/>
          <a:ln/>
        </p:spPr>
        <p:txBody>
          <a:bodyPr wrap="square" lIns="0" tIns="0" rIns="0" bIns="0" rtlCol="0" anchor="ctr"/>
          <a:lstStyle/>
          <a:p>
            <a:pPr indent="0" marL="0">
              <a:buNone/>
            </a:pPr>
            <a:r>
              <a:rPr lang="en-US" sz="3400" b="1" dirty="0">
                <a:solidFill>
                  <a:srgbClr val="FF5A00"/>
                </a:solidFill>
                <a:latin typeface="Arial" pitchFamily="34" charset="0"/>
                <a:ea typeface="Arial" pitchFamily="34" charset="-122"/>
                <a:cs typeface="Arial" pitchFamily="34" charset="-120"/>
              </a:rPr>
              <a:t>02</a:t>
            </a:r>
            <a:endParaRPr lang="en-US" sz="3400" dirty="0"/>
          </a:p>
        </p:txBody>
      </p:sp>
      <p:sp>
        <p:nvSpPr>
          <p:cNvPr id="8" name="Text 6"/>
          <p:cNvSpPr/>
          <p:nvPr/>
        </p:nvSpPr>
        <p:spPr>
          <a:xfrm>
            <a:off x="1783080" y="3392424"/>
            <a:ext cx="6949440" cy="685800"/>
          </a:xfrm>
          <a:prstGeom prst="rect">
            <a:avLst/>
          </a:prstGeom>
          <a:noFill/>
          <a:ln/>
        </p:spPr>
        <p:txBody>
          <a:bodyPr wrap="square" lIns="0" tIns="0" rIns="0" bIns="0" rtlCol="0" anchor="ctr"/>
          <a:lstStyle/>
          <a:p>
            <a:pPr indent="0" marL="0">
              <a:buNone/>
            </a:pPr>
            <a:r>
              <a:rPr lang="en-US" sz="1900" b="1" dirty="0">
                <a:solidFill>
                  <a:srgbClr val="F2F2F0"/>
                </a:solidFill>
                <a:latin typeface="Arial" pitchFamily="34" charset="0"/>
                <a:ea typeface="Arial" pitchFamily="34" charset="-122"/>
                <a:cs typeface="Arial" pitchFamily="34" charset="-120"/>
              </a:rPr>
              <a:t>Access to what we're capturing</a:t>
            </a:r>
            <a:endParaRPr lang="en-US" sz="1900" dirty="0"/>
          </a:p>
        </p:txBody>
      </p:sp>
      <p:sp>
        <p:nvSpPr>
          <p:cNvPr id="9" name="Text 7"/>
          <p:cNvSpPr/>
          <p:nvPr/>
        </p:nvSpPr>
        <p:spPr>
          <a:xfrm>
            <a:off x="685800" y="4553712"/>
            <a:ext cx="914400" cy="685800"/>
          </a:xfrm>
          <a:prstGeom prst="rect">
            <a:avLst/>
          </a:prstGeom>
          <a:noFill/>
          <a:ln/>
        </p:spPr>
        <p:txBody>
          <a:bodyPr wrap="square" lIns="0" tIns="0" rIns="0" bIns="0" rtlCol="0" anchor="ctr"/>
          <a:lstStyle/>
          <a:p>
            <a:pPr indent="0" marL="0">
              <a:buNone/>
            </a:pPr>
            <a:r>
              <a:rPr lang="en-US" sz="3400" b="1" dirty="0">
                <a:solidFill>
                  <a:srgbClr val="FF5A00"/>
                </a:solidFill>
                <a:latin typeface="Arial" pitchFamily="34" charset="0"/>
                <a:ea typeface="Arial" pitchFamily="34" charset="-122"/>
                <a:cs typeface="Arial" pitchFamily="34" charset="-120"/>
              </a:rPr>
              <a:t>03</a:t>
            </a:r>
            <a:endParaRPr lang="en-US" sz="3400" dirty="0"/>
          </a:p>
        </p:txBody>
      </p:sp>
      <p:sp>
        <p:nvSpPr>
          <p:cNvPr id="10" name="Text 8"/>
          <p:cNvSpPr/>
          <p:nvPr/>
        </p:nvSpPr>
        <p:spPr>
          <a:xfrm>
            <a:off x="1783080" y="4553712"/>
            <a:ext cx="6949440" cy="685800"/>
          </a:xfrm>
          <a:prstGeom prst="rect">
            <a:avLst/>
          </a:prstGeom>
          <a:noFill/>
          <a:ln/>
        </p:spPr>
        <p:txBody>
          <a:bodyPr wrap="square" lIns="0" tIns="0" rIns="0" bIns="0" rtlCol="0" anchor="ctr"/>
          <a:lstStyle/>
          <a:p>
            <a:pPr indent="0" marL="0">
              <a:buNone/>
            </a:pPr>
            <a:r>
              <a:rPr lang="en-US" sz="1900" b="1" dirty="0">
                <a:solidFill>
                  <a:srgbClr val="F2F2F0"/>
                </a:solidFill>
                <a:latin typeface="Arial" pitchFamily="34" charset="0"/>
                <a:ea typeface="Arial" pitchFamily="34" charset="-122"/>
                <a:cs typeface="Arial" pitchFamily="34" charset="-120"/>
              </a:rPr>
              <a:t>A yes</a:t>
            </a:r>
            <a:endParaRPr lang="en-US" sz="1900" dirty="0"/>
          </a:p>
        </p:txBody>
      </p:sp>
      <p:sp>
        <p:nvSpPr>
          <p:cNvPr id="11" name="Shape 9"/>
          <p:cNvSpPr/>
          <p:nvPr/>
        </p:nvSpPr>
        <p:spPr>
          <a:xfrm>
            <a:off x="9784080" y="2468880"/>
            <a:ext cx="1188720" cy="1188720"/>
          </a:xfrm>
          <a:prstGeom prst="ellipse">
            <a:avLst/>
          </a:prstGeom>
          <a:solidFill>
            <a:srgbClr val="0D0D0D"/>
          </a:solidFill>
          <a:ln w="15875">
            <a:solidFill>
              <a:srgbClr val="FF5A00"/>
            </a:solidFill>
            <a:prstDash val="solid"/>
          </a:ln>
        </p:spPr>
      </p:sp>
      <p:pic>
        <p:nvPicPr>
          <p:cNvPr id="12" name="Image 0" descr="/tmp/claude-0/-home-user-getoios/887612f7-bce3-5d7f-a297-e09f9aa5407b/scratchpad/deck/icons/handshake-orange.png">    </p:cNvPr>
          <p:cNvPicPr>
            <a:picLocks noChangeAspect="1"/>
          </p:cNvPicPr>
          <p:nvPr/>
        </p:nvPicPr>
        <p:blipFill>
          <a:blip r:embed="rId1"/>
          <a:stretch>
            <a:fillRect/>
          </a:stretch>
        </p:blipFill>
        <p:spPr>
          <a:xfrm>
            <a:off x="10116922" y="2801722"/>
            <a:ext cx="523037" cy="523037"/>
          </a:xfrm>
          <a:prstGeom prst="rect">
            <a:avLst/>
          </a:prstGeom>
        </p:spPr>
      </p:pic>
      <p:sp>
        <p:nvSpPr>
          <p:cNvPr id="13" name="Text 10"/>
          <p:cNvSpPr/>
          <p:nvPr/>
        </p:nvSpPr>
        <p:spPr>
          <a:xfrm>
            <a:off x="685800" y="5897880"/>
            <a:ext cx="10789920" cy="365760"/>
          </a:xfrm>
          <a:prstGeom prst="rect">
            <a:avLst/>
          </a:prstGeom>
          <a:noFill/>
          <a:ln/>
        </p:spPr>
        <p:txBody>
          <a:bodyPr wrap="square" lIns="0" tIns="0" rIns="0" bIns="0" rtlCol="0" anchor="ctr"/>
          <a:lstStyle/>
          <a:p>
            <a:pPr indent="0" marL="0">
              <a:buNone/>
            </a:pPr>
            <a:r>
              <a:rPr lang="en-US" sz="1400" dirty="0">
                <a:solidFill>
                  <a:srgbClr val="9A9A9E"/>
                </a:solidFill>
                <a:latin typeface="Arial" pitchFamily="34" charset="0"/>
                <a:ea typeface="Arial" pitchFamily="34" charset="-122"/>
                <a:cs typeface="Arial" pitchFamily="34" charset="-120"/>
              </a:rPr>
              <a:t>Wes Overstreet   ·   OIOS   ·   getoios.com   ·   wesoverstreet@gmail.com</a:t>
            </a:r>
            <a:endParaRPr lang="en-US" sz="14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D0D0D"/>
        </a:solidFill>
      </p:bgPr>
    </p:bg>
    <p:spTree>
      <p:nvGrpSpPr>
        <p:cNvPr id="1" name=""/>
        <p:cNvGrpSpPr/>
        <p:nvPr/>
      </p:nvGrpSpPr>
      <p:grpSpPr>
        <a:xfrm>
          <a:off x="0" y="0"/>
          <a:ext cx="0" cy="0"/>
          <a:chOff x="0" y="0"/>
          <a:chExt cx="0" cy="0"/>
        </a:xfrm>
      </p:grpSpPr>
      <p:sp>
        <p:nvSpPr>
          <p:cNvPr id="2" name="Text 0"/>
          <p:cNvSpPr/>
          <p:nvPr/>
        </p:nvSpPr>
        <p:spPr>
          <a:xfrm>
            <a:off x="685800" y="457200"/>
            <a:ext cx="7315200" cy="274320"/>
          </a:xfrm>
          <a:prstGeom prst="rect">
            <a:avLst/>
          </a:prstGeom>
          <a:noFill/>
          <a:ln/>
        </p:spPr>
        <p:txBody>
          <a:bodyPr wrap="square" lIns="0" tIns="0" rIns="0" bIns="0" rtlCol="0" anchor="ctr"/>
          <a:lstStyle/>
          <a:p>
            <a:pPr algn="l" indent="0" marL="0">
              <a:buNone/>
            </a:pPr>
            <a:r>
              <a:rPr lang="en-US" sz="1100" b="1" spc="400" kern="0" dirty="0">
                <a:solidFill>
                  <a:srgbClr val="FF5A00"/>
                </a:solidFill>
                <a:latin typeface="Arial" pitchFamily="34" charset="0"/>
                <a:ea typeface="Arial" pitchFamily="34" charset="-122"/>
                <a:cs typeface="Arial" pitchFamily="34" charset="-120"/>
              </a:rPr>
              <a:t>APPENDIX · ROI</a:t>
            </a:r>
            <a:endParaRPr lang="en-US" sz="1100" dirty="0"/>
          </a:p>
        </p:txBody>
      </p:sp>
      <p:sp>
        <p:nvSpPr>
          <p:cNvPr id="3" name="Text 1"/>
          <p:cNvSpPr/>
          <p:nvPr/>
        </p:nvSpPr>
        <p:spPr>
          <a:xfrm>
            <a:off x="685800" y="749808"/>
            <a:ext cx="10820095" cy="777240"/>
          </a:xfrm>
          <a:prstGeom prst="rect">
            <a:avLst/>
          </a:prstGeom>
          <a:noFill/>
          <a:ln/>
        </p:spPr>
        <p:txBody>
          <a:bodyPr wrap="square" lIns="0" tIns="0" rIns="0" bIns="0" rtlCol="0" anchor="ctr"/>
          <a:lstStyle/>
          <a:p>
            <a:pPr algn="l" indent="0" marL="0">
              <a:buNone/>
            </a:pPr>
            <a:r>
              <a:rPr lang="en-US" sz="3400" b="1" dirty="0">
                <a:solidFill>
                  <a:srgbClr val="F2F2F0"/>
                </a:solidFill>
                <a:latin typeface="Arial" pitchFamily="34" charset="0"/>
                <a:ea typeface="Arial" pitchFamily="34" charset="-122"/>
                <a:cs typeface="Arial" pitchFamily="34" charset="-120"/>
              </a:rPr>
              <a:t>THE MATH — WITH YOUR NUMBERS.</a:t>
            </a:r>
            <a:endParaRPr lang="en-US" sz="3400" dirty="0"/>
          </a:p>
        </p:txBody>
      </p:sp>
      <p:sp>
        <p:nvSpPr>
          <p:cNvPr id="4" name="Text 2"/>
          <p:cNvSpPr/>
          <p:nvPr/>
        </p:nvSpPr>
        <p:spPr>
          <a:xfrm>
            <a:off x="11231575" y="6382512"/>
            <a:ext cx="548640" cy="274320"/>
          </a:xfrm>
          <a:prstGeom prst="rect">
            <a:avLst/>
          </a:prstGeom>
          <a:noFill/>
          <a:ln/>
        </p:spPr>
        <p:txBody>
          <a:bodyPr wrap="square" lIns="0" tIns="0" rIns="0" bIns="0" rtlCol="0" anchor="ctr"/>
          <a:lstStyle/>
          <a:p>
            <a:pPr algn="r" indent="0" marL="0">
              <a:buNone/>
            </a:pPr>
            <a:r>
              <a:rPr lang="en-US" sz="900" dirty="0">
                <a:solidFill>
                  <a:srgbClr val="5A5A5E"/>
                </a:solidFill>
                <a:latin typeface="Arial" pitchFamily="34" charset="0"/>
                <a:ea typeface="Arial" pitchFamily="34" charset="-122"/>
                <a:cs typeface="Arial" pitchFamily="34" charset="-120"/>
              </a:rPr>
              <a:t>15</a:t>
            </a:r>
            <a:endParaRPr lang="en-US" sz="900" dirty="0"/>
          </a:p>
        </p:txBody>
      </p:sp>
      <p:sp>
        <p:nvSpPr>
          <p:cNvPr id="5" name="Shape 3"/>
          <p:cNvSpPr/>
          <p:nvPr/>
        </p:nvSpPr>
        <p:spPr>
          <a:xfrm>
            <a:off x="956920" y="2468880"/>
            <a:ext cx="2212848" cy="1051560"/>
          </a:xfrm>
          <a:prstGeom prst="roundRect">
            <a:avLst>
              <a:gd name="adj" fmla="val 5217"/>
            </a:avLst>
          </a:prstGeom>
          <a:solidFill>
            <a:srgbClr val="1A1A1C"/>
          </a:solidFill>
          <a:ln w="12700">
            <a:solidFill>
              <a:srgbClr val="FF5A00"/>
            </a:solidFill>
            <a:prstDash val="dash"/>
          </a:ln>
        </p:spPr>
      </p:sp>
      <p:sp>
        <p:nvSpPr>
          <p:cNvPr id="6" name="Text 4"/>
          <p:cNvSpPr/>
          <p:nvPr/>
        </p:nvSpPr>
        <p:spPr>
          <a:xfrm>
            <a:off x="956920" y="2468880"/>
            <a:ext cx="2212848" cy="1051560"/>
          </a:xfrm>
          <a:prstGeom prst="rect">
            <a:avLst/>
          </a:prstGeom>
          <a:noFill/>
          <a:ln/>
        </p:spPr>
        <p:txBody>
          <a:bodyPr wrap="square" lIns="0" tIns="0" rIns="0" bIns="0" rtlCol="0" anchor="ctr"/>
          <a:lstStyle/>
          <a:p>
            <a:pPr algn="ctr" indent="0" marL="0">
              <a:buNone/>
            </a:pPr>
            <a:r>
              <a:rPr lang="en-US" sz="1400" b="1" dirty="0">
                <a:solidFill>
                  <a:srgbClr val="FF5A00"/>
                </a:solidFill>
                <a:latin typeface="Arial" pitchFamily="34" charset="0"/>
                <a:ea typeface="Arial" pitchFamily="34" charset="-122"/>
                <a:cs typeface="Arial" pitchFamily="34" charset="-120"/>
              </a:rPr>
              <a:t>[ inquiries / mo ]</a:t>
            </a:r>
            <a:endParaRPr lang="en-US" sz="1400" dirty="0"/>
          </a:p>
        </p:txBody>
      </p:sp>
      <p:sp>
        <p:nvSpPr>
          <p:cNvPr id="7" name="Text 5"/>
          <p:cNvSpPr/>
          <p:nvPr/>
        </p:nvSpPr>
        <p:spPr>
          <a:xfrm>
            <a:off x="3169768" y="2724912"/>
            <a:ext cx="475488" cy="548640"/>
          </a:xfrm>
          <a:prstGeom prst="rect">
            <a:avLst/>
          </a:prstGeom>
          <a:noFill/>
          <a:ln/>
        </p:spPr>
        <p:txBody>
          <a:bodyPr wrap="square" lIns="0" tIns="0" rIns="0" bIns="0" rtlCol="0" anchor="ctr"/>
          <a:lstStyle/>
          <a:p>
            <a:pPr algn="ctr" indent="0" marL="0">
              <a:buNone/>
            </a:pPr>
            <a:r>
              <a:rPr lang="en-US" sz="2400" b="1" dirty="0">
                <a:solidFill>
                  <a:srgbClr val="9A9A9E"/>
                </a:solidFill>
                <a:latin typeface="Arial" pitchFamily="34" charset="0"/>
                <a:ea typeface="Arial" pitchFamily="34" charset="-122"/>
                <a:cs typeface="Arial" pitchFamily="34" charset="-120"/>
              </a:rPr>
              <a:t>×</a:t>
            </a:r>
            <a:endParaRPr lang="en-US" sz="2400" dirty="0"/>
          </a:p>
        </p:txBody>
      </p:sp>
      <p:sp>
        <p:nvSpPr>
          <p:cNvPr id="8" name="Shape 6"/>
          <p:cNvSpPr/>
          <p:nvPr/>
        </p:nvSpPr>
        <p:spPr>
          <a:xfrm>
            <a:off x="3645256" y="2468880"/>
            <a:ext cx="2212848" cy="1051560"/>
          </a:xfrm>
          <a:prstGeom prst="roundRect">
            <a:avLst>
              <a:gd name="adj" fmla="val 5217"/>
            </a:avLst>
          </a:prstGeom>
          <a:solidFill>
            <a:srgbClr val="1A1A1C"/>
          </a:solidFill>
          <a:ln w="12700">
            <a:solidFill>
              <a:srgbClr val="FF5A00"/>
            </a:solidFill>
            <a:prstDash val="dash"/>
          </a:ln>
        </p:spPr>
      </p:sp>
      <p:sp>
        <p:nvSpPr>
          <p:cNvPr id="9" name="Text 7"/>
          <p:cNvSpPr/>
          <p:nvPr/>
        </p:nvSpPr>
        <p:spPr>
          <a:xfrm>
            <a:off x="3645256" y="2468880"/>
            <a:ext cx="2212848" cy="1051560"/>
          </a:xfrm>
          <a:prstGeom prst="rect">
            <a:avLst/>
          </a:prstGeom>
          <a:noFill/>
          <a:ln/>
        </p:spPr>
        <p:txBody>
          <a:bodyPr wrap="square" lIns="0" tIns="0" rIns="0" bIns="0" rtlCol="0" anchor="ctr"/>
          <a:lstStyle/>
          <a:p>
            <a:pPr algn="ctr" indent="0" marL="0">
              <a:buNone/>
            </a:pPr>
            <a:r>
              <a:rPr lang="en-US" sz="1400" b="1" dirty="0">
                <a:solidFill>
                  <a:srgbClr val="FF5A00"/>
                </a:solidFill>
                <a:latin typeface="Arial" pitchFamily="34" charset="0"/>
                <a:ea typeface="Arial" pitchFamily="34" charset="-122"/>
                <a:cs typeface="Arial" pitchFamily="34" charset="-120"/>
              </a:rPr>
              <a:t>[ % missed or slow ]</a:t>
            </a:r>
            <a:endParaRPr lang="en-US" sz="1400" dirty="0"/>
          </a:p>
        </p:txBody>
      </p:sp>
      <p:sp>
        <p:nvSpPr>
          <p:cNvPr id="10" name="Text 8"/>
          <p:cNvSpPr/>
          <p:nvPr/>
        </p:nvSpPr>
        <p:spPr>
          <a:xfrm>
            <a:off x="5858104" y="2724912"/>
            <a:ext cx="475488" cy="548640"/>
          </a:xfrm>
          <a:prstGeom prst="rect">
            <a:avLst/>
          </a:prstGeom>
          <a:noFill/>
          <a:ln/>
        </p:spPr>
        <p:txBody>
          <a:bodyPr wrap="square" lIns="0" tIns="0" rIns="0" bIns="0" rtlCol="0" anchor="ctr"/>
          <a:lstStyle/>
          <a:p>
            <a:pPr algn="ctr" indent="0" marL="0">
              <a:buNone/>
            </a:pPr>
            <a:r>
              <a:rPr lang="en-US" sz="2400" b="1" dirty="0">
                <a:solidFill>
                  <a:srgbClr val="9A9A9E"/>
                </a:solidFill>
                <a:latin typeface="Arial" pitchFamily="34" charset="0"/>
                <a:ea typeface="Arial" pitchFamily="34" charset="-122"/>
                <a:cs typeface="Arial" pitchFamily="34" charset="-120"/>
              </a:rPr>
              <a:t>×</a:t>
            </a:r>
            <a:endParaRPr lang="en-US" sz="2400" dirty="0"/>
          </a:p>
        </p:txBody>
      </p:sp>
      <p:sp>
        <p:nvSpPr>
          <p:cNvPr id="11" name="Shape 9"/>
          <p:cNvSpPr/>
          <p:nvPr/>
        </p:nvSpPr>
        <p:spPr>
          <a:xfrm>
            <a:off x="6333592" y="2468880"/>
            <a:ext cx="2212848" cy="1051560"/>
          </a:xfrm>
          <a:prstGeom prst="roundRect">
            <a:avLst>
              <a:gd name="adj" fmla="val 5217"/>
            </a:avLst>
          </a:prstGeom>
          <a:solidFill>
            <a:srgbClr val="1A1A1C"/>
          </a:solidFill>
          <a:ln w="12700">
            <a:solidFill>
              <a:srgbClr val="FF5A00"/>
            </a:solidFill>
            <a:prstDash val="dash"/>
          </a:ln>
        </p:spPr>
      </p:sp>
      <p:sp>
        <p:nvSpPr>
          <p:cNvPr id="12" name="Text 10"/>
          <p:cNvSpPr/>
          <p:nvPr/>
        </p:nvSpPr>
        <p:spPr>
          <a:xfrm>
            <a:off x="6333592" y="2468880"/>
            <a:ext cx="2212848" cy="1051560"/>
          </a:xfrm>
          <a:prstGeom prst="rect">
            <a:avLst/>
          </a:prstGeom>
          <a:noFill/>
          <a:ln/>
        </p:spPr>
        <p:txBody>
          <a:bodyPr wrap="square" lIns="0" tIns="0" rIns="0" bIns="0" rtlCol="0" anchor="ctr"/>
          <a:lstStyle/>
          <a:p>
            <a:pPr algn="ctr" indent="0" marL="0">
              <a:buNone/>
            </a:pPr>
            <a:r>
              <a:rPr lang="en-US" sz="1400" b="1" dirty="0">
                <a:solidFill>
                  <a:srgbClr val="FF5A00"/>
                </a:solidFill>
                <a:latin typeface="Arial" pitchFamily="34" charset="0"/>
                <a:ea typeface="Arial" pitchFamily="34" charset="-122"/>
                <a:cs typeface="Arial" pitchFamily="34" charset="-120"/>
              </a:rPr>
              <a:t>[ close rate ]</a:t>
            </a:r>
            <a:endParaRPr lang="en-US" sz="1400" dirty="0"/>
          </a:p>
        </p:txBody>
      </p:sp>
      <p:sp>
        <p:nvSpPr>
          <p:cNvPr id="13" name="Text 11"/>
          <p:cNvSpPr/>
          <p:nvPr/>
        </p:nvSpPr>
        <p:spPr>
          <a:xfrm>
            <a:off x="8546440" y="2724912"/>
            <a:ext cx="475488" cy="548640"/>
          </a:xfrm>
          <a:prstGeom prst="rect">
            <a:avLst/>
          </a:prstGeom>
          <a:noFill/>
          <a:ln/>
        </p:spPr>
        <p:txBody>
          <a:bodyPr wrap="square" lIns="0" tIns="0" rIns="0" bIns="0" rtlCol="0" anchor="ctr"/>
          <a:lstStyle/>
          <a:p>
            <a:pPr algn="ctr" indent="0" marL="0">
              <a:buNone/>
            </a:pPr>
            <a:r>
              <a:rPr lang="en-US" sz="2400" b="1" dirty="0">
                <a:solidFill>
                  <a:srgbClr val="9A9A9E"/>
                </a:solidFill>
                <a:latin typeface="Arial" pitchFamily="34" charset="0"/>
                <a:ea typeface="Arial" pitchFamily="34" charset="-122"/>
                <a:cs typeface="Arial" pitchFamily="34" charset="-120"/>
              </a:rPr>
              <a:t>×</a:t>
            </a:r>
            <a:endParaRPr lang="en-US" sz="2400" dirty="0"/>
          </a:p>
        </p:txBody>
      </p:sp>
      <p:sp>
        <p:nvSpPr>
          <p:cNvPr id="14" name="Shape 12"/>
          <p:cNvSpPr/>
          <p:nvPr/>
        </p:nvSpPr>
        <p:spPr>
          <a:xfrm>
            <a:off x="9021928" y="2468880"/>
            <a:ext cx="2212848" cy="1051560"/>
          </a:xfrm>
          <a:prstGeom prst="roundRect">
            <a:avLst>
              <a:gd name="adj" fmla="val 5217"/>
            </a:avLst>
          </a:prstGeom>
          <a:solidFill>
            <a:srgbClr val="1A1A1C"/>
          </a:solidFill>
          <a:ln w="12700">
            <a:solidFill>
              <a:srgbClr val="FF5A00"/>
            </a:solidFill>
            <a:prstDash val="dash"/>
          </a:ln>
        </p:spPr>
      </p:sp>
      <p:sp>
        <p:nvSpPr>
          <p:cNvPr id="15" name="Text 13"/>
          <p:cNvSpPr/>
          <p:nvPr/>
        </p:nvSpPr>
        <p:spPr>
          <a:xfrm>
            <a:off x="9021928" y="2468880"/>
            <a:ext cx="2212848" cy="1051560"/>
          </a:xfrm>
          <a:prstGeom prst="rect">
            <a:avLst/>
          </a:prstGeom>
          <a:noFill/>
          <a:ln/>
        </p:spPr>
        <p:txBody>
          <a:bodyPr wrap="square" lIns="0" tIns="0" rIns="0" bIns="0" rtlCol="0" anchor="ctr"/>
          <a:lstStyle/>
          <a:p>
            <a:pPr algn="ctr" indent="0" marL="0">
              <a:buNone/>
            </a:pPr>
            <a:r>
              <a:rPr lang="en-US" sz="1400" b="1" dirty="0">
                <a:solidFill>
                  <a:srgbClr val="FF5A00"/>
                </a:solidFill>
                <a:latin typeface="Arial" pitchFamily="34" charset="0"/>
                <a:ea typeface="Arial" pitchFamily="34" charset="-122"/>
                <a:cs typeface="Arial" pitchFamily="34" charset="-120"/>
              </a:rPr>
              <a:t>[ avg gross / unit ]</a:t>
            </a:r>
            <a:endParaRPr lang="en-US" sz="1400" dirty="0"/>
          </a:p>
        </p:txBody>
      </p:sp>
      <p:sp>
        <p:nvSpPr>
          <p:cNvPr id="16" name="Text 14"/>
          <p:cNvSpPr/>
          <p:nvPr/>
        </p:nvSpPr>
        <p:spPr>
          <a:xfrm>
            <a:off x="0" y="3886200"/>
            <a:ext cx="12191695" cy="457200"/>
          </a:xfrm>
          <a:prstGeom prst="rect">
            <a:avLst/>
          </a:prstGeom>
          <a:noFill/>
          <a:ln/>
        </p:spPr>
        <p:txBody>
          <a:bodyPr wrap="square" lIns="0" tIns="0" rIns="0" bIns="0" rtlCol="0" anchor="ctr"/>
          <a:lstStyle/>
          <a:p>
            <a:pPr algn="ctr" indent="0" marL="0">
              <a:buNone/>
            </a:pPr>
            <a:r>
              <a:rPr lang="en-US" sz="2400" b="1" dirty="0">
                <a:solidFill>
                  <a:srgbClr val="9A9A9E"/>
                </a:solidFill>
                <a:latin typeface="Arial" pitchFamily="34" charset="0"/>
                <a:ea typeface="Arial" pitchFamily="34" charset="-122"/>
                <a:cs typeface="Arial" pitchFamily="34" charset="-120"/>
              </a:rPr>
              <a:t>=</a:t>
            </a:r>
            <a:endParaRPr lang="en-US" sz="2400" dirty="0"/>
          </a:p>
        </p:txBody>
      </p:sp>
      <p:sp>
        <p:nvSpPr>
          <p:cNvPr id="17" name="Text 15"/>
          <p:cNvSpPr/>
          <p:nvPr/>
        </p:nvSpPr>
        <p:spPr>
          <a:xfrm>
            <a:off x="0" y="4389120"/>
            <a:ext cx="12191695" cy="731520"/>
          </a:xfrm>
          <a:prstGeom prst="rect">
            <a:avLst/>
          </a:prstGeom>
          <a:noFill/>
          <a:ln/>
        </p:spPr>
        <p:txBody>
          <a:bodyPr wrap="square" lIns="0" tIns="0" rIns="0" bIns="0" rtlCol="0" anchor="ctr"/>
          <a:lstStyle/>
          <a:p>
            <a:pPr algn="ctr" indent="0" marL="0">
              <a:buNone/>
            </a:pPr>
            <a:r>
              <a:rPr lang="en-US" sz="3000" b="1" dirty="0">
                <a:solidFill>
                  <a:srgbClr val="F2F2F0"/>
                </a:solidFill>
                <a:latin typeface="Arial" pitchFamily="34" charset="0"/>
                <a:ea typeface="Arial" pitchFamily="34" charset="-122"/>
                <a:cs typeface="Arial" pitchFamily="34" charset="-120"/>
              </a:rPr>
              <a:t>[ recovered revenue / mo ]</a:t>
            </a:r>
            <a:endParaRPr lang="en-US" sz="3000" dirty="0"/>
          </a:p>
        </p:txBody>
      </p:sp>
      <p:sp>
        <p:nvSpPr>
          <p:cNvPr id="18" name="Text 16"/>
          <p:cNvSpPr/>
          <p:nvPr/>
        </p:nvSpPr>
        <p:spPr>
          <a:xfrm>
            <a:off x="685800" y="5806440"/>
            <a:ext cx="10789920" cy="365760"/>
          </a:xfrm>
          <a:prstGeom prst="rect">
            <a:avLst/>
          </a:prstGeom>
          <a:noFill/>
          <a:ln/>
        </p:spPr>
        <p:txBody>
          <a:bodyPr wrap="square" lIns="0" tIns="0" rIns="0" bIns="0" rtlCol="0" anchor="ctr"/>
          <a:lstStyle/>
          <a:p>
            <a:pPr algn="ctr" indent="0" marL="0">
              <a:buNone/>
            </a:pPr>
            <a:r>
              <a:rPr lang="en-US" sz="1300" i="1" dirty="0">
                <a:solidFill>
                  <a:srgbClr val="9A9A9E"/>
                </a:solidFill>
                <a:latin typeface="Arial" pitchFamily="34" charset="0"/>
                <a:ea typeface="Arial" pitchFamily="34" charset="-122"/>
                <a:cs typeface="Arial" pitchFamily="34" charset="-120"/>
              </a:rPr>
              <a:t>Dashed boxes are inputs — we fill them in together, live. No benchmark stands in for your books.</a:t>
            </a:r>
            <a:endParaRPr lang="en-US" sz="13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0D0D0D"/>
        </a:solidFill>
      </p:bgPr>
    </p:bg>
    <p:spTree>
      <p:nvGrpSpPr>
        <p:cNvPr id="1" name=""/>
        <p:cNvGrpSpPr/>
        <p:nvPr/>
      </p:nvGrpSpPr>
      <p:grpSpPr>
        <a:xfrm>
          <a:off x="0" y="0"/>
          <a:ext cx="0" cy="0"/>
          <a:chOff x="0" y="0"/>
          <a:chExt cx="0" cy="0"/>
        </a:xfrm>
      </p:grpSpPr>
      <p:sp>
        <p:nvSpPr>
          <p:cNvPr id="2" name="Text 0"/>
          <p:cNvSpPr/>
          <p:nvPr/>
        </p:nvSpPr>
        <p:spPr>
          <a:xfrm>
            <a:off x="685800" y="457200"/>
            <a:ext cx="7315200" cy="274320"/>
          </a:xfrm>
          <a:prstGeom prst="rect">
            <a:avLst/>
          </a:prstGeom>
          <a:noFill/>
          <a:ln/>
        </p:spPr>
        <p:txBody>
          <a:bodyPr wrap="square" lIns="0" tIns="0" rIns="0" bIns="0" rtlCol="0" anchor="ctr"/>
          <a:lstStyle/>
          <a:p>
            <a:pPr algn="l" indent="0" marL="0">
              <a:buNone/>
            </a:pPr>
            <a:r>
              <a:rPr lang="en-US" sz="1100" b="1" spc="400" kern="0" dirty="0">
                <a:solidFill>
                  <a:srgbClr val="FF5A00"/>
                </a:solidFill>
                <a:latin typeface="Arial" pitchFamily="34" charset="0"/>
                <a:ea typeface="Arial" pitchFamily="34" charset="-122"/>
                <a:cs typeface="Arial" pitchFamily="34" charset="-120"/>
              </a:rPr>
              <a:t>APPENDIX · PRICING</a:t>
            </a:r>
            <a:endParaRPr lang="en-US" sz="1100" dirty="0"/>
          </a:p>
        </p:txBody>
      </p:sp>
      <p:sp>
        <p:nvSpPr>
          <p:cNvPr id="3" name="Text 1"/>
          <p:cNvSpPr/>
          <p:nvPr/>
        </p:nvSpPr>
        <p:spPr>
          <a:xfrm>
            <a:off x="685800" y="749808"/>
            <a:ext cx="10820095" cy="777240"/>
          </a:xfrm>
          <a:prstGeom prst="rect">
            <a:avLst/>
          </a:prstGeom>
          <a:noFill/>
          <a:ln/>
        </p:spPr>
        <p:txBody>
          <a:bodyPr wrap="square" lIns="0" tIns="0" rIns="0" bIns="0" rtlCol="0" anchor="ctr"/>
          <a:lstStyle/>
          <a:p>
            <a:pPr algn="l" indent="0" marL="0">
              <a:buNone/>
            </a:pPr>
            <a:r>
              <a:rPr lang="en-US" sz="3400" b="1" dirty="0">
                <a:solidFill>
                  <a:srgbClr val="F2F2F0"/>
                </a:solidFill>
                <a:latin typeface="Arial" pitchFamily="34" charset="0"/>
                <a:ea typeface="Arial" pitchFamily="34" charset="-122"/>
                <a:cs typeface="Arial" pitchFamily="34" charset="-120"/>
              </a:rPr>
              <a:t>SCOPED TO WHAT WE SWITCH ON.</a:t>
            </a:r>
            <a:endParaRPr lang="en-US" sz="3400" dirty="0"/>
          </a:p>
        </p:txBody>
      </p:sp>
      <p:sp>
        <p:nvSpPr>
          <p:cNvPr id="4" name="Text 2"/>
          <p:cNvSpPr/>
          <p:nvPr/>
        </p:nvSpPr>
        <p:spPr>
          <a:xfrm>
            <a:off x="11231575" y="6382512"/>
            <a:ext cx="548640" cy="274320"/>
          </a:xfrm>
          <a:prstGeom prst="rect">
            <a:avLst/>
          </a:prstGeom>
          <a:noFill/>
          <a:ln/>
        </p:spPr>
        <p:txBody>
          <a:bodyPr wrap="square" lIns="0" tIns="0" rIns="0" bIns="0" rtlCol="0" anchor="ctr"/>
          <a:lstStyle/>
          <a:p>
            <a:pPr algn="r" indent="0" marL="0">
              <a:buNone/>
            </a:pPr>
            <a:r>
              <a:rPr lang="en-US" sz="900" dirty="0">
                <a:solidFill>
                  <a:srgbClr val="5A5A5E"/>
                </a:solidFill>
                <a:latin typeface="Arial" pitchFamily="34" charset="0"/>
                <a:ea typeface="Arial" pitchFamily="34" charset="-122"/>
                <a:cs typeface="Arial" pitchFamily="34" charset="-120"/>
              </a:rPr>
              <a:t>16</a:t>
            </a:r>
            <a:endParaRPr lang="en-US" sz="900" dirty="0"/>
          </a:p>
        </p:txBody>
      </p:sp>
      <p:sp>
        <p:nvSpPr>
          <p:cNvPr id="5" name="Shape 3"/>
          <p:cNvSpPr/>
          <p:nvPr/>
        </p:nvSpPr>
        <p:spPr>
          <a:xfrm>
            <a:off x="685800" y="2286000"/>
            <a:ext cx="10820095" cy="960120"/>
          </a:xfrm>
          <a:prstGeom prst="roundRect">
            <a:avLst>
              <a:gd name="adj" fmla="val 4762"/>
            </a:avLst>
          </a:prstGeom>
          <a:solidFill>
            <a:srgbClr val="1A1A1C"/>
          </a:solidFill>
          <a:ln/>
        </p:spPr>
      </p:sp>
      <p:sp>
        <p:nvSpPr>
          <p:cNvPr id="6" name="Text 4"/>
          <p:cNvSpPr/>
          <p:nvPr/>
        </p:nvSpPr>
        <p:spPr>
          <a:xfrm>
            <a:off x="1051560" y="2423160"/>
            <a:ext cx="6217920" cy="685800"/>
          </a:xfrm>
          <a:prstGeom prst="rect">
            <a:avLst/>
          </a:prstGeom>
          <a:noFill/>
          <a:ln/>
        </p:spPr>
        <p:txBody>
          <a:bodyPr wrap="square" lIns="0" tIns="0" rIns="0" bIns="0" rtlCol="0" anchor="ctr"/>
          <a:lstStyle/>
          <a:p>
            <a:pPr indent="0" marL="0">
              <a:buNone/>
            </a:pPr>
            <a:r>
              <a:rPr lang="en-US" sz="1600" b="1" dirty="0">
                <a:solidFill>
                  <a:srgbClr val="F2F2F0"/>
                </a:solidFill>
                <a:latin typeface="Arial" pitchFamily="34" charset="0"/>
                <a:ea typeface="Arial" pitchFamily="34" charset="-122"/>
                <a:cs typeface="Arial" pitchFamily="34" charset="-120"/>
              </a:rPr>
              <a:t>Phase 1 — Capture + inbound</a:t>
            </a:r>
            <a:endParaRPr lang="en-US" sz="1600" dirty="0"/>
          </a:p>
        </p:txBody>
      </p:sp>
      <p:sp>
        <p:nvSpPr>
          <p:cNvPr id="7" name="Shape 5"/>
          <p:cNvSpPr/>
          <p:nvPr/>
        </p:nvSpPr>
        <p:spPr>
          <a:xfrm>
            <a:off x="8778240" y="2953512"/>
            <a:ext cx="2423160" cy="914"/>
          </a:xfrm>
          <a:prstGeom prst="line">
            <a:avLst/>
          </a:prstGeom>
          <a:noFill/>
          <a:ln w="12700">
            <a:solidFill>
              <a:srgbClr val="5A5A5E"/>
            </a:solidFill>
            <a:prstDash val="solid"/>
          </a:ln>
        </p:spPr>
      </p:sp>
      <p:sp>
        <p:nvSpPr>
          <p:cNvPr id="8" name="Shape 6"/>
          <p:cNvSpPr/>
          <p:nvPr/>
        </p:nvSpPr>
        <p:spPr>
          <a:xfrm>
            <a:off x="685800" y="3520440"/>
            <a:ext cx="10820095" cy="960120"/>
          </a:xfrm>
          <a:prstGeom prst="roundRect">
            <a:avLst>
              <a:gd name="adj" fmla="val 4762"/>
            </a:avLst>
          </a:prstGeom>
          <a:solidFill>
            <a:srgbClr val="1A1A1C"/>
          </a:solidFill>
          <a:ln/>
        </p:spPr>
      </p:sp>
      <p:sp>
        <p:nvSpPr>
          <p:cNvPr id="9" name="Text 7"/>
          <p:cNvSpPr/>
          <p:nvPr/>
        </p:nvSpPr>
        <p:spPr>
          <a:xfrm>
            <a:off x="1051560" y="3657600"/>
            <a:ext cx="6217920" cy="685800"/>
          </a:xfrm>
          <a:prstGeom prst="rect">
            <a:avLst/>
          </a:prstGeom>
          <a:noFill/>
          <a:ln/>
        </p:spPr>
        <p:txBody>
          <a:bodyPr wrap="square" lIns="0" tIns="0" rIns="0" bIns="0" rtlCol="0" anchor="ctr"/>
          <a:lstStyle/>
          <a:p>
            <a:pPr indent="0" marL="0">
              <a:buNone/>
            </a:pPr>
            <a:r>
              <a:rPr lang="en-US" sz="1600" b="1" dirty="0">
                <a:solidFill>
                  <a:srgbClr val="F2F2F0"/>
                </a:solidFill>
                <a:latin typeface="Arial" pitchFamily="34" charset="0"/>
                <a:ea typeface="Arial" pitchFamily="34" charset="-122"/>
                <a:cs typeface="Arial" pitchFamily="34" charset="-120"/>
              </a:rPr>
              <a:t>Phase 2 — Service workflows</a:t>
            </a:r>
            <a:endParaRPr lang="en-US" sz="1600" dirty="0"/>
          </a:p>
        </p:txBody>
      </p:sp>
      <p:sp>
        <p:nvSpPr>
          <p:cNvPr id="10" name="Shape 8"/>
          <p:cNvSpPr/>
          <p:nvPr/>
        </p:nvSpPr>
        <p:spPr>
          <a:xfrm>
            <a:off x="8778240" y="4187952"/>
            <a:ext cx="2423160" cy="914"/>
          </a:xfrm>
          <a:prstGeom prst="line">
            <a:avLst/>
          </a:prstGeom>
          <a:noFill/>
          <a:ln w="12700">
            <a:solidFill>
              <a:srgbClr val="5A5A5E"/>
            </a:solidFill>
            <a:prstDash val="solid"/>
          </a:ln>
        </p:spPr>
      </p:sp>
      <p:sp>
        <p:nvSpPr>
          <p:cNvPr id="11" name="Shape 9"/>
          <p:cNvSpPr/>
          <p:nvPr/>
        </p:nvSpPr>
        <p:spPr>
          <a:xfrm>
            <a:off x="685800" y="4754880"/>
            <a:ext cx="10820095" cy="960120"/>
          </a:xfrm>
          <a:prstGeom prst="roundRect">
            <a:avLst>
              <a:gd name="adj" fmla="val 4762"/>
            </a:avLst>
          </a:prstGeom>
          <a:solidFill>
            <a:srgbClr val="1A1A1C"/>
          </a:solidFill>
          <a:ln/>
        </p:spPr>
      </p:sp>
      <p:sp>
        <p:nvSpPr>
          <p:cNvPr id="12" name="Text 10"/>
          <p:cNvSpPr/>
          <p:nvPr/>
        </p:nvSpPr>
        <p:spPr>
          <a:xfrm>
            <a:off x="1051560" y="4892040"/>
            <a:ext cx="6217920" cy="685800"/>
          </a:xfrm>
          <a:prstGeom prst="rect">
            <a:avLst/>
          </a:prstGeom>
          <a:noFill/>
          <a:ln/>
        </p:spPr>
        <p:txBody>
          <a:bodyPr wrap="square" lIns="0" tIns="0" rIns="0" bIns="0" rtlCol="0" anchor="ctr"/>
          <a:lstStyle/>
          <a:p>
            <a:pPr indent="0" marL="0">
              <a:buNone/>
            </a:pPr>
            <a:r>
              <a:rPr lang="en-US" sz="1600" b="1" dirty="0">
                <a:solidFill>
                  <a:srgbClr val="F2F2F0"/>
                </a:solidFill>
                <a:latin typeface="Arial" pitchFamily="34" charset="0"/>
                <a:ea typeface="Arial" pitchFamily="34" charset="-122"/>
                <a:cs typeface="Arial" pitchFamily="34" charset="-120"/>
              </a:rPr>
              <a:t>Phase 3 — Outreach + dashboard</a:t>
            </a:r>
            <a:endParaRPr lang="en-US" sz="1600" dirty="0"/>
          </a:p>
        </p:txBody>
      </p:sp>
      <p:sp>
        <p:nvSpPr>
          <p:cNvPr id="13" name="Shape 11"/>
          <p:cNvSpPr/>
          <p:nvPr/>
        </p:nvSpPr>
        <p:spPr>
          <a:xfrm>
            <a:off x="8778240" y="5422392"/>
            <a:ext cx="2423160" cy="914"/>
          </a:xfrm>
          <a:prstGeom prst="line">
            <a:avLst/>
          </a:prstGeom>
          <a:noFill/>
          <a:ln w="12700">
            <a:solidFill>
              <a:srgbClr val="5A5A5E"/>
            </a:solidFill>
            <a:prstDash val="solid"/>
          </a:ln>
        </p:spPr>
      </p:sp>
      <p:sp>
        <p:nvSpPr>
          <p:cNvPr id="14" name="Text 12"/>
          <p:cNvSpPr/>
          <p:nvPr/>
        </p:nvSpPr>
        <p:spPr>
          <a:xfrm>
            <a:off x="685800" y="5943600"/>
            <a:ext cx="10789920" cy="365760"/>
          </a:xfrm>
          <a:prstGeom prst="rect">
            <a:avLst/>
          </a:prstGeom>
          <a:noFill/>
          <a:ln/>
        </p:spPr>
        <p:txBody>
          <a:bodyPr wrap="square" lIns="0" tIns="0" rIns="0" bIns="0" rtlCol="0" anchor="ctr"/>
          <a:lstStyle/>
          <a:p>
            <a:pPr indent="0" marL="0">
              <a:buNone/>
            </a:pPr>
            <a:r>
              <a:rPr lang="en-US" sz="1300" i="1" dirty="0">
                <a:solidFill>
                  <a:srgbClr val="9A9A9E"/>
                </a:solidFill>
                <a:latin typeface="Arial" pitchFamily="34" charset="0"/>
                <a:ea typeface="Arial" pitchFamily="34" charset="-122"/>
                <a:cs typeface="Arial" pitchFamily="34" charset="-120"/>
              </a:rPr>
              <a:t>Written together, once scope is clear.</a:t>
            </a:r>
            <a:endParaRPr lang="en-US" sz="13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0D0D0D"/>
        </a:solidFill>
      </p:bgPr>
    </p:bg>
    <p:spTree>
      <p:nvGrpSpPr>
        <p:cNvPr id="1" name=""/>
        <p:cNvGrpSpPr/>
        <p:nvPr/>
      </p:nvGrpSpPr>
      <p:grpSpPr>
        <a:xfrm>
          <a:off x="0" y="0"/>
          <a:ext cx="0" cy="0"/>
          <a:chOff x="0" y="0"/>
          <a:chExt cx="0" cy="0"/>
        </a:xfrm>
      </p:grpSpPr>
      <p:sp>
        <p:nvSpPr>
          <p:cNvPr id="2" name="Text 0"/>
          <p:cNvSpPr/>
          <p:nvPr/>
        </p:nvSpPr>
        <p:spPr>
          <a:xfrm>
            <a:off x="685800" y="457200"/>
            <a:ext cx="7315200" cy="274320"/>
          </a:xfrm>
          <a:prstGeom prst="rect">
            <a:avLst/>
          </a:prstGeom>
          <a:noFill/>
          <a:ln/>
        </p:spPr>
        <p:txBody>
          <a:bodyPr wrap="square" lIns="0" tIns="0" rIns="0" bIns="0" rtlCol="0" anchor="ctr"/>
          <a:lstStyle/>
          <a:p>
            <a:pPr algn="l" indent="0" marL="0">
              <a:buNone/>
            </a:pPr>
            <a:r>
              <a:rPr lang="en-US" sz="1100" b="1" spc="400" kern="0" dirty="0">
                <a:solidFill>
                  <a:srgbClr val="FF5A00"/>
                </a:solidFill>
                <a:latin typeface="Arial" pitchFamily="34" charset="0"/>
                <a:ea typeface="Arial" pitchFamily="34" charset="-122"/>
                <a:cs typeface="Arial" pitchFamily="34" charset="-120"/>
              </a:rPr>
              <a:t>APPENDIX · STRAIGHT ANSWERS</a:t>
            </a:r>
            <a:endParaRPr lang="en-US" sz="1100" dirty="0"/>
          </a:p>
        </p:txBody>
      </p:sp>
      <p:sp>
        <p:nvSpPr>
          <p:cNvPr id="3" name="Text 1"/>
          <p:cNvSpPr/>
          <p:nvPr/>
        </p:nvSpPr>
        <p:spPr>
          <a:xfrm>
            <a:off x="685800" y="749808"/>
            <a:ext cx="10820095" cy="777240"/>
          </a:xfrm>
          <a:prstGeom prst="rect">
            <a:avLst/>
          </a:prstGeom>
          <a:noFill/>
          <a:ln/>
        </p:spPr>
        <p:txBody>
          <a:bodyPr wrap="square" lIns="0" tIns="0" rIns="0" bIns="0" rtlCol="0" anchor="ctr"/>
          <a:lstStyle/>
          <a:p>
            <a:pPr algn="l" indent="0" marL="0">
              <a:buNone/>
            </a:pPr>
            <a:r>
              <a:rPr lang="en-US" sz="3400" b="1" dirty="0">
                <a:solidFill>
                  <a:srgbClr val="F2F2F0"/>
                </a:solidFill>
                <a:latin typeface="Arial" pitchFamily="34" charset="0"/>
                <a:ea typeface="Arial" pitchFamily="34" charset="-122"/>
                <a:cs typeface="Arial" pitchFamily="34" charset="-120"/>
              </a:rPr>
              <a:t>THE THREE QUESTIONS EVERYONE ASKS.</a:t>
            </a:r>
            <a:endParaRPr lang="en-US" sz="3400" dirty="0"/>
          </a:p>
        </p:txBody>
      </p:sp>
      <p:sp>
        <p:nvSpPr>
          <p:cNvPr id="4" name="Text 2"/>
          <p:cNvSpPr/>
          <p:nvPr/>
        </p:nvSpPr>
        <p:spPr>
          <a:xfrm>
            <a:off x="11231575" y="6382512"/>
            <a:ext cx="548640" cy="274320"/>
          </a:xfrm>
          <a:prstGeom prst="rect">
            <a:avLst/>
          </a:prstGeom>
          <a:noFill/>
          <a:ln/>
        </p:spPr>
        <p:txBody>
          <a:bodyPr wrap="square" lIns="0" tIns="0" rIns="0" bIns="0" rtlCol="0" anchor="ctr"/>
          <a:lstStyle/>
          <a:p>
            <a:pPr algn="r" indent="0" marL="0">
              <a:buNone/>
            </a:pPr>
            <a:r>
              <a:rPr lang="en-US" sz="900" dirty="0">
                <a:solidFill>
                  <a:srgbClr val="5A5A5E"/>
                </a:solidFill>
                <a:latin typeface="Arial" pitchFamily="34" charset="0"/>
                <a:ea typeface="Arial" pitchFamily="34" charset="-122"/>
                <a:cs typeface="Arial" pitchFamily="34" charset="-120"/>
              </a:rPr>
              <a:t>17</a:t>
            </a:r>
            <a:endParaRPr lang="en-US" sz="900" dirty="0"/>
          </a:p>
        </p:txBody>
      </p:sp>
      <p:sp>
        <p:nvSpPr>
          <p:cNvPr id="5" name="Shape 3"/>
          <p:cNvSpPr/>
          <p:nvPr/>
        </p:nvSpPr>
        <p:spPr>
          <a:xfrm>
            <a:off x="685800" y="2057400"/>
            <a:ext cx="10820095" cy="1207008"/>
          </a:xfrm>
          <a:prstGeom prst="roundRect">
            <a:avLst>
              <a:gd name="adj" fmla="val 3788"/>
            </a:avLst>
          </a:prstGeom>
          <a:solidFill>
            <a:srgbClr val="1A1A1C"/>
          </a:solidFill>
          <a:ln/>
        </p:spPr>
      </p:sp>
      <p:sp>
        <p:nvSpPr>
          <p:cNvPr id="6" name="Text 4"/>
          <p:cNvSpPr/>
          <p:nvPr/>
        </p:nvSpPr>
        <p:spPr>
          <a:xfrm>
            <a:off x="1097280" y="2240280"/>
            <a:ext cx="10058400" cy="384048"/>
          </a:xfrm>
          <a:prstGeom prst="rect">
            <a:avLst/>
          </a:prstGeom>
          <a:noFill/>
          <a:ln/>
        </p:spPr>
        <p:txBody>
          <a:bodyPr wrap="square" lIns="0" tIns="0" rIns="0" bIns="0" rtlCol="0" anchor="ctr"/>
          <a:lstStyle/>
          <a:p>
            <a:pPr indent="0" marL="0">
              <a:buNone/>
            </a:pPr>
            <a:r>
              <a:rPr lang="en-US" sz="1700" b="1" dirty="0">
                <a:solidFill>
                  <a:srgbClr val="F2F2F0"/>
                </a:solidFill>
                <a:latin typeface="Arial" pitchFamily="34" charset="0"/>
                <a:ea typeface="Arial" pitchFamily="34" charset="-122"/>
                <a:cs typeface="Arial" pitchFamily="34" charset="-120"/>
              </a:rPr>
              <a:t>Does this replace my people?</a:t>
            </a:r>
            <a:endParaRPr lang="en-US" sz="1700" dirty="0"/>
          </a:p>
        </p:txBody>
      </p:sp>
      <p:sp>
        <p:nvSpPr>
          <p:cNvPr id="7" name="Text 5"/>
          <p:cNvSpPr/>
          <p:nvPr/>
        </p:nvSpPr>
        <p:spPr>
          <a:xfrm>
            <a:off x="1097280" y="2679192"/>
            <a:ext cx="10058400" cy="411480"/>
          </a:xfrm>
          <a:prstGeom prst="rect">
            <a:avLst/>
          </a:prstGeom>
          <a:noFill/>
          <a:ln/>
        </p:spPr>
        <p:txBody>
          <a:bodyPr wrap="square" lIns="0" tIns="0" rIns="0" bIns="0" rtlCol="0" anchor="ctr"/>
          <a:lstStyle/>
          <a:p>
            <a:pPr indent="0" marL="0">
              <a:buNone/>
            </a:pPr>
            <a:r>
              <a:rPr lang="en-US" sz="1500" dirty="0">
                <a:solidFill>
                  <a:srgbClr val="FF5A00"/>
                </a:solidFill>
                <a:latin typeface="Arial" pitchFamily="34" charset="0"/>
                <a:ea typeface="Arial" pitchFamily="34" charset="-122"/>
                <a:cs typeface="Arial" pitchFamily="34" charset="-120"/>
              </a:rPr>
              <a:t>No. It removes the work they hate.</a:t>
            </a:r>
            <a:endParaRPr lang="en-US" sz="1500" dirty="0"/>
          </a:p>
        </p:txBody>
      </p:sp>
      <p:sp>
        <p:nvSpPr>
          <p:cNvPr id="8" name="Shape 6"/>
          <p:cNvSpPr/>
          <p:nvPr/>
        </p:nvSpPr>
        <p:spPr>
          <a:xfrm>
            <a:off x="685800" y="3493008"/>
            <a:ext cx="10820095" cy="1207008"/>
          </a:xfrm>
          <a:prstGeom prst="roundRect">
            <a:avLst>
              <a:gd name="adj" fmla="val 3788"/>
            </a:avLst>
          </a:prstGeom>
          <a:solidFill>
            <a:srgbClr val="1A1A1C"/>
          </a:solidFill>
          <a:ln/>
        </p:spPr>
      </p:sp>
      <p:sp>
        <p:nvSpPr>
          <p:cNvPr id="9" name="Text 7"/>
          <p:cNvSpPr/>
          <p:nvPr/>
        </p:nvSpPr>
        <p:spPr>
          <a:xfrm>
            <a:off x="1097280" y="3675888"/>
            <a:ext cx="10058400" cy="384048"/>
          </a:xfrm>
          <a:prstGeom prst="rect">
            <a:avLst/>
          </a:prstGeom>
          <a:noFill/>
          <a:ln/>
        </p:spPr>
        <p:txBody>
          <a:bodyPr wrap="square" lIns="0" tIns="0" rIns="0" bIns="0" rtlCol="0" anchor="ctr"/>
          <a:lstStyle/>
          <a:p>
            <a:pPr indent="0" marL="0">
              <a:buNone/>
            </a:pPr>
            <a:r>
              <a:rPr lang="en-US" sz="1700" b="1" dirty="0">
                <a:solidFill>
                  <a:srgbClr val="F2F2F0"/>
                </a:solidFill>
                <a:latin typeface="Arial" pitchFamily="34" charset="0"/>
                <a:ea typeface="Arial" pitchFamily="34" charset="-122"/>
                <a:cs typeface="Arial" pitchFamily="34" charset="-120"/>
              </a:rPr>
              <a:t>What about customers who hate AI?</a:t>
            </a:r>
            <a:endParaRPr lang="en-US" sz="1700" dirty="0"/>
          </a:p>
        </p:txBody>
      </p:sp>
      <p:sp>
        <p:nvSpPr>
          <p:cNvPr id="10" name="Text 8"/>
          <p:cNvSpPr/>
          <p:nvPr/>
        </p:nvSpPr>
        <p:spPr>
          <a:xfrm>
            <a:off x="1097280" y="4114800"/>
            <a:ext cx="10058400" cy="411480"/>
          </a:xfrm>
          <a:prstGeom prst="rect">
            <a:avLst/>
          </a:prstGeom>
          <a:noFill/>
          <a:ln/>
        </p:spPr>
        <p:txBody>
          <a:bodyPr wrap="square" lIns="0" tIns="0" rIns="0" bIns="0" rtlCol="0" anchor="ctr"/>
          <a:lstStyle/>
          <a:p>
            <a:pPr indent="0" marL="0">
              <a:buNone/>
            </a:pPr>
            <a:r>
              <a:rPr lang="en-US" sz="1500" dirty="0">
                <a:solidFill>
                  <a:srgbClr val="FF5A00"/>
                </a:solidFill>
                <a:latin typeface="Arial" pitchFamily="34" charset="0"/>
                <a:ea typeface="Arial" pitchFamily="34" charset="-122"/>
                <a:cs typeface="Arial" pitchFamily="34" charset="-120"/>
              </a:rPr>
              <a:t>A human is one word away — escalation is instant and built-in.</a:t>
            </a:r>
            <a:endParaRPr lang="en-US" sz="1500" dirty="0"/>
          </a:p>
        </p:txBody>
      </p:sp>
      <p:sp>
        <p:nvSpPr>
          <p:cNvPr id="11" name="Shape 9"/>
          <p:cNvSpPr/>
          <p:nvPr/>
        </p:nvSpPr>
        <p:spPr>
          <a:xfrm>
            <a:off x="685800" y="4928616"/>
            <a:ext cx="10820095" cy="1207008"/>
          </a:xfrm>
          <a:prstGeom prst="roundRect">
            <a:avLst>
              <a:gd name="adj" fmla="val 3788"/>
            </a:avLst>
          </a:prstGeom>
          <a:solidFill>
            <a:srgbClr val="1A1A1C"/>
          </a:solidFill>
          <a:ln/>
        </p:spPr>
      </p:sp>
      <p:sp>
        <p:nvSpPr>
          <p:cNvPr id="12" name="Text 10"/>
          <p:cNvSpPr/>
          <p:nvPr/>
        </p:nvSpPr>
        <p:spPr>
          <a:xfrm>
            <a:off x="1097280" y="5111496"/>
            <a:ext cx="10058400" cy="384048"/>
          </a:xfrm>
          <a:prstGeom prst="rect">
            <a:avLst/>
          </a:prstGeom>
          <a:noFill/>
          <a:ln/>
        </p:spPr>
        <p:txBody>
          <a:bodyPr wrap="square" lIns="0" tIns="0" rIns="0" bIns="0" rtlCol="0" anchor="ctr"/>
          <a:lstStyle/>
          <a:p>
            <a:pPr indent="0" marL="0">
              <a:buNone/>
            </a:pPr>
            <a:r>
              <a:rPr lang="en-US" sz="1700" b="1" dirty="0">
                <a:solidFill>
                  <a:srgbClr val="F2F2F0"/>
                </a:solidFill>
                <a:latin typeface="Arial" pitchFamily="34" charset="0"/>
                <a:ea typeface="Arial" pitchFamily="34" charset="-122"/>
                <a:cs typeface="Arial" pitchFamily="34" charset="-120"/>
              </a:rPr>
              <a:t>Who owns the data?</a:t>
            </a:r>
            <a:endParaRPr lang="en-US" sz="1700" dirty="0"/>
          </a:p>
        </p:txBody>
      </p:sp>
      <p:sp>
        <p:nvSpPr>
          <p:cNvPr id="13" name="Text 11"/>
          <p:cNvSpPr/>
          <p:nvPr/>
        </p:nvSpPr>
        <p:spPr>
          <a:xfrm>
            <a:off x="1097280" y="5550408"/>
            <a:ext cx="10058400" cy="411480"/>
          </a:xfrm>
          <a:prstGeom prst="rect">
            <a:avLst/>
          </a:prstGeom>
          <a:noFill/>
          <a:ln/>
        </p:spPr>
        <p:txBody>
          <a:bodyPr wrap="square" lIns="0" tIns="0" rIns="0" bIns="0" rtlCol="0" anchor="ctr"/>
          <a:lstStyle/>
          <a:p>
            <a:pPr indent="0" marL="0">
              <a:buNone/>
            </a:pPr>
            <a:r>
              <a:rPr lang="en-US" sz="1500" dirty="0">
                <a:solidFill>
                  <a:srgbClr val="FF5A00"/>
                </a:solidFill>
                <a:latin typeface="Arial" pitchFamily="34" charset="0"/>
                <a:ea typeface="Arial" pitchFamily="34" charset="-122"/>
                <a:cs typeface="Arial" pitchFamily="34" charset="-120"/>
              </a:rPr>
              <a:t>You do. All of it, always.</a:t>
            </a:r>
            <a:endParaRPr lang="en-US" sz="15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16161A"/>
        </a:solidFill>
      </p:bgPr>
    </p:bg>
    <p:spTree>
      <p:nvGrpSpPr>
        <p:cNvPr id="1" name=""/>
        <p:cNvGrpSpPr/>
        <p:nvPr/>
      </p:nvGrpSpPr>
      <p:grpSpPr>
        <a:xfrm>
          <a:off x="0" y="0"/>
          <a:ext cx="0" cy="0"/>
          <a:chOff x="0" y="0"/>
          <a:chExt cx="0" cy="0"/>
        </a:xfrm>
      </p:grpSpPr>
      <p:sp>
        <p:nvSpPr>
          <p:cNvPr id="2" name="Shape 0"/>
          <p:cNvSpPr/>
          <p:nvPr/>
        </p:nvSpPr>
        <p:spPr>
          <a:xfrm>
            <a:off x="685800" y="457200"/>
            <a:ext cx="3291840" cy="384048"/>
          </a:xfrm>
          <a:prstGeom prst="roundRect">
            <a:avLst>
              <a:gd name="adj" fmla="val 11905"/>
            </a:avLst>
          </a:prstGeom>
          <a:solidFill>
            <a:srgbClr val="FF5A00"/>
          </a:solidFill>
          <a:ln/>
        </p:spPr>
      </p:sp>
      <p:sp>
        <p:nvSpPr>
          <p:cNvPr id="3" name="Text 1"/>
          <p:cNvSpPr/>
          <p:nvPr/>
        </p:nvSpPr>
        <p:spPr>
          <a:xfrm>
            <a:off x="685800" y="457200"/>
            <a:ext cx="3291840" cy="384048"/>
          </a:xfrm>
          <a:prstGeom prst="rect">
            <a:avLst/>
          </a:prstGeom>
          <a:noFill/>
          <a:ln/>
        </p:spPr>
        <p:txBody>
          <a:bodyPr wrap="square" lIns="0" tIns="0" rIns="0" bIns="0" rtlCol="0" anchor="ctr"/>
          <a:lstStyle/>
          <a:p>
            <a:pPr algn="ctr" indent="0" marL="0">
              <a:buNone/>
            </a:pPr>
            <a:r>
              <a:rPr lang="en-US" sz="1200" b="1" spc="100" kern="0" dirty="0">
                <a:solidFill>
                  <a:srgbClr val="0D0D0D"/>
                </a:solidFill>
                <a:latin typeface="Arial" pitchFamily="34" charset="0"/>
                <a:ea typeface="Arial" pitchFamily="34" charset="-122"/>
                <a:cs typeface="Arial" pitchFamily="34" charset="-120"/>
              </a:rPr>
              <a:t>INTERNAL — DO NOT PRESENT</a:t>
            </a:r>
            <a:endParaRPr lang="en-US" sz="1200" dirty="0"/>
          </a:p>
        </p:txBody>
      </p:sp>
      <p:sp>
        <p:nvSpPr>
          <p:cNvPr id="4" name="Text 2"/>
          <p:cNvSpPr/>
          <p:nvPr/>
        </p:nvSpPr>
        <p:spPr>
          <a:xfrm>
            <a:off x="685800" y="1051560"/>
            <a:ext cx="10820095" cy="777240"/>
          </a:xfrm>
          <a:prstGeom prst="rect">
            <a:avLst/>
          </a:prstGeom>
          <a:noFill/>
          <a:ln/>
        </p:spPr>
        <p:txBody>
          <a:bodyPr wrap="square" lIns="0" tIns="0" rIns="0" bIns="0" rtlCol="0" anchor="ctr"/>
          <a:lstStyle/>
          <a:p>
            <a:pPr algn="l" indent="0" marL="0">
              <a:buNone/>
            </a:pPr>
            <a:r>
              <a:rPr lang="en-US" sz="2600" b="1" dirty="0">
                <a:solidFill>
                  <a:srgbClr val="F2F2F0"/>
                </a:solidFill>
                <a:latin typeface="Arial" pitchFamily="34" charset="0"/>
                <a:ea typeface="Arial" pitchFamily="34" charset="-122"/>
                <a:cs typeface="Arial" pitchFamily="34" charset="-120"/>
              </a:rPr>
              <a:t>ASK DYLAN — FOR DECK V2 WITH REAL NUMBERS.</a:t>
            </a:r>
            <a:endParaRPr lang="en-US" sz="2600" dirty="0"/>
          </a:p>
        </p:txBody>
      </p:sp>
      <p:sp>
        <p:nvSpPr>
          <p:cNvPr id="5" name="Text 3"/>
          <p:cNvSpPr/>
          <p:nvPr/>
        </p:nvSpPr>
        <p:spPr>
          <a:xfrm>
            <a:off x="11231575" y="6382512"/>
            <a:ext cx="548640" cy="274320"/>
          </a:xfrm>
          <a:prstGeom prst="rect">
            <a:avLst/>
          </a:prstGeom>
          <a:noFill/>
          <a:ln/>
        </p:spPr>
        <p:txBody>
          <a:bodyPr wrap="square" lIns="0" tIns="0" rIns="0" bIns="0" rtlCol="0" anchor="ctr"/>
          <a:lstStyle/>
          <a:p>
            <a:pPr algn="r" indent="0" marL="0">
              <a:buNone/>
            </a:pPr>
            <a:r>
              <a:rPr lang="en-US" sz="900" dirty="0">
                <a:solidFill>
                  <a:srgbClr val="5A5A5E"/>
                </a:solidFill>
                <a:latin typeface="Arial" pitchFamily="34" charset="0"/>
                <a:ea typeface="Arial" pitchFamily="34" charset="-122"/>
                <a:cs typeface="Arial" pitchFamily="34" charset="-120"/>
              </a:rPr>
              <a:t>18</a:t>
            </a:r>
            <a:endParaRPr lang="en-US" sz="900" dirty="0"/>
          </a:p>
        </p:txBody>
      </p:sp>
      <p:sp>
        <p:nvSpPr>
          <p:cNvPr id="6" name="Text 4"/>
          <p:cNvSpPr/>
          <p:nvPr/>
        </p:nvSpPr>
        <p:spPr>
          <a:xfrm>
            <a:off x="685800" y="2020824"/>
            <a:ext cx="502920" cy="365760"/>
          </a:xfrm>
          <a:prstGeom prst="rect">
            <a:avLst/>
          </a:prstGeom>
          <a:noFill/>
          <a:ln/>
        </p:spPr>
        <p:txBody>
          <a:bodyPr wrap="square" lIns="0" tIns="0" rIns="0" bIns="0" rtlCol="0" anchor="ctr"/>
          <a:lstStyle/>
          <a:p>
            <a:pPr indent="0" marL="0">
              <a:buNone/>
            </a:pPr>
            <a:r>
              <a:rPr lang="en-US" sz="1600" b="1" dirty="0">
                <a:solidFill>
                  <a:srgbClr val="FF5A00"/>
                </a:solidFill>
                <a:latin typeface="Arial" pitchFamily="34" charset="0"/>
                <a:ea typeface="Arial" pitchFamily="34" charset="-122"/>
                <a:cs typeface="Arial" pitchFamily="34" charset="-120"/>
              </a:rPr>
              <a:t>01</a:t>
            </a:r>
            <a:endParaRPr lang="en-US" sz="1600" dirty="0"/>
          </a:p>
        </p:txBody>
      </p:sp>
      <p:sp>
        <p:nvSpPr>
          <p:cNvPr id="7" name="Text 5"/>
          <p:cNvSpPr/>
          <p:nvPr/>
        </p:nvSpPr>
        <p:spPr>
          <a:xfrm>
            <a:off x="1234440" y="1965960"/>
            <a:ext cx="4846320" cy="566928"/>
          </a:xfrm>
          <a:prstGeom prst="rect">
            <a:avLst/>
          </a:prstGeom>
          <a:noFill/>
          <a:ln/>
        </p:spPr>
        <p:txBody>
          <a:bodyPr wrap="square" lIns="0" tIns="0" rIns="0" bIns="0" rtlCol="0" anchor="ctr"/>
          <a:lstStyle/>
          <a:p>
            <a:pPr indent="0" marL="0">
              <a:buNone/>
            </a:pPr>
            <a:r>
              <a:rPr lang="en-US" sz="1350" dirty="0">
                <a:solidFill>
                  <a:srgbClr val="F2F2F0"/>
                </a:solidFill>
                <a:latin typeface="Arial" pitchFamily="34" charset="0"/>
                <a:ea typeface="Arial" pitchFamily="34" charset="-122"/>
                <a:cs typeface="Arial" pitchFamily="34" charset="-120"/>
              </a:rPr>
              <a:t>Inbound inquiries per month, all channels?</a:t>
            </a:r>
            <a:endParaRPr lang="en-US" sz="1350" dirty="0"/>
          </a:p>
        </p:txBody>
      </p:sp>
      <p:sp>
        <p:nvSpPr>
          <p:cNvPr id="8" name="Text 6"/>
          <p:cNvSpPr/>
          <p:nvPr/>
        </p:nvSpPr>
        <p:spPr>
          <a:xfrm>
            <a:off x="685800" y="2715768"/>
            <a:ext cx="502920" cy="365760"/>
          </a:xfrm>
          <a:prstGeom prst="rect">
            <a:avLst/>
          </a:prstGeom>
          <a:noFill/>
          <a:ln/>
        </p:spPr>
        <p:txBody>
          <a:bodyPr wrap="square" lIns="0" tIns="0" rIns="0" bIns="0" rtlCol="0" anchor="ctr"/>
          <a:lstStyle/>
          <a:p>
            <a:pPr indent="0" marL="0">
              <a:buNone/>
            </a:pPr>
            <a:r>
              <a:rPr lang="en-US" sz="1600" b="1" dirty="0">
                <a:solidFill>
                  <a:srgbClr val="FF5A00"/>
                </a:solidFill>
                <a:latin typeface="Arial" pitchFamily="34" charset="0"/>
                <a:ea typeface="Arial" pitchFamily="34" charset="-122"/>
                <a:cs typeface="Arial" pitchFamily="34" charset="-120"/>
              </a:rPr>
              <a:t>02</a:t>
            </a:r>
            <a:endParaRPr lang="en-US" sz="1600" dirty="0"/>
          </a:p>
        </p:txBody>
      </p:sp>
      <p:sp>
        <p:nvSpPr>
          <p:cNvPr id="9" name="Text 7"/>
          <p:cNvSpPr/>
          <p:nvPr/>
        </p:nvSpPr>
        <p:spPr>
          <a:xfrm>
            <a:off x="1234440" y="2660904"/>
            <a:ext cx="4846320" cy="566928"/>
          </a:xfrm>
          <a:prstGeom prst="rect">
            <a:avLst/>
          </a:prstGeom>
          <a:noFill/>
          <a:ln/>
        </p:spPr>
        <p:txBody>
          <a:bodyPr wrap="square" lIns="0" tIns="0" rIns="0" bIns="0" rtlCol="0" anchor="ctr"/>
          <a:lstStyle/>
          <a:p>
            <a:pPr indent="0" marL="0">
              <a:buNone/>
            </a:pPr>
            <a:r>
              <a:rPr lang="en-US" sz="1350" dirty="0">
                <a:solidFill>
                  <a:srgbClr val="F2F2F0"/>
                </a:solidFill>
                <a:latin typeface="Arial" pitchFamily="34" charset="0"/>
                <a:ea typeface="Arial" pitchFamily="34" charset="-122"/>
                <a:cs typeface="Arial" pitchFamily="34" charset="-120"/>
              </a:rPr>
              <a:t>What % get a response within an hour?</a:t>
            </a:r>
            <a:endParaRPr lang="en-US" sz="1350" dirty="0"/>
          </a:p>
        </p:txBody>
      </p:sp>
      <p:sp>
        <p:nvSpPr>
          <p:cNvPr id="10" name="Text 8"/>
          <p:cNvSpPr/>
          <p:nvPr/>
        </p:nvSpPr>
        <p:spPr>
          <a:xfrm>
            <a:off x="685800" y="3410712"/>
            <a:ext cx="502920" cy="365760"/>
          </a:xfrm>
          <a:prstGeom prst="rect">
            <a:avLst/>
          </a:prstGeom>
          <a:noFill/>
          <a:ln/>
        </p:spPr>
        <p:txBody>
          <a:bodyPr wrap="square" lIns="0" tIns="0" rIns="0" bIns="0" rtlCol="0" anchor="ctr"/>
          <a:lstStyle/>
          <a:p>
            <a:pPr indent="0" marL="0">
              <a:buNone/>
            </a:pPr>
            <a:r>
              <a:rPr lang="en-US" sz="1600" b="1" dirty="0">
                <a:solidFill>
                  <a:srgbClr val="FF5A00"/>
                </a:solidFill>
                <a:latin typeface="Arial" pitchFamily="34" charset="0"/>
                <a:ea typeface="Arial" pitchFamily="34" charset="-122"/>
                <a:cs typeface="Arial" pitchFamily="34" charset="-120"/>
              </a:rPr>
              <a:t>03</a:t>
            </a:r>
            <a:endParaRPr lang="en-US" sz="1600" dirty="0"/>
          </a:p>
        </p:txBody>
      </p:sp>
      <p:sp>
        <p:nvSpPr>
          <p:cNvPr id="11" name="Text 9"/>
          <p:cNvSpPr/>
          <p:nvPr/>
        </p:nvSpPr>
        <p:spPr>
          <a:xfrm>
            <a:off x="1234440" y="3355848"/>
            <a:ext cx="4846320" cy="566928"/>
          </a:xfrm>
          <a:prstGeom prst="rect">
            <a:avLst/>
          </a:prstGeom>
          <a:noFill/>
          <a:ln/>
        </p:spPr>
        <p:txBody>
          <a:bodyPr wrap="square" lIns="0" tIns="0" rIns="0" bIns="0" rtlCol="0" anchor="ctr"/>
          <a:lstStyle/>
          <a:p>
            <a:pPr indent="0" marL="0">
              <a:buNone/>
            </a:pPr>
            <a:r>
              <a:rPr lang="en-US" sz="1350" dirty="0">
                <a:solidFill>
                  <a:srgbClr val="F2F2F0"/>
                </a:solidFill>
                <a:latin typeface="Arial" pitchFamily="34" charset="0"/>
                <a:ea typeface="Arial" pitchFamily="34" charset="-122"/>
                <a:cs typeface="Arial" pitchFamily="34" charset="-120"/>
              </a:rPr>
              <a:t>How many people touch a deal, first contact to delivery?</a:t>
            </a:r>
            <a:endParaRPr lang="en-US" sz="1350" dirty="0"/>
          </a:p>
        </p:txBody>
      </p:sp>
      <p:sp>
        <p:nvSpPr>
          <p:cNvPr id="12" name="Text 10"/>
          <p:cNvSpPr/>
          <p:nvPr/>
        </p:nvSpPr>
        <p:spPr>
          <a:xfrm>
            <a:off x="685800" y="4105656"/>
            <a:ext cx="502920" cy="365760"/>
          </a:xfrm>
          <a:prstGeom prst="rect">
            <a:avLst/>
          </a:prstGeom>
          <a:noFill/>
          <a:ln/>
        </p:spPr>
        <p:txBody>
          <a:bodyPr wrap="square" lIns="0" tIns="0" rIns="0" bIns="0" rtlCol="0" anchor="ctr"/>
          <a:lstStyle/>
          <a:p>
            <a:pPr indent="0" marL="0">
              <a:buNone/>
            </a:pPr>
            <a:r>
              <a:rPr lang="en-US" sz="1600" b="1" dirty="0">
                <a:solidFill>
                  <a:srgbClr val="FF5A00"/>
                </a:solidFill>
                <a:latin typeface="Arial" pitchFamily="34" charset="0"/>
                <a:ea typeface="Arial" pitchFamily="34" charset="-122"/>
                <a:cs typeface="Arial" pitchFamily="34" charset="-120"/>
              </a:rPr>
              <a:t>04</a:t>
            </a:r>
            <a:endParaRPr lang="en-US" sz="1600" dirty="0"/>
          </a:p>
        </p:txBody>
      </p:sp>
      <p:sp>
        <p:nvSpPr>
          <p:cNvPr id="13" name="Text 11"/>
          <p:cNvSpPr/>
          <p:nvPr/>
        </p:nvSpPr>
        <p:spPr>
          <a:xfrm>
            <a:off x="1234440" y="4050792"/>
            <a:ext cx="4846320" cy="566928"/>
          </a:xfrm>
          <a:prstGeom prst="rect">
            <a:avLst/>
          </a:prstGeom>
          <a:noFill/>
          <a:ln/>
        </p:spPr>
        <p:txBody>
          <a:bodyPr wrap="square" lIns="0" tIns="0" rIns="0" bIns="0" rtlCol="0" anchor="ctr"/>
          <a:lstStyle/>
          <a:p>
            <a:pPr indent="0" marL="0">
              <a:buNone/>
            </a:pPr>
            <a:r>
              <a:rPr lang="en-US" sz="1350" dirty="0">
                <a:solidFill>
                  <a:srgbClr val="F2F2F0"/>
                </a:solidFill>
                <a:latin typeface="Arial" pitchFamily="34" charset="0"/>
                <a:ea typeface="Arial" pitchFamily="34" charset="-122"/>
                <a:cs typeface="Arial" pitchFamily="34" charset="-120"/>
              </a:rPr>
              <a:t>Service department — booked out, or hunting for work?</a:t>
            </a:r>
            <a:endParaRPr lang="en-US" sz="1350" dirty="0"/>
          </a:p>
        </p:txBody>
      </p:sp>
      <p:sp>
        <p:nvSpPr>
          <p:cNvPr id="14" name="Text 12"/>
          <p:cNvSpPr/>
          <p:nvPr/>
        </p:nvSpPr>
        <p:spPr>
          <a:xfrm>
            <a:off x="6263640" y="2020824"/>
            <a:ext cx="502920" cy="365760"/>
          </a:xfrm>
          <a:prstGeom prst="rect">
            <a:avLst/>
          </a:prstGeom>
          <a:noFill/>
          <a:ln/>
        </p:spPr>
        <p:txBody>
          <a:bodyPr wrap="square" lIns="0" tIns="0" rIns="0" bIns="0" rtlCol="0" anchor="ctr"/>
          <a:lstStyle/>
          <a:p>
            <a:pPr indent="0" marL="0">
              <a:buNone/>
            </a:pPr>
            <a:r>
              <a:rPr lang="en-US" sz="1600" b="1" dirty="0">
                <a:solidFill>
                  <a:srgbClr val="FF5A00"/>
                </a:solidFill>
                <a:latin typeface="Arial" pitchFamily="34" charset="0"/>
                <a:ea typeface="Arial" pitchFamily="34" charset="-122"/>
                <a:cs typeface="Arial" pitchFamily="34" charset="-120"/>
              </a:rPr>
              <a:t>05</a:t>
            </a:r>
            <a:endParaRPr lang="en-US" sz="1600" dirty="0"/>
          </a:p>
        </p:txBody>
      </p:sp>
      <p:sp>
        <p:nvSpPr>
          <p:cNvPr id="15" name="Text 13"/>
          <p:cNvSpPr/>
          <p:nvPr/>
        </p:nvSpPr>
        <p:spPr>
          <a:xfrm>
            <a:off x="6812280" y="1965960"/>
            <a:ext cx="4846320" cy="566928"/>
          </a:xfrm>
          <a:prstGeom prst="rect">
            <a:avLst/>
          </a:prstGeom>
          <a:noFill/>
          <a:ln/>
        </p:spPr>
        <p:txBody>
          <a:bodyPr wrap="square" lIns="0" tIns="0" rIns="0" bIns="0" rtlCol="0" anchor="ctr"/>
          <a:lstStyle/>
          <a:p>
            <a:pPr indent="0" marL="0">
              <a:buNone/>
            </a:pPr>
            <a:r>
              <a:rPr lang="en-US" sz="1350" dirty="0">
                <a:solidFill>
                  <a:srgbClr val="F2F2F0"/>
                </a:solidFill>
                <a:latin typeface="Arial" pitchFamily="34" charset="0"/>
                <a:ea typeface="Arial" pitchFamily="34" charset="-122"/>
                <a:cs typeface="Arial" pitchFamily="34" charset="-120"/>
              </a:rPr>
              <a:t>The 76K Facebook followers — working, or dormant?</a:t>
            </a:r>
            <a:endParaRPr lang="en-US" sz="1350" dirty="0"/>
          </a:p>
        </p:txBody>
      </p:sp>
      <p:sp>
        <p:nvSpPr>
          <p:cNvPr id="16" name="Text 14"/>
          <p:cNvSpPr/>
          <p:nvPr/>
        </p:nvSpPr>
        <p:spPr>
          <a:xfrm>
            <a:off x="6263640" y="2715768"/>
            <a:ext cx="502920" cy="365760"/>
          </a:xfrm>
          <a:prstGeom prst="rect">
            <a:avLst/>
          </a:prstGeom>
          <a:noFill/>
          <a:ln/>
        </p:spPr>
        <p:txBody>
          <a:bodyPr wrap="square" lIns="0" tIns="0" rIns="0" bIns="0" rtlCol="0" anchor="ctr"/>
          <a:lstStyle/>
          <a:p>
            <a:pPr indent="0" marL="0">
              <a:buNone/>
            </a:pPr>
            <a:r>
              <a:rPr lang="en-US" sz="1600" b="1" dirty="0">
                <a:solidFill>
                  <a:srgbClr val="FF5A00"/>
                </a:solidFill>
                <a:latin typeface="Arial" pitchFamily="34" charset="0"/>
                <a:ea typeface="Arial" pitchFamily="34" charset="-122"/>
                <a:cs typeface="Arial" pitchFamily="34" charset="-120"/>
              </a:rPr>
              <a:t>06</a:t>
            </a:r>
            <a:endParaRPr lang="en-US" sz="1600" dirty="0"/>
          </a:p>
        </p:txBody>
      </p:sp>
      <p:sp>
        <p:nvSpPr>
          <p:cNvPr id="17" name="Text 15"/>
          <p:cNvSpPr/>
          <p:nvPr/>
        </p:nvSpPr>
        <p:spPr>
          <a:xfrm>
            <a:off x="6812280" y="2660904"/>
            <a:ext cx="4846320" cy="566928"/>
          </a:xfrm>
          <a:prstGeom prst="rect">
            <a:avLst/>
          </a:prstGeom>
          <a:noFill/>
          <a:ln/>
        </p:spPr>
        <p:txBody>
          <a:bodyPr wrap="square" lIns="0" tIns="0" rIns="0" bIns="0" rtlCol="0" anchor="ctr"/>
          <a:lstStyle/>
          <a:p>
            <a:pPr indent="0" marL="0">
              <a:buNone/>
            </a:pPr>
            <a:r>
              <a:rPr lang="en-US" sz="1350" dirty="0">
                <a:solidFill>
                  <a:srgbClr val="F2F2F0"/>
                </a:solidFill>
                <a:latin typeface="Arial" pitchFamily="34" charset="0"/>
                <a:ea typeface="Arial" pitchFamily="34" charset="-122"/>
                <a:cs typeface="Arial" pitchFamily="34" charset="-120"/>
              </a:rPr>
              <a:t>Most annoying repetitive task in your week?</a:t>
            </a:r>
            <a:endParaRPr lang="en-US" sz="1350" dirty="0"/>
          </a:p>
        </p:txBody>
      </p:sp>
      <p:sp>
        <p:nvSpPr>
          <p:cNvPr id="18" name="Text 16"/>
          <p:cNvSpPr/>
          <p:nvPr/>
        </p:nvSpPr>
        <p:spPr>
          <a:xfrm>
            <a:off x="6263640" y="3410712"/>
            <a:ext cx="502920" cy="365760"/>
          </a:xfrm>
          <a:prstGeom prst="rect">
            <a:avLst/>
          </a:prstGeom>
          <a:noFill/>
          <a:ln/>
        </p:spPr>
        <p:txBody>
          <a:bodyPr wrap="square" lIns="0" tIns="0" rIns="0" bIns="0" rtlCol="0" anchor="ctr"/>
          <a:lstStyle/>
          <a:p>
            <a:pPr indent="0" marL="0">
              <a:buNone/>
            </a:pPr>
            <a:r>
              <a:rPr lang="en-US" sz="1600" b="1" dirty="0">
                <a:solidFill>
                  <a:srgbClr val="FF5A00"/>
                </a:solidFill>
                <a:latin typeface="Arial" pitchFamily="34" charset="0"/>
                <a:ea typeface="Arial" pitchFamily="34" charset="-122"/>
                <a:cs typeface="Arial" pitchFamily="34" charset="-120"/>
              </a:rPr>
              <a:t>07</a:t>
            </a:r>
            <a:endParaRPr lang="en-US" sz="1600" dirty="0"/>
          </a:p>
        </p:txBody>
      </p:sp>
      <p:sp>
        <p:nvSpPr>
          <p:cNvPr id="19" name="Text 17"/>
          <p:cNvSpPr/>
          <p:nvPr/>
        </p:nvSpPr>
        <p:spPr>
          <a:xfrm>
            <a:off x="6812280" y="3355848"/>
            <a:ext cx="4846320" cy="566928"/>
          </a:xfrm>
          <a:prstGeom prst="rect">
            <a:avLst/>
          </a:prstGeom>
          <a:noFill/>
          <a:ln/>
        </p:spPr>
        <p:txBody>
          <a:bodyPr wrap="square" lIns="0" tIns="0" rIns="0" bIns="0" rtlCol="0" anchor="ctr"/>
          <a:lstStyle/>
          <a:p>
            <a:pPr indent="0" marL="0">
              <a:buNone/>
            </a:pPr>
            <a:r>
              <a:rPr lang="en-US" sz="1350" dirty="0">
                <a:solidFill>
                  <a:srgbClr val="F2F2F0"/>
                </a:solidFill>
                <a:latin typeface="Arial" pitchFamily="34" charset="0"/>
                <a:ea typeface="Arial" pitchFamily="34" charset="-122"/>
                <a:cs typeface="Arial" pitchFamily="34" charset="-120"/>
              </a:rPr>
              <a:t>How do you track a lead from first call to close?</a:t>
            </a:r>
            <a:endParaRPr lang="en-US" sz="1350" dirty="0"/>
          </a:p>
        </p:txBody>
      </p:sp>
      <p:sp>
        <p:nvSpPr>
          <p:cNvPr id="20" name="Text 18"/>
          <p:cNvSpPr/>
          <p:nvPr/>
        </p:nvSpPr>
        <p:spPr>
          <a:xfrm>
            <a:off x="685800" y="5120640"/>
            <a:ext cx="10789920" cy="365760"/>
          </a:xfrm>
          <a:prstGeom prst="rect">
            <a:avLst/>
          </a:prstGeom>
          <a:noFill/>
          <a:ln/>
        </p:spPr>
        <p:txBody>
          <a:bodyPr wrap="square" lIns="0" tIns="0" rIns="0" bIns="0" rtlCol="0" anchor="ctr"/>
          <a:lstStyle/>
          <a:p>
            <a:pPr indent="0" marL="0">
              <a:buNone/>
            </a:pPr>
            <a:r>
              <a:rPr lang="en-US" sz="1300" i="1" dirty="0">
                <a:solidFill>
                  <a:srgbClr val="9A9A9E"/>
                </a:solidFill>
                <a:latin typeface="Arial" pitchFamily="34" charset="0"/>
                <a:ea typeface="Arial" pitchFamily="34" charset="-122"/>
                <a:cs typeface="Arial" pitchFamily="34" charset="-120"/>
              </a:rPr>
              <a:t>Bet on Q7: the answer is "my phone." That's slide 3.</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18</Slides>
  <Notes>18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18</vt:i4>
      </vt:variant>
    </vt:vector>
  </HeadingPairs>
  <TitlesOfParts>
    <vt:vector size="2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2026-07-29T04:59:01Z</dcterms:created>
  <dcterms:modified xsi:type="dcterms:W3CDTF">2026-07-29T04:59:01Z</dcterms:modified>
</cp:coreProperties>
</file>